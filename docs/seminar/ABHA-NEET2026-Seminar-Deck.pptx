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नमस्कार मंडळी. Mi Anandrao Patil, Kolhapur. बावीस वर्षं मी Maharashtra Police मध्ये काम केलं — त्यामुळे खोटं बोलणं मला जमत नाही, आणि आज गरजही नाही. Aaj ye seminar aapke bachche ke NEET rank ke baare mein hai — mere business ke baare mein nahi. Ek baap ke naate main aapse baat karunga, agent ke naate nahi. Majhya mulane pan MBBS केलं, tyachi गोष्ट nantar sangen. Pehle ek promise: aaj hum sabse pehle aapke bachche ke INDIA ke options nikalenge. Abroad ka naam bhi tab tak nahi lenge jab tak India ki poori picture saaf na ho jaye. Pen aur paper ready rakha — aapko khud apna hisaab karna hai aaj. चला, सुरुवात करूया.
[PACING: 45-min run — keep to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simple aahe. Pehla अर्धा tass — फक्त India. NEET 2026 chi seats kiti, cutoff kay, government college kuthe milel, private cha kharcha kiti — sagळं आकड्यांनी. Mag, ani फक्त mag, abroad. Ani shevti tumche prashna — live, बिना filter. Ek vinanti: seminar madhe-madhe sodun जाऊ nka, karan sagळ्यात महत्त्वाची slide — "amhi kay promise NAHI karat" — ti shevti aahe. Jo agent tumhala sagळं गोड-गोड sangto, tyachyapasun साम्भाळून raha. Amhi aaj कडू पण sangnar aahot. Tumcha vel vaya jaणार nahi, ha shabd deto.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माझ्यासाठी sagळ्यात महत्त्वाची. Aaj koi admission form nahi khulega. Koi "sirf aaj ke liye offer" nahi. Koi counsellor aapko baad mein pareshaan nahi karega. का? Karan mi स्वतः ek baap aahe, ani mala mahit aahe ki tumchya मनात kay chalu aahe — "he pan doosre agents sarkhe asतील ka?" Tumchya नातेवाईकांनी sangितलं asel — "abroad wale sab fraud असतात." Ti शंका rakha — ती चांगली गोष्ट aahe. Shanka theva, prashna vichara, ani फक्त jo aakda official kagdavar dista, tyavarach vishwas theva. Aaj mi jo pan aakda dakhaven, tyacha source slide var lihilela asel. Jithe source nahi, tithe mi स्पष्ट sangen — "he verify karaycha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promise स्पष्ट शब्दांत. Jar tumchya मुलाचा rank ani tumcha budget India madhe government seat gheu shakto — tar to seat ghya. Bass. Abroad la जायचं नाही. He mi, abroad-consultancy chalvणारा माणूस, recording var sangat aahe. का? Karan government MBBS India madhe — sagळ्यात कमी kharcha, sagळ्यात चांगलं clinical exposure, FMGE chi katkat nahi, ghar javal. Amchya office madhe roj asa student yeto jyala agent ne "India madhe kahi nahi milnar" asं sangून ticket kadhayla lavलं — ani tyacha rank government seat gheu shakat hota. Asa dhandha amhala nako. Aaj tumhi स्वतः calculate karal, mag decision tumcha.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आकडे. Ya varshi Re-NEET zhala — 21 June la exam, 16 July la result. वीस lakh मुलांनी exam dila, 11.21 lakh qualify zhale. He aakde NTA che official aahet, majhe nahi. Ithe pahili गोष्ट लक्षात ghya — qualifying cutoff 213 marks (UR) hota. Mhanje 213 marks var pan mulga "NEET qualified" mhanavto. Ani ithech sagळा घोळ suru hoto. Agent tumhala phone karto: "Congratulations! Aapka beta qualified hai, admission पक्की!" Thamba. Qualified asणं ani seat milणं — ya don वेगळ्या goshti aahet. Pudhchya slide var mi tumhala to farak dakhavto.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डोळ्यांनी बघा. वर vees lakh. Qualified akra lakh. Ani government seats? त्रेसष्ट hajaar. Mhanje ekका government seat sathi javळपास athra qualified मुलं ranget ubhi aahet. NMC ne ya varshi 9,911 navin seats vadhavlya — tari pan he proportion asa aahe. Aata tumhala kalel ki "beta qualified hai" he vakya kiti पोकळ aahe. Ani ek गोष्ट лакशात theva — tumchya мुलाचा rank ek currency aahe. Prashna ha nahi ki rank changla ka वाईट; prashna ha aahe — ya rank ne kay-kay kharedi karta yeтं? Government? Private? Deemed? Aaj tumhi he स्वतः vachायला shiknar aahat. Bhavnik निर्णय nahi — आकड्यांचा निर्णय.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Counselling chi रचना simple bhashet. Char darwaze aahet. Pahila — MCC, Delhi. Tithe 15% All India Quota, AIIMS, JIPMER, ani Deemed universities. Doosra — apla Maharashtra CET Cell. Tithe 85% state quota ani state chya private colleges. Teesra — Deemed round, MCC madhun. Chautha — Management/NRI quota, jithe fees sagळ्यात jaast. महत्त्वाचं: MCC var register kelं mhanje CET Cell var automatic zhala asं NAHI. दोन्हीकडे वेगळं registration. Dar varshi shekdo мुलं he chukून seats गमावतात. Ani ek golden rule — Round 1 nantar counselling sodu nka. Cutoffs shevtchya rounds madhe khali yetat. 2025 la shevatcha open government seat ~500 marks var गेला. Patience thevणाऱ्याला seat milte.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AIQ cha table — 15% All India Quota. [VERIFIED आकडे भरल्यावर бolа.] Ithe baghaa — category-nusar closing AIR kiti वेगळा aahe. Ek गोष्ट лакशात ghya: AIQ madhe sagळ्या देशाची मुलं compete kartat, mhanun ithe competition tight asto. Tumcha rank ithe basat nasel tar घाबरू nka — 85% seats ajun baghitleliyach nahit, ani tya aplya Maharashtra chya list madhe aahet, pudhchya slide var. Ani he lakshat theva — he aakde magchya varshiche trends aahet. Dar varshi seat matrix badalto, applicants badaltat. Mhanun ha table "andaaz" aahe, "guarantee" nahi. Kontahi agent jo tumhala exact cutoff "guarantee" karto, to khota bolto.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aplya gharcha table — Maharashtra 85%. He aakde 2025 chya MH CET Cell allotment PDFs madhun amchya office ne काढले aahet. Baghaa — Open category cha shevatcha government seat ~52 hajaar AIR var गेला, mhanje javaljaval 500 marks. Pan SC saathi ~1 lakh 60 hajaar, ST saathi ~3 lakh 43 hajaar paryant seats गेल्या. Mhanje: category, domicile, caste-validity documents — he sagळं decisive aahe. Ani ek Maharashtra-special गोष्ट: aplyakade OBC Open chya javal band hoto — SEBC vegळा bucket aslyane — pan EWS matr khup ushira. Doosrya rajyanchya tables var he ulат asтं. Mhanunach WhatsApp forwards var vishwas thevu nka — aplya rajyacha data baghaa. Parat sangto: he trends aahet, hami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Kahi palkanjavaल rank nahi, फक्त marks aahet — tyanchyasathi ha bridge. NTA chya official distribution varun: 650 chya var ya varshi फक्त 1,492 мुलं aahet. 600 chya var 10,160. 500 chya var 90,780. Mhanje 600 marks mhanje AIR andaje 10 hajaar chya aat — government well within reach, sagळे choices bhara. 560–599: AIQ borderline, pan state quota strong. 500–559: state quota chya later rounds madhe chance — 2025 la open seat ~52,000 AIR var band zhala hota, lakshat aahe na? Ani 500 chya khali? Pudhchya slides madhe pramaanikpane baghu. He bands पण indicative aahet — exact rank tumchya scorecard var aahe, to vapра.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teen खरी examples — кदाचित yatla ek tumcha mulga/mulgi asel. Pahila: General, AIR 82 hajaar. 2025 la open govt seat ~52 hajaar var band. Mhanje government window practically band. Aata private/deemed cha kharcha ani abroad — dono thanda dokyane compare karayche. Doosra: OBC, AIR 1 lakh 40 hajaar. OBC govt ~48 hajaar la band — govt nahi. Pan private madhe seat milu shakte — prashna seat cha nahi, fee cha aahe. Teesra: SC, AIR 3 lakh 20 hajaar. 2025 la SC ~1.61 lakh la band zhala — mhanje aavghad aahe, खोटं नाही सांगणार. Pan stray rounds madhe cheematkar hotat — sagळे rounds attend kara, ani BDS/BAMS backup ready theva. Tighanchi गोष्ट vegळी — mhanunach "sabke liye ek answer" denara agent chukicha 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private. Ithe picture ekdum vegळी. Government madhe hajaaronchi गोष्ट hoti; private madhe lakhonchi hote. Private college madhe seat milवणं sopं aahe — rank chi at kami aahe, khup khol paryant seats bhartaat. [Verified aakde bharल्यावर category-wise vacha.] Pan ithe ek trick lakshat ghya — agent tumhala mhaणेल "private pakki milel!" Te khaरं asu shakতं. Pan to tumhala fee sangat nahi. Seat availability ani seat affordability — ya don वेगळ्या goshti. Pudhchya slide var mi tumhala to prashna deto jo agent la vicharaycha 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ekdam мनापासून. Private seat милणं ही problem nahi. Problem he aahe — ती परवडणं. Maharashtra chya private colleges madhe tuition andaje ₹9 lakh te ₹22 lakh dar varshi aste — ani he фakt tuition. Sadetin-char varshanchi tuition, hostel, mess, deposit, ani internship year — sagळं dharun total kiti hoto he pudhe स्पष्ट karto. Mi ithe kahi vikayla basलो nahi — mi фakt he sangतो: seat "milte" he ऐकून sign karu nka. Total kharcha vichara, likhit ghya, mag ghari jaaun थंड डोक्याने bagha ki he ghar la parवडतं ka. Karan loan gheun, sheti vikun MBBS karaycha ani mag hafte федता федता family ubhi rahaychi — he mi khup gharat baghitlं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Teesra darwaza — Deemed universities. He MCC madhun bharle jatat, sagळ्या देशातून. Rank chi at ithe ajun khol aste — mhanje kami rank var pan seat milu shakte. Pan ek гोष्ट स्पष्ट: deemed chi fee university tharavte, FRA nahi. Mhanje state private पेक्षा jaast asu shakte. [Aakde verify jhalyavar ithe vacha.] Ata tumchya мनात prashna asel — "government, private, deemed — yancha nemka kharcha kiti?" Chala, aata तोच hisaab karu. Fee reality — ithe khup families cha decision badalto.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 mhanje Fee Regulating Authority — Maharashtra sarkarchi samiti. Private medical college chi tuition ani development fee hi samiti dar varshi approve karte. Mhanje private college manmaani karu shakat nahi — approved fee chi yadi public aste. Pan don goshti FRA chya bahar: Deemed universities — tyanchi fee te स्वतः tharavtaat. Ani management/NRI quota cha premium. Tumchyasathi ek सोपा rule: kontahi private admission karnyapurvi college kadun FRA-approved fee structure ची प्रत maga. Jo college ti dyayla टाळाटाळ karto, tithe thamba. Ani agent la vichara: "FRA letter dakhva." He ek vakya tumhala lakhonchya fasavnukipasun vachavtं.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sathi mi tumhala pen मागितला hota. [Aakde bharल्यावर:] Total row bagha — he to aakda aahe jo family chi आर्थिक jindagi tharavto. MBBS sade-tin varshancha nahi — sade-pach varshancha प्रवास aahe: 4.5 varsha course + 1 varsha internship. Ek गोष्ट лакшात ghya — internship year. Government madhe intern la stipend milto — mhanje पैसे YETAT. Kahi private madhe internship war pan fee JATE. Ha farak total madhe motha hoto. Ani "hidden heads" — university exam fees, caution deposits, transport, books — he saगळं धरा. Mi tumhala घाबरवत nahi — mi tumhala तयार karto. Jo consultant total outflow lihून deto, tochа consultant. Baki sagळे salesmen.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Sheватची fee गोष्ट — ani hi office chya अनुभवातून. Palak amchyakade yeun sangtat: "brochure var ha aakda hota, pratyakshaat jasta lagla." He kaa hotं? Karan brochure headline tuition dakhavto. Deposit, uniform, university exam fee, hostel chi darвадhi, festival travel, city madhla kharcha — he sagळं nantar yeтं. Mhanun ek саधа rule: jo pan total tumhi kagdavar kadhla, tyavar ek buffer dhara. [Office data varun exact buffer % verify करून sanga.] Ani ekда total kadhla ki स्वतःला vichara: "he amhi न कर्ज बुडवता deu shakto ka?" Uttar "ho" asel tarach pudhe ja. "кदाचित" mhanje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Ithe ek मिनिट thambuya. Recap: kiti seats aahet — mahit aahe. Tumchya category cha closing kuthe जातो — vachta yeтं. Private/deemed cha total kharcha kasa kadhaycha — framework aahe. Aata pramaanik प्रश्न: tumchya мुलाचा rank ani tumcha budget — India madhe basto ka? Basat asel — government, kinva परवडणारं private — tar krupa करून tithech thamba. Seminar band kara, counselling attend kara, seat ghya. Amhala phone karnyachi garaj nahi. Mi on-record he boltoy. Pan jar tumhi hisaab kelа ani darwaje kharokhar band aahet — tar pudhcha section tumchyasathi aahe. Ani ek vachan: mi tumhala Georgia chi स्वप्नं विकणार nahi, ani abroad la бадनाम pan karnar nahi — mājha स्वतःcha mulga tya rastyane गेला aahe. Fakt tarazu समोर ठेवणार — थंड डोक्याने.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pahila. ENTRY: India madhe rank sagळं tharavto; abroad madhe NEET qualify + university admission process — rank chi at khup khali aste. KHARCHA: government India sagळ्यात swast — period. Abroad private India peksha kami asu shakto — te देशानुसार, pudhe. KALAVADHI: India 4.5+1; abroad 5-6 varsha. BHASHA: he लक्षात ghya — course English madhe asto, pan hospital madhe patient local bhashet bolto. Georgian, Russian — ti bhasha shikavich lagte, nahitar patient interaction adhuri rahte. He koni agent sangat nahi, mi sangtoy. CLINICAL EXPOSURE: India govt chya hospital madhe patient load jabardast — he India cha sagळ्यात motha plus aahe. Abroad madhe he university-var avalambun.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doosra — ithe गंभीर goshti. LICENCE: he sagळ्यात महत्त्वाचं. Abroad chi degree gheun India madhe direct practice karta yet NAHI. FMGE pass karavich lagte. Tya nantar internship, mag registration. Pudhchya slide var he सविस्तर. RECOGNITION: admission ghetana фakt "NMC &amp; WHO Eligible" programmes nivda — hा shabd лакшат theva, "approved" nahi, "eligible." KUTUMB: he emotional pan खरं — mulga 3-4 taas flight var asto. Ajari padla, san asla — lagech जाता yeत nahi. SAFETY NET: India madhe kahi problem zhala tar мама-काका, konitari asto. Abroad madhe koni nahi — jopर्यंत koni jabaabdar system ubhi karat nahi. He shevatchа point ABHA chi गोष्ट ka suru zhali te sangto.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sathi mi seminar кела asel tari पुरे. Neet ऐका: tumcha mulga abroad мधून MBBS karel, tar India madhe practice karnyasathi tyala FMGE pass karavich lagel. Kahi agents sangtaat — "ab toh NExT aa gaya, FMGE khatam." HE KHOTA AAHE. NExT lagu jhalela nahi — to pudhe dhakalla gela aahe, andaje 2028–29. Aaj ghadila FMGE anivarya aahe. Ani FMGE sopa nahi — to seriously prepare karavach lagto. Mhanunach amhi mhanto: FMGE chi tayari admission chya divsapasun suru vhayla havi, shevatchya varshi nahi. ABHA he kasं karto te pudhe sangen — pan aadhi he satya tumchya мनात pakkं вва: FMGE aahe, rahnar aahe, ani tyachi tayari degree sobatach chalte.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he vakya ekda parat mhanто, karan he amchi likhit policy aahe: "Jar rank ani budget India madhe government seat gheu shakat asel — to ghya. Bass. Abroad tyanchyasathi aahe jyancha to darwaza kharokhar band aahe." Ani abroad "sopa" nahi — he pan лакशात ghya. Tithe FMGE cha bojha aahe. Tithe आई रोज उठवायला nasel — self-discipline lagte. Tithe homesickness aahe, अंतर aahe. Tithe kahi bighadlं tar palakachа haath пोहोचत nahi. He sagळं mi tumhala ka sangतोय? Karan mi he BAGHITLA aahe — ek baap mhanून, Georgia madhe, माझ्या स्वतःच्या мुलासोबत. Ani tya अनुभवातूनच ABHA janmala aali. Pan aadhi — desh nivдаycha kasa? Chala, char देशांची पारख karu.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Pahila desh — Russia. Pramaanik plus baju: Russia chi medical shiksha parampara जुनी ani भक्कम aahe; universities мोठ्या aahet, Indian students hazaronchya संख्येने tithe shiktaat. Kharcha [ABHA positioning verify karun sanga]. Aata pramaanik doosri baju: antar khup aahe — Maharashtra тून पोहोचायला vel ani kharcha jaast. Thandi kadaк. Patient sobat Russian bhasha lagte. Ani sadhyachya jagatik paristhitit visa/travel/banking baabatit je badal hot astaat te [current status verify karun] tapasavech lagtaat. Mhanje Russia vait nahi — Russia ek विशिष्ट profile sathi yogya aahe: jya family la mothi university havi, thandi chalte, ani antar chalтं. Apan konalahi ek desh "sagळ्यांसाठी best" mhanून विकत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Doosra desh — Georgia. Plus baju: chota, shaant, सुरक्षित desh. Tbilisi paryant seedhi flight. English programmes. Universities jithe ABHA admission assist karte, tithlі tuition band andaje $24,500 te $39,000 total — he indicative aahe, badalu shakto, ani pratyek university cha official aakdach अंतिम. Ani ho — Georgia madhe pan minus baju aahe. Desh chota mhanje job market chota. Georgian bhasha patient sathi shikavi lagte. Ani ek мोठी गोष्ट jee mi lapवणार nahi: 2026 pasun Georgia chya STATE universities foreign admissions band karu shaktil asa niyamak badal charchet aahe. He mi सविस्तर pudhe sangणार — ani he mi ka sangतोय he pan tithe sangen.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Teesra — Kazakhstan. Pramaanik plus: kharcha. Kazakhstan चा cost band [verify karun] baryach families sathi sagळ्यात halka asto — he tyacha khara advantage aahe, ani mi to laptvat nahi. Universities мोठ्या, Indian students bhaऱpur. Minus baju: thandi Russia sarkhi kadak. Desh prachand motha — shahara-shahara madhlі antare мोठी. Patient sobat Russian/Kazakh bhasha lagte. Ani university-university madhe quality cha farak asto — mhanun university nivad ithe khup कालजीपूर्वक karavi lagte. Kontya family sathi Kazakhstan yogya? Jithe budget sagळ्यात ghatta aahe ani mulga/mulgi thandi ani antara sathi तयार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Chautha — Timor-Leste. He naav кदाचित pahilyandach ऐकत asal. Plus baju pramaanik: kharcha kami — Dili madhlya university cha total tuition andaje $20,400, indicative. Ani havaman — garam, aplya sarkha. Thandi cha tras nahi. Minus baju titkich pramaanik: desh navin aahe, chota aahe. Indian community lahan. Ani sagळ्यात महत्त्वाचं — track record navin aahe. FMGE chya итихासाची varsha kami aahet [NBE data verify]. Mhanje ithe "pioneer" honyacha фаyda ani धोका donhi aahe. Kontya family sathi? Jithe budget ekdam мर्यादित aahe, garam havaman havं aahe, ani navin वाटेवर chalnyachi तयारी aahe. Parat sangto — char desh, char profiles. "Best desh" asa kahi nasто. "Tumchya family sathi yogya desh" 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master table — मुद्दाम कोणताही column highlight केलेला nahi. Char desh, sarkhe parameters, tumhi स्वतः vacha. Mi фakt teen goshti अधोरेखित karto. Ek — cost band: Timor-Leste ani Kazakhstan halke, Georgia madhla, Russia [verify]. Don — travel ani havaman: Georgia javal ani सौम्य; baki dur kinva thand. Teen — pratyek deshacha ek khara risk aahe, ani to table madhe lihilela aahe — lapavlela nahi. FMGE cha data NBE kadun verify karun bharu — amhi स्वतःचे pass-rate aakde banvat nahi, karan te banवणं he khoṭं bolणं aahe. Tumhi ha table gharich abhyasa — recording ani PDF milel.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sagळ्यात pramaanik slide ya act madhli. Konta desh konasathi? Jar budget ekdam tight aahe ani thandi chalel — KAZAKHSTAN seriously bagha. Budget tight ani garam havaman havं — TIMOR-LESTE vichara. Mothi university, जुनी parampara havi ani antar chalтं — RUSSIA vichara. Ani jyaanna seva-suvidha, javalchi flight, ani ground var jabaabdar mansं havit — tyanchyasathi GEORGIA. Baghaa — mi Georgia shevti sangitlं. Мुद्दाम. Karan ABHA cha dhandha Georgia madhe aahe he tumhala mahit aahe, ani tari pan mi tumhala pahile teen options pramaanikpane dile. Jar tumcha profile Kazakhstan cha asel ani amhi tithe seva deu shakat nasu, tar amhi tumhala te स्पष्ट sangू. Vishwas asa कमावला jato.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slide amchya seminar chi सगळ्यात vegळी slide aahe — karan ithe mi amchya स्वतःच्या focus-desha baddal ek धोका जाहीर करतोय. Aika: 2026 pasun Georgia chya STATE — mhanje sarkari — universities foreign students sathi admission band karu shaktil, asa niyamak badal tithe charchet aahe [official citation verify karun ithe lava]. He अंतिम nahi, badalu shakтं — pan he khare aahe ani live aahe. Mag ABHA kay karte? Amhi admission assistance PRIVATE universities bhovti रचतो — jyanchyavar ha niyam lagu hot nahi — ani фakt tya programmes jya NMC &amp; WHO Eligible aahet. Mi he tumhala ka sangтоय? Karan doosre kahi agents he sangat nahit, ani mulga admission ghetl्यावर family la kalтं. Amchya gharat ek niyam aahe — jo dhoka apल्या мुलासाठी mahit asayla hava, to doosryachya мुलासाठी pan sangितला pahije. He disclosure amchi weakness nahi — hi amchi olakh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mi tumhala amchi गोष्ट sangतो — ani pahilं vakya neet ऐका: AMHI HE BUSINESS MHANUN SURU KELA NAHI. Mi बावीस varsha Maharashtra Police madhe hoto. Sagaon, Sangli cha mansus mi. Majha mulga Uddhav — tyala doctor vhaychं hotं, rank abroad kade gela, ani to Georgia la nighala. Ani mi kay kelं? Jе pratyek baap karel — mi tyachya магे gelo. Tithe rahilo. Mahine kadhle. Ani jo baap mhanून mi tithe баghitlं — te баghूनach he sagळं ubhं rahilं. Pudhchya slide var sangtо mi tithe nemkं kay баghitlं.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Georgia madhe mi je баghitlं te sangतो. Мुलं hushaar hoti, university changli hoti — pan aajubajuchи vyavastha? Hostel cha dark, koni vicharat nahi. Bharatiya jevan — roj chi ladhai. Residency permit, legal kagadpatre — 18 varshanchi мुलं ekti sarkari офисात firtaayt, bhasha yet nahi. SIM card, bank account, ajari padlं tar doctor — pratyek lahaan गोष्ट ek dongar. Ani sagळ्यात мोठं дुखणं he: kahi bighadlं tar JAWAABDAAR KONI NAHI. Agent India madhe, phone lagat nahi. University mhanते "amcha kaam shikvणं." Mag мुलाचं kay? He mi ek policeman ani ek baap donhi nazrene баghitlं. Ani мनात ek vichar pakka jhala.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 amhi kay kelं? India madhe office ughadun jahiraat nahi keli. PAHILE GEORGIA MADHE KAAM UBHA KELA. ABHA Global Services LLC, Tbilisi — amchi स्वतःची company, ani ticha Director mājha mulga Uddhav — jo स्वतः tya vaटेने gela aahe. Amcha स्वतःcha hostel — 200 hun jaast beds, Bharatiya jevan rojchं. Residency permit ani legal kagadpatryansathi amchi tithli team. Airport var utarल्यापासून мुलं amchya najretun — pickup, SIM, bank, sagळं. Ani 24/7 support — raatri 2 vajta problem aali tari phone uchalnara mansus tithe aahe. Ani palakansathi — Georgia тून थेट, structured communication. He sagळं AADHI banवलं — dhandha nantar aala.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 जे jhala te apoaap jhala. Doosrya palakanni Tbilisi madhlं amchं kaam баghitlं — hostel, jevan, team — ani te vicharu lagle: "amchya мулासाठी pan he karal ka?" Tithून ABHA Global Educare suru jhali — Kolhapur, mag Chhatrapati Sambhajinagar, Boisar. Farak лакшात ghya: bahutek consultancies India madhe office ughadtat, mag "konta desh vikaycha" te shodhtat. Amhi ulат aahot — amhi GEORGIA MADHUN suru jhalo, karan ek baap tithe स्वतःच्या мुलासाठी gela hota — ani mag India la parat aalo. Mhanunach amhi jo desh конachа sangто, tithli galli-boli amhala mahit aahe. He "reverse-origin" amchi सगळ्यात мोठी olakh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FMGE anivarya aahe — he apan baghitlं. Mag tyachi tayari kadhi karaychi? Shevatchya varshi ghai-gadbadit? Nahi. Mhanun AGDRP — ABHA cha FMGE/NExT preparation track. He degree sobat samantar chalтं — pahilya varshapasun. University chya semester sobat AGDRP cha abhyaskram jodlela [current format ani schedule verify karun sanga]. Yacha arth asa ki mulga sahavya varshi FMGE la basel tevha to pahilyandach syllabus baghat nasel — to sahá varsha tyachyasobat jaglela asel. Ek स्पष्ट гोष्ट: AGDRP mhanje pass honyachi hami NAHI — pariksha мулालाच dyaychi aahe. Amhi tayari chi shist deto, hami koni deu shakat nahi. Ani pudhchi slide — haatane shiknyachi гोष्ट — ti AGDRP peksha vegळी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INCREDOC — he amchं स्वतःchं, ABHA chya мालकीचं, hands-on clinical workshop. Aata paryant amhi asे DAHA workshops ghetle aahet. Farak samjun ghya: AGDRP mhanje pustaki tayari — MCQs, syllabus, shist. INCREDOC mhanje HAATH — suturing, injections, examination techniques [module list verify karun nemkं sanga] — pratyaksh saraav, фakt baghणं nahi. Doctor honyat don goshti lagtat — dokyat dnyan ani haatat kasab. Amhi donhi sathi vegvegळी vyavastha keli aahe, ani ti ekmekanna पूरक aahe. Palakanno, tumhi vicharaal — "he sagळं kashala?" Karan amcha maapdand ha aahe: mulga фakt degree gheun nahi, tar DOCTOR houn paraт yayla hava.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to prashna jo pratyek aai-baap chya мनात aahe pan koni vicharat nahi: "Pach saal dur rahil — to padhtoy he amhala kasं kalel?" Phone var vicharlं tar mulga mhanto "ho baba, chalu aahe abhyas." Ani tumhi kay karnar — vishwas thevnyashivay paryay nahi? Amhi yavar kaam kelं. Amcha MBBS/FMGE self-preparation portal — mulga Georgia madhun practice karto, revision karto [features verify]. Ani tyala jodun — PALAKANSATHI VIEW-ONLY LOGIN, INDIA тун. Tumhi स्वतः login karun baghu shakta: abhyas chalu aahe ka, kiti jhala. Мулाच्या shabdavar nahi — screen var. Ani ek chhoti गोष्ट: navya students sathi iPad Early Bird offer aahe — to iPad VISA APPROVE JHALYAVAR milto, aadhi nahi [current atti-sharti verify karun स्पष्ट sanga]. Offer sathi admission gheu nka — seva sathi ghya.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shevatchi ani sagळ्यात महत्त्वाची slide amchya baddal. Neet ऐका — ABHA kay PROMISE KARAT NAHI: Admission chi hami nahi — admission university dete, amhi nahi. Visa chi hami nahi — visa embassy dete, amhi nahi. FMGE pass chi hami nahi — pariksha mulga deto, amhi nahi. Scholarship chi hami nahi. Amhi kay deto? Pramaanik salla, khari mahiti, ani Georgia madhe pratyaksh ubhi seva. Ani ek salla — kagdavar liha ha: JO KONI TUMHALA YATLI KONTI PAN "GUARANTEE" DETO — admission, visa, pass — TO TUMHALA FASAVTOY. Tithun utha ani nigha. Amchyakadun pan hich apeksha theva — jya divshi ABHA cha koni mansus tumhala "guarantee" mhanel, tya divshi amhala jab vichara. He recording aahe — purava aahe.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Aata sagळं ekatra. Aaj raatri ghari he kara — pandhra minitat. EK: мулाचा rank ani category ghya, government closing tables var theva. DON: government shakya aahe ka? Asel — ghya, ani he flowchart tithech phaadun taka. Sampla. TEEN: government nahi, tar private/deemed cha TOTAL kharcha kadha ani स्वतःला vichara: kaŗj na budavta parвадतं ka? CHAR: India kharokhar band asel, tar tumchi family konya deshashi julte te bagha. PACH: desh tharla, mag vichara — tithe amchya мुलासाठी jabaabdaar system kon ubhi karel? He pach steps. Konihi tumhala ghai karu deu naka — seat jashi aahe tashi rahil; chukicha nirnay мातr sade-pach varsha rahto.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Shevatchа vyavahaar स्पष्ट karto. ABHA chi counselling FREE aahe — ек rupaya nahi. Session madhe kay hotं? Tumhi, mulga/mulgi, ani amcha counsellor — rank, category, budget gheun basto. Pahile INDIA chi poori yadi — likhit. Government shakya asel tar tech sangणार, ani tithech thambणार. Abroad фakt tevha, jevha India kharokhar band asel. Kay NAHI hotं? Admission cha dabav nahi. "Aajch seat book kara" asलं natak nahi. Pressure calls nahi. He amche number — screenshot ghya. WhatsApp sagळ्यात सोपं. Kolhapur, Chhatrapati Sambhajinagar, Boisar — India madhe teen offices. Ani Tbilisi, Georgia — jithe amchi स्वतःchi team ani hostel aahe; tithле number pan screen var aahet — mhanje mulga tithe gelyavar tumchyakade THET GEORGIA cha number asel. Ani khali amcha LLP number — ACO-8092 — sarkari nondani. Tapasa. Amhi nondanikrut aahot, ani amhala tumhi tapaslelं avadtं.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Chala — aata tumchi vel. Chat madhe prashna liha; naav lihaychं नसेल tar nka lihu. Ek vinanti — rank ani budget che vaiyaktik aakde ithe jaahir chat madhe nako; te 1-on-1 madhe, tumchya privacy sathi. Recording ani slides tumhala miltil, mhanje gharatlya doosryanna pan dakhavta yeil — विशेषтः tya नातेवाईकाला jo mhanto "abroad wale sab fraud астात." Tyala mi स्वतः uttar denyas тайар aahe. Ani shevti: amchа tagline aahe "Dreams Have No Borders" — swapnaanna seema nastat. Pan nirnayala matr ek seema asте — ti mhanje tumchya gharchа umbartha. Nirnay tithech vha — shaant dokyane, poorya mahitisah. Amhi ithe aahot — ghai nahi. नमस्कार, ani tumchya мулाला-мулीला amchya shubhechchha.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2.png"/><Relationship Id="rId7" Type="http://schemas.openxmlformats.org/officeDocument/2006/relationships/image" Target="../media/image-11-1.png"/><Relationship Id="rId8" Type="http://schemas.openxmlformats.org/officeDocument/2006/relationships/image" Target="../media/image-11-2.png"/><Relationship Id="rId9" Type="http://schemas.openxmlformats.org/officeDocument/2006/relationships/image" Target="../media/image-11-2.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1.png"/><Relationship Id="rId3" Type="http://schemas.openxmlformats.org/officeDocument/2006/relationships/image" Target="../media/image-39-1.png"/><Relationship Id="rId4" Type="http://schemas.openxmlformats.org/officeDocument/2006/relationships/image" Target="../media/image-39-4.png"/><Relationship Id="rId5" Type="http://schemas.openxmlformats.org/officeDocument/2006/relationships/image" Target="../media/image-39-4.png"/><Relationship Id="rId6" Type="http://schemas.openxmlformats.org/officeDocument/2006/relationships/image" Target="../media/image-39-4.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9.png"/><Relationship Id="rId11" Type="http://schemas.openxmlformats.org/officeDocument/2006/relationships/image" Target="../media/image-39-11.png"/><Relationship Id="rId12" Type="http://schemas.openxmlformats.org/officeDocument/2006/relationships/slideLayout" Target="../slideLayouts/slideLayout1.xml"/><Relationship Id="rId1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1</a:t>
            </a:r>
            <a:endParaRPr lang="en-US" sz="800" dirty="0"/>
          </a:p>
        </p:txBody>
      </p:sp>
      <p:sp>
        <p:nvSpPr>
          <p:cNvPr id="4" name="Shape 1"/>
          <p:cNvSpPr/>
          <p:nvPr/>
        </p:nvSpPr>
        <p:spPr>
          <a:xfrm>
            <a:off x="5710428" y="868680"/>
            <a:ext cx="768096" cy="768096"/>
          </a:xfrm>
          <a:prstGeom prst="ellipse">
            <a:avLst/>
          </a:prstGeom>
          <a:solidFill>
            <a:srgbClr val="17294F"/>
          </a:solidFill>
          <a:ln/>
        </p:spPr>
      </p:sp>
      <p:pic>
        <p:nvPicPr>
          <p:cNvPr id="5" name="Image 0" descr="/tmp/claude-0/-home-user/22b099b3-5195-5dc8-9cf2-1c5020dc8f38/scratchpad/deck/icons/compass.png">    </p:cNvPr>
          <p:cNvPicPr>
            <a:picLocks noChangeAspect="1"/>
          </p:cNvPicPr>
          <p:nvPr/>
        </p:nvPicPr>
        <p:blipFill>
          <a:blip r:embed="rId1"/>
          <a:stretch>
            <a:fillRect/>
          </a:stretch>
        </p:blipFill>
        <p:spPr>
          <a:xfrm>
            <a:off x="5910133" y="1068385"/>
            <a:ext cx="368686" cy="368686"/>
          </a:xfrm>
          <a:prstGeom prst="rect">
            <a:avLst/>
          </a:prstGeom>
        </p:spPr>
      </p:pic>
      <p:sp>
        <p:nvSpPr>
          <p:cNvPr id="6" name="Text 2"/>
          <p:cNvSpPr/>
          <p:nvPr/>
        </p:nvSpPr>
        <p:spPr>
          <a:xfrm>
            <a:off x="0" y="1828800"/>
            <a:ext cx="12188952" cy="640080"/>
          </a:xfrm>
          <a:prstGeom prst="rect">
            <a:avLst/>
          </a:prstGeom>
          <a:noFill/>
          <a:ln/>
        </p:spPr>
        <p:txBody>
          <a:bodyPr wrap="square" lIns="0" tIns="0" rIns="0" bIns="0" rtlCol="0" anchor="ctr"/>
          <a:lstStyle/>
          <a:p>
            <a:pPr algn="ctr" indent="0" marL="0">
              <a:buNone/>
            </a:pPr>
            <a:r>
              <a:rPr lang="en-US" sz="1500" b="1" spc="600" kern="0" dirty="0">
                <a:solidFill>
                  <a:srgbClr val="F5E6C4"/>
                </a:solidFill>
                <a:latin typeface="Manrope" pitchFamily="34" charset="0"/>
                <a:ea typeface="Manrope" pitchFamily="34" charset="-122"/>
                <a:cs typeface="Manrope" pitchFamily="34" charset="-120"/>
              </a:rPr>
              <a:t>NEET 2026</a:t>
            </a:r>
            <a:endParaRPr lang="en-US" sz="1500" dirty="0"/>
          </a:p>
        </p:txBody>
      </p:sp>
      <p:sp>
        <p:nvSpPr>
          <p:cNvPr id="7" name="Text 3"/>
          <p:cNvSpPr/>
          <p:nvPr/>
        </p:nvSpPr>
        <p:spPr>
          <a:xfrm>
            <a:off x="0" y="2331720"/>
            <a:ext cx="12188952" cy="1051560"/>
          </a:xfrm>
          <a:prstGeom prst="rect">
            <a:avLst/>
          </a:prstGeom>
          <a:noFill/>
          <a:ln/>
        </p:spPr>
        <p:txBody>
          <a:bodyPr wrap="square" lIns="0" tIns="0" rIns="0" bIns="0" rtlCol="0" anchor="ctr"/>
          <a:lstStyle/>
          <a:p>
            <a:pPr algn="ctr" indent="0" marL="0">
              <a:buNone/>
            </a:pPr>
            <a:r>
              <a:rPr lang="en-US" sz="5400" b="1" dirty="0">
                <a:solidFill>
                  <a:srgbClr val="C6962E"/>
                </a:solidFill>
                <a:latin typeface="Cormorant Garamond" pitchFamily="34" charset="0"/>
                <a:ea typeface="Cormorant Garamond" pitchFamily="34" charset="-122"/>
                <a:cs typeface="Cormorant Garamond" pitchFamily="34" charset="-120"/>
              </a:rPr>
              <a:t>Aapka Rank, Aapka Raasta</a:t>
            </a:r>
            <a:endParaRPr lang="en-US" sz="5400" dirty="0"/>
          </a:p>
        </p:txBody>
      </p:sp>
      <p:sp>
        <p:nvSpPr>
          <p:cNvPr id="8" name="Text 4"/>
          <p:cNvSpPr/>
          <p:nvPr/>
        </p:nvSpPr>
        <p:spPr>
          <a:xfrm>
            <a:off x="0" y="3520440"/>
            <a:ext cx="12188952" cy="457200"/>
          </a:xfrm>
          <a:prstGeom prst="rect">
            <a:avLst/>
          </a:prstGeom>
          <a:noFill/>
          <a:ln/>
        </p:spPr>
        <p:txBody>
          <a:bodyPr wrap="square" lIns="0" tIns="0" rIns="0" bIns="0" rtlCol="0" anchor="ctr"/>
          <a:lstStyle/>
          <a:p>
            <a:pPr algn="ctr" indent="0" marL="0">
              <a:buNone/>
            </a:pPr>
            <a:r>
              <a:rPr lang="en-US" sz="1700" dirty="0">
                <a:solidFill>
                  <a:srgbClr val="F5E6C4"/>
                </a:solidFill>
                <a:latin typeface="Manrope" pitchFamily="34" charset="0"/>
                <a:ea typeface="Manrope" pitchFamily="34" charset="-122"/>
                <a:cs typeface="Manrope" pitchFamily="34" charset="-120"/>
              </a:rPr>
              <a:t>Ek seedhi baat — pehle India, phir baaki sab</a:t>
            </a:r>
            <a:endParaRPr lang="en-US" sz="1700" dirty="0"/>
          </a:p>
        </p:txBody>
      </p:sp>
      <p:sp>
        <p:nvSpPr>
          <p:cNvPr id="9" name="Text 5"/>
          <p:cNvSpPr/>
          <p:nvPr/>
        </p:nvSpPr>
        <p:spPr>
          <a:xfrm>
            <a:off x="0" y="4343400"/>
            <a:ext cx="12188952" cy="1005840"/>
          </a:xfrm>
          <a:prstGeom prst="rect">
            <a:avLst/>
          </a:prstGeom>
          <a:noFill/>
          <a:ln/>
        </p:spPr>
        <p:txBody>
          <a:bodyPr wrap="square" lIns="0" tIns="0" rIns="0" bIns="0" rtlCol="0" anchor="ctr"/>
          <a:lstStyle/>
          <a:p>
            <a:pPr algn="ctr" indent="0" marL="0">
              <a:lnSpc>
                <a:spcPts val="2200"/>
              </a:lnSpc>
              <a:buNone/>
            </a:pPr>
            <a:r>
              <a:rPr lang="en-US" sz="1250" dirty="0">
                <a:solidFill>
                  <a:srgbClr val="C9D2E2"/>
                </a:solidFill>
                <a:latin typeface="Manrope" pitchFamily="34" charset="0"/>
                <a:ea typeface="Manrope" pitchFamily="34" charset="-122"/>
                <a:cs typeface="Manrope" pitchFamily="34" charset="-120"/>
              </a:rPr>
              <a:t>A parent-first seminar, not a sales pitch</a:t>
            </a:r>
            <a:endParaRPr lang="en-US" sz="1250" dirty="0"/>
          </a:p>
          <a:p>
            <a:pPr algn="ctr" indent="0" marL="0">
              <a:lnSpc>
                <a:spcPts val="2200"/>
              </a:lnSpc>
              <a:buNone/>
            </a:pPr>
            <a:r>
              <a:rPr lang="en-US" sz="1250" dirty="0">
                <a:solidFill>
                  <a:srgbClr val="C9D2E2"/>
                </a:solidFill>
                <a:latin typeface="Manrope" pitchFamily="34" charset="0"/>
                <a:ea typeface="Manrope" pitchFamily="34" charset="-122"/>
                <a:cs typeface="Manrope" pitchFamily="34" charset="-120"/>
              </a:rPr>
              <a:t>ABHA Global Educare LLP · Kolhapur · Chh. Sambhajinagar · Boisar · Tbilisi</a:t>
            </a:r>
            <a:endParaRPr lang="en-US" sz="1250" dirty="0"/>
          </a:p>
          <a:p>
            <a:pPr algn="ctr" indent="0" marL="0">
              <a:lnSpc>
                <a:spcPts val="2200"/>
              </a:lnSpc>
              <a:buNone/>
            </a:pPr>
            <a:r>
              <a:rPr lang="en-US" sz="1250" i="1" dirty="0">
                <a:solidFill>
                  <a:srgbClr val="E0B85C"/>
                </a:solidFill>
                <a:latin typeface="Manrope" pitchFamily="34" charset="0"/>
                <a:ea typeface="Manrope" pitchFamily="34" charset="-122"/>
                <a:cs typeface="Manrope" pitchFamily="34" charset="-120"/>
              </a:rPr>
              <a:t>[VERIFY: seminar date · host name(s) · platform]</a:t>
            </a:r>
            <a:endParaRPr lang="en-US" sz="1250" dirty="0"/>
          </a:p>
        </p:txBody>
      </p:sp>
      <p:sp>
        <p:nvSpPr>
          <p:cNvPr id="10" name="Text 6"/>
          <p:cNvSpPr/>
          <p:nvPr/>
        </p:nvSpPr>
        <p:spPr>
          <a:xfrm>
            <a:off x="0" y="5989320"/>
            <a:ext cx="12188952" cy="365760"/>
          </a:xfrm>
          <a:prstGeom prst="rect">
            <a:avLst/>
          </a:prstGeom>
          <a:noFill/>
          <a:ln/>
        </p:spPr>
        <p:txBody>
          <a:bodyPr wrap="square" lIns="0" tIns="0" rIns="0" bIns="0" rtlCol="0" anchor="ctr"/>
          <a:lstStyle/>
          <a:p>
            <a:pPr algn="ctr" indent="0" marL="0">
              <a:buNone/>
            </a:pPr>
            <a:r>
              <a:rPr lang="en-US" sz="1100" b="1" spc="500" kern="0" dirty="0">
                <a:solidFill>
                  <a:srgbClr val="C6962E"/>
                </a:solidFill>
                <a:latin typeface="Manrope" pitchFamily="34" charset="0"/>
                <a:ea typeface="Manrope" pitchFamily="34" charset="-122"/>
                <a:cs typeface="Manrope" pitchFamily="34" charset="-120"/>
              </a:rPr>
              <a:t>DREAMS HAVE NO BORDERS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1 · FRAME</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Aaj Ka Agenda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45 minutes — India pehle, abroad baad mein, sawaal aakhri mein</a:t>
            </a:r>
            <a:endParaRPr lang="en-US" sz="1300" dirty="0"/>
          </a:p>
        </p:txBody>
      </p:sp>
      <p:sp>
        <p:nvSpPr>
          <p:cNvPr id="7" name="Text 4"/>
          <p:cNvSpPr/>
          <p:nvPr/>
        </p:nvSpPr>
        <p:spPr>
          <a:xfrm>
            <a:off x="640080" y="1783080"/>
            <a:ext cx="914400" cy="914400"/>
          </a:xfrm>
          <a:prstGeom prst="rect">
            <a:avLst/>
          </a:prstGeom>
          <a:noFill/>
          <a:ln/>
        </p:spPr>
        <p:txBody>
          <a:bodyPr wrap="square" lIns="0" tIns="0" rIns="0" bIns="0" rtlCol="0" anchor="ctr"/>
          <a:lstStyle/>
          <a:p>
            <a:pPr indent="0" marL="0">
              <a:buNone/>
            </a:pPr>
            <a:r>
              <a:rPr lang="en-US" sz="4000" b="1" dirty="0">
                <a:solidFill>
                  <a:srgbClr val="C6962E"/>
                </a:solidFill>
                <a:latin typeface="Cormorant Garamond" pitchFamily="34" charset="0"/>
                <a:ea typeface="Cormorant Garamond" pitchFamily="34" charset="-122"/>
                <a:cs typeface="Cormorant Garamond" pitchFamily="34" charset="-120"/>
              </a:rPr>
              <a:t>01</a:t>
            </a:r>
            <a:endParaRPr lang="en-US" sz="4000" dirty="0"/>
          </a:p>
        </p:txBody>
      </p:sp>
      <p:sp>
        <p:nvSpPr>
          <p:cNvPr id="8" name="Text 5"/>
          <p:cNvSpPr/>
          <p:nvPr/>
        </p:nvSpPr>
        <p:spPr>
          <a:xfrm>
            <a:off x="1737360" y="1856232"/>
            <a:ext cx="7406640" cy="384048"/>
          </a:xfrm>
          <a:prstGeom prst="rect">
            <a:avLst/>
          </a:prstGeom>
          <a:noFill/>
          <a:ln/>
        </p:spPr>
        <p:txBody>
          <a:bodyPr wrap="square" lIns="0" tIns="0" rIns="0" bIns="0" rtlCol="0" anchor="ctr"/>
          <a:lstStyle/>
          <a:p>
            <a:pPr indent="0" marL="0">
              <a:buNone/>
            </a:pPr>
            <a:r>
              <a:rPr lang="en-US" sz="1700" b="1" dirty="0">
                <a:solidFill>
                  <a:srgbClr val="0B1A35"/>
                </a:solidFill>
                <a:latin typeface="Manrope" pitchFamily="34" charset="0"/>
                <a:ea typeface="Manrope" pitchFamily="34" charset="-122"/>
                <a:cs typeface="Manrope" pitchFamily="34" charset="-120"/>
              </a:rPr>
              <a:t>India: seats, cutoffs, real fees</a:t>
            </a:r>
            <a:endParaRPr lang="en-US" sz="1700" dirty="0"/>
          </a:p>
        </p:txBody>
      </p:sp>
      <p:sp>
        <p:nvSpPr>
          <p:cNvPr id="9" name="Text 6"/>
          <p:cNvSpPr/>
          <p:nvPr/>
        </p:nvSpPr>
        <p:spPr>
          <a:xfrm>
            <a:off x="1737360" y="2258568"/>
            <a:ext cx="7406640" cy="347472"/>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The main course — your child’s India options, calculated</a:t>
            </a:r>
            <a:endParaRPr lang="en-US" sz="1150" dirty="0"/>
          </a:p>
        </p:txBody>
      </p:sp>
      <p:sp>
        <p:nvSpPr>
          <p:cNvPr id="10" name="Shape 7"/>
          <p:cNvSpPr/>
          <p:nvPr/>
        </p:nvSpPr>
        <p:spPr>
          <a:xfrm>
            <a:off x="9784080" y="1929384"/>
            <a:ext cx="1737360" cy="457200"/>
          </a:xfrm>
          <a:prstGeom prst="roundRect">
            <a:avLst>
              <a:gd name="adj" fmla="val 50000"/>
            </a:avLst>
          </a:prstGeom>
          <a:solidFill>
            <a:srgbClr val="F5E6C4"/>
          </a:solidFill>
          <a:ln/>
        </p:spPr>
      </p:sp>
      <p:sp>
        <p:nvSpPr>
          <p:cNvPr id="11" name="Text 8"/>
          <p:cNvSpPr/>
          <p:nvPr/>
        </p:nvSpPr>
        <p:spPr>
          <a:xfrm>
            <a:off x="9784080" y="1929384"/>
            <a:ext cx="1737360" cy="457200"/>
          </a:xfrm>
          <a:prstGeom prst="rect">
            <a:avLst/>
          </a:prstGeom>
          <a:noFill/>
          <a:ln/>
        </p:spPr>
        <p:txBody>
          <a:bodyPr wrap="square" lIns="0" tIns="0" rIns="0" bIns="0" rtlCol="0" anchor="ctr"/>
          <a:lstStyle/>
          <a:p>
            <a:pPr algn="ctr" indent="0" marL="0">
              <a:buNone/>
            </a:pPr>
            <a:r>
              <a:rPr lang="en-US" sz="1100" b="1" dirty="0">
                <a:solidFill>
                  <a:srgbClr val="0B1A35"/>
                </a:solidFill>
                <a:latin typeface="Manrope" pitchFamily="34" charset="0"/>
                <a:ea typeface="Manrope" pitchFamily="34" charset="-122"/>
                <a:cs typeface="Manrope" pitchFamily="34" charset="-120"/>
              </a:rPr>
              <a:t>~25 min</a:t>
            </a:r>
            <a:endParaRPr lang="en-US" sz="1100" dirty="0"/>
          </a:p>
        </p:txBody>
      </p:sp>
      <p:sp>
        <p:nvSpPr>
          <p:cNvPr id="12" name="Text 9"/>
          <p:cNvSpPr/>
          <p:nvPr/>
        </p:nvSpPr>
        <p:spPr>
          <a:xfrm>
            <a:off x="640080" y="2862072"/>
            <a:ext cx="914400" cy="914400"/>
          </a:xfrm>
          <a:prstGeom prst="rect">
            <a:avLst/>
          </a:prstGeom>
          <a:noFill/>
          <a:ln/>
        </p:spPr>
        <p:txBody>
          <a:bodyPr wrap="square" lIns="0" tIns="0" rIns="0" bIns="0" rtlCol="0" anchor="ctr"/>
          <a:lstStyle/>
          <a:p>
            <a:pPr indent="0" marL="0">
              <a:buNone/>
            </a:pPr>
            <a:r>
              <a:rPr lang="en-US" sz="4000" b="1" dirty="0">
                <a:solidFill>
                  <a:srgbClr val="E0B85C"/>
                </a:solidFill>
                <a:latin typeface="Cormorant Garamond" pitchFamily="34" charset="0"/>
                <a:ea typeface="Cormorant Garamond" pitchFamily="34" charset="-122"/>
                <a:cs typeface="Cormorant Garamond" pitchFamily="34" charset="-120"/>
              </a:rPr>
              <a:t>02</a:t>
            </a:r>
            <a:endParaRPr lang="en-US" sz="4000" dirty="0"/>
          </a:p>
        </p:txBody>
      </p:sp>
      <p:sp>
        <p:nvSpPr>
          <p:cNvPr id="13" name="Text 10"/>
          <p:cNvSpPr/>
          <p:nvPr/>
        </p:nvSpPr>
        <p:spPr>
          <a:xfrm>
            <a:off x="1737360" y="2935224"/>
            <a:ext cx="7406640" cy="384048"/>
          </a:xfrm>
          <a:prstGeom prst="rect">
            <a:avLst/>
          </a:prstGeom>
          <a:noFill/>
          <a:ln/>
        </p:spPr>
        <p:txBody>
          <a:bodyPr wrap="square" lIns="0" tIns="0" rIns="0" bIns="0" rtlCol="0" anchor="ctr"/>
          <a:lstStyle/>
          <a:p>
            <a:pPr indent="0" marL="0">
              <a:buNone/>
            </a:pPr>
            <a:r>
              <a:rPr lang="en-US" sz="1700" b="1" dirty="0">
                <a:solidFill>
                  <a:srgbClr val="0B1A35"/>
                </a:solidFill>
                <a:latin typeface="Manrope" pitchFamily="34" charset="0"/>
                <a:ea typeface="Manrope" pitchFamily="34" charset="-122"/>
                <a:cs typeface="Manrope" pitchFamily="34" charset="-120"/>
              </a:rPr>
              <a:t>Abroad: only if India doesn’t fit</a:t>
            </a:r>
            <a:endParaRPr lang="en-US" sz="1700" dirty="0"/>
          </a:p>
        </p:txBody>
      </p:sp>
      <p:sp>
        <p:nvSpPr>
          <p:cNvPr id="14" name="Text 11"/>
          <p:cNvSpPr/>
          <p:nvPr/>
        </p:nvSpPr>
        <p:spPr>
          <a:xfrm>
            <a:off x="1737360" y="3337560"/>
            <a:ext cx="7406640" cy="347472"/>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Four countries compared on evidence — no favourites</a:t>
            </a:r>
            <a:endParaRPr lang="en-US" sz="1150" dirty="0"/>
          </a:p>
        </p:txBody>
      </p:sp>
      <p:sp>
        <p:nvSpPr>
          <p:cNvPr id="15" name="Shape 12"/>
          <p:cNvSpPr/>
          <p:nvPr/>
        </p:nvSpPr>
        <p:spPr>
          <a:xfrm>
            <a:off x="9784080" y="3008376"/>
            <a:ext cx="1737360" cy="457200"/>
          </a:xfrm>
          <a:prstGeom prst="roundRect">
            <a:avLst>
              <a:gd name="adj" fmla="val 50000"/>
            </a:avLst>
          </a:prstGeom>
          <a:solidFill>
            <a:srgbClr val="F2F4F8"/>
          </a:solidFill>
          <a:ln/>
        </p:spPr>
      </p:sp>
      <p:sp>
        <p:nvSpPr>
          <p:cNvPr id="16" name="Text 13"/>
          <p:cNvSpPr/>
          <p:nvPr/>
        </p:nvSpPr>
        <p:spPr>
          <a:xfrm>
            <a:off x="9784080" y="3008376"/>
            <a:ext cx="1737360" cy="457200"/>
          </a:xfrm>
          <a:prstGeom prst="rect">
            <a:avLst/>
          </a:prstGeom>
          <a:noFill/>
          <a:ln/>
        </p:spPr>
        <p:txBody>
          <a:bodyPr wrap="square" lIns="0" tIns="0" rIns="0" bIns="0" rtlCol="0" anchor="ctr"/>
          <a:lstStyle/>
          <a:p>
            <a:pPr algn="ctr" indent="0" marL="0">
              <a:buNone/>
            </a:pPr>
            <a:r>
              <a:rPr lang="en-US" sz="1100" b="1" dirty="0">
                <a:solidFill>
                  <a:srgbClr val="0B1A35"/>
                </a:solidFill>
                <a:latin typeface="Manrope" pitchFamily="34" charset="0"/>
                <a:ea typeface="Manrope" pitchFamily="34" charset="-122"/>
                <a:cs typeface="Manrope" pitchFamily="34" charset="-120"/>
              </a:rPr>
              <a:t>~12 min</a:t>
            </a:r>
            <a:endParaRPr lang="en-US" sz="1100" dirty="0"/>
          </a:p>
        </p:txBody>
      </p:sp>
      <p:sp>
        <p:nvSpPr>
          <p:cNvPr id="17" name="Text 14"/>
          <p:cNvSpPr/>
          <p:nvPr/>
        </p:nvSpPr>
        <p:spPr>
          <a:xfrm>
            <a:off x="640080" y="3941064"/>
            <a:ext cx="914400" cy="914400"/>
          </a:xfrm>
          <a:prstGeom prst="rect">
            <a:avLst/>
          </a:prstGeom>
          <a:noFill/>
          <a:ln/>
        </p:spPr>
        <p:txBody>
          <a:bodyPr wrap="square" lIns="0" tIns="0" rIns="0" bIns="0" rtlCol="0" anchor="ctr"/>
          <a:lstStyle/>
          <a:p>
            <a:pPr indent="0" marL="0">
              <a:buNone/>
            </a:pPr>
            <a:r>
              <a:rPr lang="en-US" sz="4000" b="1" dirty="0">
                <a:solidFill>
                  <a:srgbClr val="E0B85C"/>
                </a:solidFill>
                <a:latin typeface="Cormorant Garamond" pitchFamily="34" charset="0"/>
                <a:ea typeface="Cormorant Garamond" pitchFamily="34" charset="-122"/>
                <a:cs typeface="Cormorant Garamond" pitchFamily="34" charset="-120"/>
              </a:rPr>
              <a:t>03</a:t>
            </a:r>
            <a:endParaRPr lang="en-US" sz="4000" dirty="0"/>
          </a:p>
        </p:txBody>
      </p:sp>
      <p:sp>
        <p:nvSpPr>
          <p:cNvPr id="18" name="Text 15"/>
          <p:cNvSpPr/>
          <p:nvPr/>
        </p:nvSpPr>
        <p:spPr>
          <a:xfrm>
            <a:off x="1737360" y="4014216"/>
            <a:ext cx="7406640" cy="384048"/>
          </a:xfrm>
          <a:prstGeom prst="rect">
            <a:avLst/>
          </a:prstGeom>
          <a:noFill/>
          <a:ln/>
        </p:spPr>
        <p:txBody>
          <a:bodyPr wrap="square" lIns="0" tIns="0" rIns="0" bIns="0" rtlCol="0" anchor="ctr"/>
          <a:lstStyle/>
          <a:p>
            <a:pPr indent="0" marL="0">
              <a:buNone/>
            </a:pPr>
            <a:r>
              <a:rPr lang="en-US" sz="1700" b="1" dirty="0">
                <a:solidFill>
                  <a:srgbClr val="0B1A35"/>
                </a:solidFill>
                <a:latin typeface="Manrope" pitchFamily="34" charset="0"/>
                <a:ea typeface="Manrope" pitchFamily="34" charset="-122"/>
                <a:cs typeface="Manrope" pitchFamily="34" charset="-120"/>
              </a:rPr>
              <a:t>ABHA’s story — why trust us</a:t>
            </a:r>
            <a:endParaRPr lang="en-US" sz="1700" dirty="0"/>
          </a:p>
        </p:txBody>
      </p:sp>
      <p:sp>
        <p:nvSpPr>
          <p:cNvPr id="19" name="Text 16"/>
          <p:cNvSpPr/>
          <p:nvPr/>
        </p:nvSpPr>
        <p:spPr>
          <a:xfrm>
            <a:off x="1737360" y="4416552"/>
            <a:ext cx="7406640" cy="347472"/>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A father went first. The business came later.</a:t>
            </a:r>
            <a:endParaRPr lang="en-US" sz="1150" dirty="0"/>
          </a:p>
        </p:txBody>
      </p:sp>
      <p:sp>
        <p:nvSpPr>
          <p:cNvPr id="20" name="Shape 17"/>
          <p:cNvSpPr/>
          <p:nvPr/>
        </p:nvSpPr>
        <p:spPr>
          <a:xfrm>
            <a:off x="9784080" y="4087368"/>
            <a:ext cx="1737360" cy="457200"/>
          </a:xfrm>
          <a:prstGeom prst="roundRect">
            <a:avLst>
              <a:gd name="adj" fmla="val 50000"/>
            </a:avLst>
          </a:prstGeom>
          <a:solidFill>
            <a:srgbClr val="F2F4F8"/>
          </a:solidFill>
          <a:ln/>
        </p:spPr>
      </p:sp>
      <p:sp>
        <p:nvSpPr>
          <p:cNvPr id="21" name="Text 18"/>
          <p:cNvSpPr/>
          <p:nvPr/>
        </p:nvSpPr>
        <p:spPr>
          <a:xfrm>
            <a:off x="9784080" y="4087368"/>
            <a:ext cx="1737360" cy="457200"/>
          </a:xfrm>
          <a:prstGeom prst="rect">
            <a:avLst/>
          </a:prstGeom>
          <a:noFill/>
          <a:ln/>
        </p:spPr>
        <p:txBody>
          <a:bodyPr wrap="square" lIns="0" tIns="0" rIns="0" bIns="0" rtlCol="0" anchor="ctr"/>
          <a:lstStyle/>
          <a:p>
            <a:pPr algn="ctr" indent="0" marL="0">
              <a:buNone/>
            </a:pPr>
            <a:r>
              <a:rPr lang="en-US" sz="1100" b="1" dirty="0">
                <a:solidFill>
                  <a:srgbClr val="0B1A35"/>
                </a:solidFill>
                <a:latin typeface="Manrope" pitchFamily="34" charset="0"/>
                <a:ea typeface="Manrope" pitchFamily="34" charset="-122"/>
                <a:cs typeface="Manrope" pitchFamily="34" charset="-120"/>
              </a:rPr>
              <a:t>~8 min</a:t>
            </a:r>
            <a:endParaRPr lang="en-US" sz="1100" dirty="0"/>
          </a:p>
        </p:txBody>
      </p:sp>
      <p:sp>
        <p:nvSpPr>
          <p:cNvPr id="22" name="Text 19"/>
          <p:cNvSpPr/>
          <p:nvPr/>
        </p:nvSpPr>
        <p:spPr>
          <a:xfrm>
            <a:off x="640080" y="5020056"/>
            <a:ext cx="914400" cy="914400"/>
          </a:xfrm>
          <a:prstGeom prst="rect">
            <a:avLst/>
          </a:prstGeom>
          <a:noFill/>
          <a:ln/>
        </p:spPr>
        <p:txBody>
          <a:bodyPr wrap="square" lIns="0" tIns="0" rIns="0" bIns="0" rtlCol="0" anchor="ctr"/>
          <a:lstStyle/>
          <a:p>
            <a:pPr indent="0" marL="0">
              <a:buNone/>
            </a:pPr>
            <a:r>
              <a:rPr lang="en-US" sz="4000" b="1" dirty="0">
                <a:solidFill>
                  <a:srgbClr val="E0B85C"/>
                </a:solidFill>
                <a:latin typeface="Cormorant Garamond" pitchFamily="34" charset="0"/>
                <a:ea typeface="Cormorant Garamond" pitchFamily="34" charset="-122"/>
                <a:cs typeface="Cormorant Garamond" pitchFamily="34" charset="-120"/>
              </a:rPr>
              <a:t>04</a:t>
            </a:r>
            <a:endParaRPr lang="en-US" sz="4000" dirty="0"/>
          </a:p>
        </p:txBody>
      </p:sp>
      <p:sp>
        <p:nvSpPr>
          <p:cNvPr id="23" name="Text 20"/>
          <p:cNvSpPr/>
          <p:nvPr/>
        </p:nvSpPr>
        <p:spPr>
          <a:xfrm>
            <a:off x="1737360" y="5093208"/>
            <a:ext cx="7406640" cy="384048"/>
          </a:xfrm>
          <a:prstGeom prst="rect">
            <a:avLst/>
          </a:prstGeom>
          <a:noFill/>
          <a:ln/>
        </p:spPr>
        <p:txBody>
          <a:bodyPr wrap="square" lIns="0" tIns="0" rIns="0" bIns="0" rtlCol="0" anchor="ctr"/>
          <a:lstStyle/>
          <a:p>
            <a:pPr indent="0" marL="0">
              <a:buNone/>
            </a:pPr>
            <a:r>
              <a:rPr lang="en-US" sz="1700" b="1" dirty="0">
                <a:solidFill>
                  <a:srgbClr val="0B1A35"/>
                </a:solidFill>
                <a:latin typeface="Manrope" pitchFamily="34" charset="0"/>
                <a:ea typeface="Manrope" pitchFamily="34" charset="-122"/>
                <a:cs typeface="Manrope" pitchFamily="34" charset="-120"/>
              </a:rPr>
              <a:t>Your questions, live</a:t>
            </a:r>
            <a:endParaRPr lang="en-US" sz="1700" dirty="0"/>
          </a:p>
        </p:txBody>
      </p:sp>
      <p:sp>
        <p:nvSpPr>
          <p:cNvPr id="24" name="Text 21"/>
          <p:cNvSpPr/>
          <p:nvPr/>
        </p:nvSpPr>
        <p:spPr>
          <a:xfrm>
            <a:off x="1737360" y="5495544"/>
            <a:ext cx="7406640" cy="347472"/>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Kathin sawaal pehle poochhiye</a:t>
            </a:r>
            <a:endParaRPr lang="en-US" sz="1150" dirty="0"/>
          </a:p>
        </p:txBody>
      </p:sp>
      <p:sp>
        <p:nvSpPr>
          <p:cNvPr id="25" name="Shape 22"/>
          <p:cNvSpPr/>
          <p:nvPr/>
        </p:nvSpPr>
        <p:spPr>
          <a:xfrm>
            <a:off x="9784080" y="5166360"/>
            <a:ext cx="1737360" cy="457200"/>
          </a:xfrm>
          <a:prstGeom prst="roundRect">
            <a:avLst>
              <a:gd name="adj" fmla="val 50000"/>
            </a:avLst>
          </a:prstGeom>
          <a:solidFill>
            <a:srgbClr val="F2F4F8"/>
          </a:solidFill>
          <a:ln/>
        </p:spPr>
      </p:sp>
      <p:sp>
        <p:nvSpPr>
          <p:cNvPr id="26" name="Text 23"/>
          <p:cNvSpPr/>
          <p:nvPr/>
        </p:nvSpPr>
        <p:spPr>
          <a:xfrm>
            <a:off x="9784080" y="5166360"/>
            <a:ext cx="1737360" cy="457200"/>
          </a:xfrm>
          <a:prstGeom prst="rect">
            <a:avLst/>
          </a:prstGeom>
          <a:noFill/>
          <a:ln/>
        </p:spPr>
        <p:txBody>
          <a:bodyPr wrap="square" lIns="0" tIns="0" rIns="0" bIns="0" rtlCol="0" anchor="ctr"/>
          <a:lstStyle/>
          <a:p>
            <a:pPr algn="ctr" indent="0" marL="0">
              <a:buNone/>
            </a:pPr>
            <a:r>
              <a:rPr lang="en-US" sz="1100" b="1" dirty="0">
                <a:solidFill>
                  <a:srgbClr val="0B1A35"/>
                </a:solidFill>
                <a:latin typeface="Manrope" pitchFamily="34" charset="0"/>
                <a:ea typeface="Manrope" pitchFamily="34" charset="-122"/>
                <a:cs typeface="Manrope" pitchFamily="34" charset="-120"/>
              </a:rPr>
              <a:t>15–20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3</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1 · FRAME</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Ye Seminar Kya NAHI Hai</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Pehle hi saaf kar dete hain</a:t>
            </a:r>
            <a:endParaRPr lang="en-US" sz="1300" dirty="0"/>
          </a:p>
        </p:txBody>
      </p:sp>
      <p:sp>
        <p:nvSpPr>
          <p:cNvPr id="7" name="Shape 4"/>
          <p:cNvSpPr/>
          <p:nvPr/>
        </p:nvSpPr>
        <p:spPr>
          <a:xfrm>
            <a:off x="914400" y="1874520"/>
            <a:ext cx="512064" cy="512064"/>
          </a:xfrm>
          <a:prstGeom prst="ellipse">
            <a:avLst/>
          </a:prstGeom>
          <a:solidFill>
            <a:srgbClr val="17294F"/>
          </a:solidFill>
          <a:ln/>
        </p:spPr>
      </p:sp>
      <p:pic>
        <p:nvPicPr>
          <p:cNvPr id="8" name="Image 0" descr="/tmp/claude-0/-home-user/22b099b3-5195-5dc8-9cf2-1c5020dc8f38/scratchpad/deck/icons/times.png">    </p:cNvPr>
          <p:cNvPicPr>
            <a:picLocks noChangeAspect="1"/>
          </p:cNvPicPr>
          <p:nvPr/>
        </p:nvPicPr>
        <p:blipFill>
          <a:blip r:embed="rId1"/>
          <a:stretch>
            <a:fillRect/>
          </a:stretch>
        </p:blipFill>
        <p:spPr>
          <a:xfrm>
            <a:off x="1047537" y="2007657"/>
            <a:ext cx="245791" cy="245791"/>
          </a:xfrm>
          <a:prstGeom prst="rect">
            <a:avLst/>
          </a:prstGeom>
        </p:spPr>
      </p:pic>
      <p:sp>
        <p:nvSpPr>
          <p:cNvPr id="9" name="Text 5"/>
          <p:cNvSpPr/>
          <p:nvPr/>
        </p:nvSpPr>
        <p:spPr>
          <a:xfrm>
            <a:off x="1691640" y="1874520"/>
            <a:ext cx="9692640" cy="512064"/>
          </a:xfrm>
          <a:prstGeom prst="rect">
            <a:avLst/>
          </a:prstGeom>
          <a:noFill/>
          <a:ln/>
        </p:spPr>
        <p:txBody>
          <a:bodyPr wrap="square" lIns="0" tIns="0" rIns="0" bIns="0" rtlCol="0" anchor="ctr"/>
          <a:lstStyle/>
          <a:p>
            <a:pPr indent="0" marL="0">
              <a:buNone/>
            </a:pPr>
            <a:r>
              <a:rPr lang="en-US" sz="1700" dirty="0">
                <a:solidFill>
                  <a:srgbClr val="FFFFFF"/>
                </a:solidFill>
                <a:latin typeface="Manrope" pitchFamily="34" charset="0"/>
                <a:ea typeface="Manrope" pitchFamily="34" charset="-122"/>
                <a:cs typeface="Manrope" pitchFamily="34" charset="-120"/>
              </a:rPr>
              <a:t>NOT a sales pitch — no enrolment today</a:t>
            </a:r>
            <a:endParaRPr lang="en-US" sz="1700" dirty="0"/>
          </a:p>
        </p:txBody>
      </p:sp>
      <p:sp>
        <p:nvSpPr>
          <p:cNvPr id="10" name="Shape 6"/>
          <p:cNvSpPr/>
          <p:nvPr/>
        </p:nvSpPr>
        <p:spPr>
          <a:xfrm>
            <a:off x="914400" y="2715768"/>
            <a:ext cx="512064" cy="512064"/>
          </a:xfrm>
          <a:prstGeom prst="ellipse">
            <a:avLst/>
          </a:prstGeom>
          <a:solidFill>
            <a:srgbClr val="17294F"/>
          </a:solidFill>
          <a:ln/>
        </p:spPr>
      </p:sp>
      <p:pic>
        <p:nvPicPr>
          <p:cNvPr id="11" name="Image 1" descr="/tmp/claude-0/-home-user/22b099b3-5195-5dc8-9cf2-1c5020dc8f38/scratchpad/deck/icons/times.png">    </p:cNvPr>
          <p:cNvPicPr>
            <a:picLocks noChangeAspect="1"/>
          </p:cNvPicPr>
          <p:nvPr/>
        </p:nvPicPr>
        <p:blipFill>
          <a:blip r:embed="rId2"/>
          <a:stretch>
            <a:fillRect/>
          </a:stretch>
        </p:blipFill>
        <p:spPr>
          <a:xfrm>
            <a:off x="1047537" y="2848905"/>
            <a:ext cx="245791" cy="245791"/>
          </a:xfrm>
          <a:prstGeom prst="rect">
            <a:avLst/>
          </a:prstGeom>
        </p:spPr>
      </p:pic>
      <p:sp>
        <p:nvSpPr>
          <p:cNvPr id="12" name="Text 7"/>
          <p:cNvSpPr/>
          <p:nvPr/>
        </p:nvSpPr>
        <p:spPr>
          <a:xfrm>
            <a:off x="1691640" y="2715768"/>
            <a:ext cx="9692640" cy="512064"/>
          </a:xfrm>
          <a:prstGeom prst="rect">
            <a:avLst/>
          </a:prstGeom>
          <a:noFill/>
          <a:ln/>
        </p:spPr>
        <p:txBody>
          <a:bodyPr wrap="square" lIns="0" tIns="0" rIns="0" bIns="0" rtlCol="0" anchor="ctr"/>
          <a:lstStyle/>
          <a:p>
            <a:pPr indent="0" marL="0">
              <a:buNone/>
            </a:pPr>
            <a:r>
              <a:rPr lang="en-US" sz="1700" dirty="0">
                <a:solidFill>
                  <a:srgbClr val="FFFFFF"/>
                </a:solidFill>
                <a:latin typeface="Manrope" pitchFamily="34" charset="0"/>
                <a:ea typeface="Manrope" pitchFamily="34" charset="-122"/>
                <a:cs typeface="Manrope" pitchFamily="34" charset="-120"/>
              </a:rPr>
              <a:t>NO one-on-one fee discussion today</a:t>
            </a:r>
            <a:endParaRPr lang="en-US" sz="1700" dirty="0"/>
          </a:p>
        </p:txBody>
      </p:sp>
      <p:sp>
        <p:nvSpPr>
          <p:cNvPr id="13" name="Shape 8"/>
          <p:cNvSpPr/>
          <p:nvPr/>
        </p:nvSpPr>
        <p:spPr>
          <a:xfrm>
            <a:off x="914400" y="3557016"/>
            <a:ext cx="512064" cy="512064"/>
          </a:xfrm>
          <a:prstGeom prst="ellipse">
            <a:avLst/>
          </a:prstGeom>
          <a:solidFill>
            <a:srgbClr val="17294F"/>
          </a:solidFill>
          <a:ln/>
        </p:spPr>
      </p:sp>
      <p:pic>
        <p:nvPicPr>
          <p:cNvPr id="14" name="Image 2" descr="/tmp/claude-0/-home-user/22b099b3-5195-5dc8-9cf2-1c5020dc8f38/scratchpad/deck/icons/times.png">    </p:cNvPr>
          <p:cNvPicPr>
            <a:picLocks noChangeAspect="1"/>
          </p:cNvPicPr>
          <p:nvPr/>
        </p:nvPicPr>
        <p:blipFill>
          <a:blip r:embed="rId3"/>
          <a:stretch>
            <a:fillRect/>
          </a:stretch>
        </p:blipFill>
        <p:spPr>
          <a:xfrm>
            <a:off x="1047537" y="3690153"/>
            <a:ext cx="245791" cy="245791"/>
          </a:xfrm>
          <a:prstGeom prst="rect">
            <a:avLst/>
          </a:prstGeom>
        </p:spPr>
      </p:pic>
      <p:sp>
        <p:nvSpPr>
          <p:cNvPr id="15" name="Text 9"/>
          <p:cNvSpPr/>
          <p:nvPr/>
        </p:nvSpPr>
        <p:spPr>
          <a:xfrm>
            <a:off x="1691640" y="3557016"/>
            <a:ext cx="9692640" cy="512064"/>
          </a:xfrm>
          <a:prstGeom prst="rect">
            <a:avLst/>
          </a:prstGeom>
          <a:noFill/>
          <a:ln/>
        </p:spPr>
        <p:txBody>
          <a:bodyPr wrap="square" lIns="0" tIns="0" rIns="0" bIns="0" rtlCol="0" anchor="ctr"/>
          <a:lstStyle/>
          <a:p>
            <a:pPr indent="0" marL="0">
              <a:buNone/>
            </a:pPr>
            <a:r>
              <a:rPr lang="en-US" sz="1700" dirty="0">
                <a:solidFill>
                  <a:srgbClr val="FFFFFF"/>
                </a:solidFill>
                <a:latin typeface="Manrope" pitchFamily="34" charset="0"/>
                <a:ea typeface="Manrope" pitchFamily="34" charset="-122"/>
                <a:cs typeface="Manrope" pitchFamily="34" charset="-120"/>
              </a:rPr>
              <a:t>NO "guaranteed seat / guaranteed visa" talk — ever</a:t>
            </a:r>
            <a:endParaRPr lang="en-US" sz="1700" dirty="0"/>
          </a:p>
        </p:txBody>
      </p:sp>
      <p:sp>
        <p:nvSpPr>
          <p:cNvPr id="16" name="Shape 10"/>
          <p:cNvSpPr/>
          <p:nvPr/>
        </p:nvSpPr>
        <p:spPr>
          <a:xfrm>
            <a:off x="914400" y="4398264"/>
            <a:ext cx="512064" cy="512064"/>
          </a:xfrm>
          <a:prstGeom prst="ellipse">
            <a:avLst/>
          </a:prstGeom>
          <a:solidFill>
            <a:srgbClr val="17294F"/>
          </a:solidFill>
          <a:ln/>
        </p:spPr>
      </p:sp>
      <p:pic>
        <p:nvPicPr>
          <p:cNvPr id="17" name="Image 3" descr="/tmp/claude-0/-home-user/22b099b3-5195-5dc8-9cf2-1c5020dc8f38/scratchpad/deck/icons/times.png">    </p:cNvPr>
          <p:cNvPicPr>
            <a:picLocks noChangeAspect="1"/>
          </p:cNvPicPr>
          <p:nvPr/>
        </p:nvPicPr>
        <p:blipFill>
          <a:blip r:embed="rId4"/>
          <a:stretch>
            <a:fillRect/>
          </a:stretch>
        </p:blipFill>
        <p:spPr>
          <a:xfrm>
            <a:off x="1047537" y="4531401"/>
            <a:ext cx="245791" cy="245791"/>
          </a:xfrm>
          <a:prstGeom prst="rect">
            <a:avLst/>
          </a:prstGeom>
        </p:spPr>
      </p:pic>
      <p:sp>
        <p:nvSpPr>
          <p:cNvPr id="18" name="Text 11"/>
          <p:cNvSpPr/>
          <p:nvPr/>
        </p:nvSpPr>
        <p:spPr>
          <a:xfrm>
            <a:off x="1691640" y="4398264"/>
            <a:ext cx="9692640" cy="512064"/>
          </a:xfrm>
          <a:prstGeom prst="rect">
            <a:avLst/>
          </a:prstGeom>
          <a:noFill/>
          <a:ln/>
        </p:spPr>
        <p:txBody>
          <a:bodyPr wrap="square" lIns="0" tIns="0" rIns="0" bIns="0" rtlCol="0" anchor="ctr"/>
          <a:lstStyle/>
          <a:p>
            <a:pPr indent="0" marL="0">
              <a:buNone/>
            </a:pPr>
            <a:r>
              <a:rPr lang="en-US" sz="1700" dirty="0">
                <a:solidFill>
                  <a:srgbClr val="FFFFFF"/>
                </a:solidFill>
                <a:latin typeface="Manrope" pitchFamily="34" charset="0"/>
                <a:ea typeface="Manrope" pitchFamily="34" charset="-122"/>
                <a:cs typeface="Manrope" pitchFamily="34" charset="-120"/>
              </a:rPr>
              <a:t>NO pressure calls after this webinar</a:t>
            </a:r>
            <a:endParaRPr lang="en-US" sz="1700" dirty="0"/>
          </a:p>
        </p:txBody>
      </p:sp>
      <p:sp>
        <p:nvSpPr>
          <p:cNvPr id="19" name="Shape 12"/>
          <p:cNvSpPr/>
          <p:nvPr/>
        </p:nvSpPr>
        <p:spPr>
          <a:xfrm>
            <a:off x="914400" y="5239512"/>
            <a:ext cx="512064" cy="512064"/>
          </a:xfrm>
          <a:prstGeom prst="ellipse">
            <a:avLst/>
          </a:prstGeom>
          <a:solidFill>
            <a:srgbClr val="17294F"/>
          </a:solidFill>
          <a:ln/>
        </p:spPr>
      </p:sp>
      <p:pic>
        <p:nvPicPr>
          <p:cNvPr id="20" name="Image 4" descr="/tmp/claude-0/-home-user/22b099b3-5195-5dc8-9cf2-1c5020dc8f38/scratchpad/deck/icons/check.png">    </p:cNvPr>
          <p:cNvPicPr>
            <a:picLocks noChangeAspect="1"/>
          </p:cNvPicPr>
          <p:nvPr/>
        </p:nvPicPr>
        <p:blipFill>
          <a:blip r:embed="rId5"/>
          <a:stretch>
            <a:fillRect/>
          </a:stretch>
        </p:blipFill>
        <p:spPr>
          <a:xfrm>
            <a:off x="1047537" y="5372649"/>
            <a:ext cx="245791" cy="245791"/>
          </a:xfrm>
          <a:prstGeom prst="rect">
            <a:avLst/>
          </a:prstGeom>
        </p:spPr>
      </p:pic>
      <p:sp>
        <p:nvSpPr>
          <p:cNvPr id="21" name="Text 13"/>
          <p:cNvSpPr/>
          <p:nvPr/>
        </p:nvSpPr>
        <p:spPr>
          <a:xfrm>
            <a:off x="1691640" y="5239512"/>
            <a:ext cx="9692640" cy="512064"/>
          </a:xfrm>
          <a:prstGeom prst="rect">
            <a:avLst/>
          </a:prstGeom>
          <a:noFill/>
          <a:ln/>
        </p:spPr>
        <p:txBody>
          <a:bodyPr wrap="square" lIns="0" tIns="0" rIns="0" bIns="0" rtlCol="0" anchor="ctr"/>
          <a:lstStyle/>
          <a:p>
            <a:pPr indent="0" marL="0">
              <a:buNone/>
            </a:pPr>
            <a:r>
              <a:rPr lang="en-US" sz="1700" dirty="0">
                <a:solidFill>
                  <a:srgbClr val="E0B85C"/>
                </a:solidFill>
                <a:latin typeface="Manrope" pitchFamily="34" charset="0"/>
                <a:ea typeface="Manrope" pitchFamily="34" charset="-122"/>
                <a:cs typeface="Manrope" pitchFamily="34" charset="-120"/>
              </a:rPr>
              <a:t>Sirf jaankari — decision aapka, ghar par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4</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1 · FRAME</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Hamara Promise: India Pehle</a:t>
            </a:r>
            <a:endParaRPr lang="en-US" sz="3400" dirty="0"/>
          </a:p>
        </p:txBody>
      </p:sp>
      <p:sp>
        <p:nvSpPr>
          <p:cNvPr id="6" name="Text 3"/>
          <p:cNvSpPr/>
          <p:nvPr/>
        </p:nvSpPr>
        <p:spPr>
          <a:xfrm>
            <a:off x="1097280" y="1737360"/>
            <a:ext cx="9994392" cy="1737360"/>
          </a:xfrm>
          <a:prstGeom prst="rect">
            <a:avLst/>
          </a:prstGeom>
          <a:noFill/>
          <a:ln/>
        </p:spPr>
        <p:txBody>
          <a:bodyPr wrap="square" lIns="0" tIns="0" rIns="0" bIns="0" rtlCol="0" anchor="ctr"/>
          <a:lstStyle/>
          <a:p>
            <a:pPr algn="ctr" indent="0" marL="0">
              <a:buNone/>
            </a:pPr>
            <a:r>
              <a:rPr lang="en-US" sz="3800" b="1" dirty="0">
                <a:solidFill>
                  <a:srgbClr val="0B1A35"/>
                </a:solidFill>
                <a:latin typeface="Cormorant Garamond" pitchFamily="34" charset="0"/>
                <a:ea typeface="Cormorant Garamond" pitchFamily="34" charset="-122"/>
                <a:cs typeface="Cormorant Garamond" pitchFamily="34" charset="-120"/>
              </a:rPr>
              <a:t>"Government seat India mein</a:t>
            </a:r>
            <a:endParaRPr lang="en-US" sz="3800" dirty="0"/>
          </a:p>
          <a:p>
            <a:pPr algn="ctr" indent="0" marL="0">
              <a:buNone/>
            </a:pPr>
            <a:r>
              <a:rPr lang="en-US" sz="3800" b="1" dirty="0">
                <a:solidFill>
                  <a:srgbClr val="0B1A35"/>
                </a:solidFill>
                <a:latin typeface="Cormorant Garamond" pitchFamily="34" charset="0"/>
                <a:ea typeface="Cormorant Garamond" pitchFamily="34" charset="-122"/>
                <a:cs typeface="Cormorant Garamond" pitchFamily="34" charset="-120"/>
              </a:rPr>
              <a:t>= best outcome. Full stop."</a:t>
            </a:r>
            <a:endParaRPr lang="en-US" sz="3800" dirty="0"/>
          </a:p>
        </p:txBody>
      </p:sp>
      <p:sp>
        <p:nvSpPr>
          <p:cNvPr id="7" name="Text 4"/>
          <p:cNvSpPr/>
          <p:nvPr/>
        </p:nvSpPr>
        <p:spPr>
          <a:xfrm>
            <a:off x="3108960" y="3886200"/>
            <a:ext cx="6675120" cy="137160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22304A"/>
                </a:solidFill>
                <a:latin typeface="Manrope" pitchFamily="34" charset="0"/>
                <a:ea typeface="Manrope" pitchFamily="34" charset="-122"/>
                <a:cs typeface="Manrope" pitchFamily="34" charset="-120"/>
              </a:rPr>
              <a:t>Pehle: aapke rank ke India options — calculated</a:t>
            </a:r>
            <a:endParaRPr lang="en-US" sz="1450" dirty="0"/>
          </a:p>
          <a:p>
            <a:pPr marL="342900" indent="-342900">
              <a:spcAft>
                <a:spcPts val="1000"/>
              </a:spcAft>
              <a:buSzPct val="100000"/>
              <a:buChar char="•"/>
            </a:pPr>
            <a:r>
              <a:rPr lang="en-US" sz="1450" dirty="0">
                <a:solidFill>
                  <a:srgbClr val="22304A"/>
                </a:solidFill>
                <a:latin typeface="Manrope" pitchFamily="34" charset="0"/>
                <a:ea typeface="Manrope" pitchFamily="34" charset="-122"/>
                <a:cs typeface="Manrope" pitchFamily="34" charset="-120"/>
              </a:rPr>
              <a:t>Government seat possible?  →  Take it. Abroad band.</a:t>
            </a:r>
            <a:endParaRPr lang="en-US" sz="1450" dirty="0"/>
          </a:p>
          <a:p>
            <a:pPr marL="342900" indent="-342900">
              <a:spcAft>
                <a:spcPts val="1000"/>
              </a:spcAft>
              <a:buSzPct val="100000"/>
              <a:buChar char="•"/>
            </a:pPr>
            <a:r>
              <a:rPr lang="en-US" sz="1450" dirty="0">
                <a:solidFill>
                  <a:srgbClr val="22304A"/>
                </a:solidFill>
                <a:latin typeface="Manrope" pitchFamily="34" charset="0"/>
                <a:ea typeface="Manrope" pitchFamily="34" charset="-122"/>
                <a:cs typeface="Manrope" pitchFamily="34" charset="-120"/>
              </a:rPr>
              <a:t>Abroad sirf tab, jab India genuinely closed</a:t>
            </a:r>
            <a:endParaRPr lang="en-US" sz="1450" dirty="0"/>
          </a:p>
        </p:txBody>
      </p:sp>
      <p:sp>
        <p:nvSpPr>
          <p:cNvPr id="8" name="Shape 5"/>
          <p:cNvSpPr/>
          <p:nvPr/>
        </p:nvSpPr>
        <p:spPr>
          <a:xfrm>
            <a:off x="8732520" y="5623560"/>
            <a:ext cx="2907792" cy="658368"/>
          </a:xfrm>
          <a:prstGeom prst="roundRect">
            <a:avLst>
              <a:gd name="adj" fmla="val 50000"/>
            </a:avLst>
          </a:prstGeom>
          <a:solidFill>
            <a:srgbClr val="0B1A35"/>
          </a:solidFill>
          <a:ln/>
        </p:spPr>
      </p:sp>
      <p:pic>
        <p:nvPicPr>
          <p:cNvPr id="9" name="Image 0" descr="/tmp/claude-0/-home-user/22b099b3-5195-5dc8-9cf2-1c5020dc8f38/scratchpad/deck/icons/seal.png">    </p:cNvPr>
          <p:cNvPicPr>
            <a:picLocks noChangeAspect="1"/>
          </p:cNvPicPr>
          <p:nvPr/>
        </p:nvPicPr>
        <p:blipFill>
          <a:blip r:embed="rId1"/>
          <a:stretch>
            <a:fillRect/>
          </a:stretch>
        </p:blipFill>
        <p:spPr>
          <a:xfrm>
            <a:off x="8942832" y="5779008"/>
            <a:ext cx="347472" cy="347472"/>
          </a:xfrm>
          <a:prstGeom prst="rect">
            <a:avLst/>
          </a:prstGeom>
        </p:spPr>
      </p:pic>
      <p:sp>
        <p:nvSpPr>
          <p:cNvPr id="10" name="Text 6"/>
          <p:cNvSpPr/>
          <p:nvPr/>
        </p:nvSpPr>
        <p:spPr>
          <a:xfrm>
            <a:off x="9372600" y="5623560"/>
            <a:ext cx="2240280" cy="658368"/>
          </a:xfrm>
          <a:prstGeom prst="rect">
            <a:avLst/>
          </a:prstGeom>
          <a:noFill/>
          <a:ln/>
        </p:spPr>
        <p:txBody>
          <a:bodyPr wrap="square" lIns="0" tIns="0" rIns="0" bIns="0" rtlCol="0" anchor="ctr"/>
          <a:lstStyle/>
          <a:p>
            <a:pPr indent="0" marL="0">
              <a:buNone/>
            </a:pPr>
            <a:r>
              <a:rPr lang="en-US" sz="1000" b="1" dirty="0">
                <a:solidFill>
                  <a:srgbClr val="F5E6C4"/>
                </a:solidFill>
                <a:latin typeface="Manrope" pitchFamily="34" charset="0"/>
                <a:ea typeface="Manrope" pitchFamily="34" charset="-122"/>
                <a:cs typeface="Manrope" pitchFamily="34" charset="-120"/>
              </a:rPr>
              <a:t>India-First Counselling — likhit policy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5</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2 · INDIA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NEET 2026: Is Saal Kya Hua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Result 16 July 2026 · Re-NEET held 21 June 2026</a:t>
            </a:r>
            <a:endParaRPr lang="en-US" sz="1300" dirty="0"/>
          </a:p>
        </p:txBody>
      </p:sp>
      <p:sp>
        <p:nvSpPr>
          <p:cNvPr id="7" name="Shape 4"/>
          <p:cNvSpPr/>
          <p:nvPr/>
        </p:nvSpPr>
        <p:spPr>
          <a:xfrm>
            <a:off x="548640" y="2011680"/>
            <a:ext cx="2093976" cy="2286000"/>
          </a:xfrm>
          <a:prstGeom prst="roundRect">
            <a:avLst>
              <a:gd name="adj" fmla="val 3930"/>
            </a:avLst>
          </a:prstGeom>
          <a:solidFill>
            <a:srgbClr val="17294F"/>
          </a:solidFill>
          <a:ln/>
        </p:spPr>
      </p:sp>
      <p:sp>
        <p:nvSpPr>
          <p:cNvPr id="8" name="Text 5"/>
          <p:cNvSpPr/>
          <p:nvPr/>
        </p:nvSpPr>
        <p:spPr>
          <a:xfrm>
            <a:off x="548640" y="2286000"/>
            <a:ext cx="2093976" cy="685800"/>
          </a:xfrm>
          <a:prstGeom prst="rect">
            <a:avLst/>
          </a:prstGeom>
          <a:noFill/>
          <a:ln/>
        </p:spPr>
        <p:txBody>
          <a:bodyPr wrap="square" lIns="0" tIns="0" rIns="0" bIns="0" rtlCol="0" anchor="ctr"/>
          <a:lstStyle/>
          <a:p>
            <a:pPr algn="ctr" indent="0" marL="0">
              <a:buNone/>
            </a:pPr>
            <a:r>
              <a:rPr lang="en-US" sz="2500" b="1" dirty="0">
                <a:solidFill>
                  <a:srgbClr val="C6962E"/>
                </a:solidFill>
                <a:latin typeface="Cormorant Garamond" pitchFamily="34" charset="0"/>
                <a:ea typeface="Cormorant Garamond" pitchFamily="34" charset="-122"/>
                <a:cs typeface="Cormorant Garamond" pitchFamily="34" charset="-120"/>
              </a:rPr>
              <a:t>~20 lakh</a:t>
            </a:r>
            <a:endParaRPr lang="en-US" sz="2500" dirty="0"/>
          </a:p>
        </p:txBody>
      </p:sp>
      <p:sp>
        <p:nvSpPr>
          <p:cNvPr id="9" name="Text 6"/>
          <p:cNvSpPr/>
          <p:nvPr/>
        </p:nvSpPr>
        <p:spPr>
          <a:xfrm>
            <a:off x="640080" y="3063240"/>
            <a:ext cx="1911096"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APPEARED</a:t>
            </a:r>
            <a:endParaRPr lang="en-US" sz="1000" dirty="0"/>
          </a:p>
        </p:txBody>
      </p:sp>
      <p:sp>
        <p:nvSpPr>
          <p:cNvPr id="10" name="Text 7"/>
          <p:cNvSpPr/>
          <p:nvPr/>
        </p:nvSpPr>
        <p:spPr>
          <a:xfrm>
            <a:off x="658368" y="3584448"/>
            <a:ext cx="1874520" cy="548640"/>
          </a:xfrm>
          <a:prstGeom prst="rect">
            <a:avLst/>
          </a:prstGeom>
          <a:noFill/>
          <a:ln/>
        </p:spPr>
        <p:txBody>
          <a:bodyPr wrap="square" lIns="0" tIns="0" rIns="0" bIns="0" rtlCol="0" anchor="ctr"/>
          <a:lstStyle/>
          <a:p>
            <a:pPr algn="ctr" indent="0" marL="0">
              <a:buNone/>
            </a:pPr>
            <a:r>
              <a:rPr lang="en-US" sz="900" dirty="0">
                <a:solidFill>
                  <a:srgbClr val="AEB9CC"/>
                </a:solidFill>
                <a:latin typeface="Manrope" pitchFamily="34" charset="0"/>
                <a:ea typeface="Manrope" pitchFamily="34" charset="-122"/>
                <a:cs typeface="Manrope" pitchFamily="34" charset="-120"/>
              </a:rPr>
              <a:t>across India</a:t>
            </a:r>
            <a:endParaRPr lang="en-US" sz="900" dirty="0"/>
          </a:p>
        </p:txBody>
      </p:sp>
      <p:sp>
        <p:nvSpPr>
          <p:cNvPr id="11" name="Shape 8"/>
          <p:cNvSpPr/>
          <p:nvPr/>
        </p:nvSpPr>
        <p:spPr>
          <a:xfrm>
            <a:off x="2779776" y="2011680"/>
            <a:ext cx="2093976" cy="2286000"/>
          </a:xfrm>
          <a:prstGeom prst="roundRect">
            <a:avLst>
              <a:gd name="adj" fmla="val 3930"/>
            </a:avLst>
          </a:prstGeom>
          <a:solidFill>
            <a:srgbClr val="17294F"/>
          </a:solidFill>
          <a:ln/>
        </p:spPr>
      </p:sp>
      <p:sp>
        <p:nvSpPr>
          <p:cNvPr id="12" name="Text 9"/>
          <p:cNvSpPr/>
          <p:nvPr/>
        </p:nvSpPr>
        <p:spPr>
          <a:xfrm>
            <a:off x="2779776" y="2286000"/>
            <a:ext cx="2093976" cy="685800"/>
          </a:xfrm>
          <a:prstGeom prst="rect">
            <a:avLst/>
          </a:prstGeom>
          <a:noFill/>
          <a:ln/>
        </p:spPr>
        <p:txBody>
          <a:bodyPr wrap="square" lIns="0" tIns="0" rIns="0" bIns="0" rtlCol="0" anchor="ctr"/>
          <a:lstStyle/>
          <a:p>
            <a:pPr algn="ctr" indent="0" marL="0">
              <a:buNone/>
            </a:pPr>
            <a:r>
              <a:rPr lang="en-US" sz="2500" b="1" dirty="0">
                <a:solidFill>
                  <a:srgbClr val="C6962E"/>
                </a:solidFill>
                <a:latin typeface="Cormorant Garamond" pitchFamily="34" charset="0"/>
                <a:ea typeface="Cormorant Garamond" pitchFamily="34" charset="-122"/>
                <a:cs typeface="Cormorant Garamond" pitchFamily="34" charset="-120"/>
              </a:rPr>
              <a:t>11.21 lakh</a:t>
            </a:r>
            <a:endParaRPr lang="en-US" sz="2500" dirty="0"/>
          </a:p>
        </p:txBody>
      </p:sp>
      <p:sp>
        <p:nvSpPr>
          <p:cNvPr id="13" name="Text 10"/>
          <p:cNvSpPr/>
          <p:nvPr/>
        </p:nvSpPr>
        <p:spPr>
          <a:xfrm>
            <a:off x="2871216" y="3063240"/>
            <a:ext cx="1911096"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QUALIFIED</a:t>
            </a:r>
            <a:endParaRPr lang="en-US" sz="1000" dirty="0"/>
          </a:p>
        </p:txBody>
      </p:sp>
      <p:sp>
        <p:nvSpPr>
          <p:cNvPr id="14" name="Text 11"/>
          <p:cNvSpPr/>
          <p:nvPr/>
        </p:nvSpPr>
        <p:spPr>
          <a:xfrm>
            <a:off x="2889504" y="3584448"/>
            <a:ext cx="1874520" cy="548640"/>
          </a:xfrm>
          <a:prstGeom prst="rect">
            <a:avLst/>
          </a:prstGeom>
          <a:noFill/>
          <a:ln/>
        </p:spPr>
        <p:txBody>
          <a:bodyPr wrap="square" lIns="0" tIns="0" rIns="0" bIns="0" rtlCol="0" anchor="ctr"/>
          <a:lstStyle/>
          <a:p>
            <a:pPr algn="ctr" indent="0" marL="0">
              <a:buNone/>
            </a:pPr>
            <a:r>
              <a:rPr lang="en-US" sz="900" dirty="0">
                <a:solidFill>
                  <a:srgbClr val="AEB9CC"/>
                </a:solidFill>
                <a:latin typeface="Manrope" pitchFamily="34" charset="0"/>
                <a:ea typeface="Manrope" pitchFamily="34" charset="-122"/>
                <a:cs typeface="Manrope" pitchFamily="34" charset="-120"/>
              </a:rPr>
              <a:t>56% of appeared</a:t>
            </a:r>
            <a:endParaRPr lang="en-US" sz="900" dirty="0"/>
          </a:p>
        </p:txBody>
      </p:sp>
      <p:sp>
        <p:nvSpPr>
          <p:cNvPr id="15" name="Shape 12"/>
          <p:cNvSpPr/>
          <p:nvPr/>
        </p:nvSpPr>
        <p:spPr>
          <a:xfrm>
            <a:off x="5010912" y="2011680"/>
            <a:ext cx="2093976" cy="2286000"/>
          </a:xfrm>
          <a:prstGeom prst="roundRect">
            <a:avLst>
              <a:gd name="adj" fmla="val 3930"/>
            </a:avLst>
          </a:prstGeom>
          <a:solidFill>
            <a:srgbClr val="17294F"/>
          </a:solidFill>
          <a:ln/>
        </p:spPr>
      </p:sp>
      <p:sp>
        <p:nvSpPr>
          <p:cNvPr id="16" name="Text 13"/>
          <p:cNvSpPr/>
          <p:nvPr/>
        </p:nvSpPr>
        <p:spPr>
          <a:xfrm>
            <a:off x="5010912" y="2286000"/>
            <a:ext cx="2093976" cy="685800"/>
          </a:xfrm>
          <a:prstGeom prst="rect">
            <a:avLst/>
          </a:prstGeom>
          <a:noFill/>
          <a:ln/>
        </p:spPr>
        <p:txBody>
          <a:bodyPr wrap="square" lIns="0" tIns="0" rIns="0" bIns="0" rtlCol="0" anchor="ctr"/>
          <a:lstStyle/>
          <a:p>
            <a:pPr algn="ctr" indent="0" marL="0">
              <a:buNone/>
            </a:pPr>
            <a:r>
              <a:rPr lang="en-US" sz="2500" b="1" dirty="0">
                <a:solidFill>
                  <a:srgbClr val="C6962E"/>
                </a:solidFill>
                <a:latin typeface="Cormorant Garamond" pitchFamily="34" charset="0"/>
                <a:ea typeface="Cormorant Garamond" pitchFamily="34" charset="-122"/>
                <a:cs typeface="Cormorant Garamond" pitchFamily="34" charset="-120"/>
              </a:rPr>
              <a:t>715 / 720</a:t>
            </a:r>
            <a:endParaRPr lang="en-US" sz="2500" dirty="0"/>
          </a:p>
        </p:txBody>
      </p:sp>
      <p:sp>
        <p:nvSpPr>
          <p:cNvPr id="17" name="Text 14"/>
          <p:cNvSpPr/>
          <p:nvPr/>
        </p:nvSpPr>
        <p:spPr>
          <a:xfrm>
            <a:off x="5102352" y="3063240"/>
            <a:ext cx="1911096"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HIGHEST SCORE</a:t>
            </a:r>
            <a:endParaRPr lang="en-US" sz="1000" dirty="0"/>
          </a:p>
        </p:txBody>
      </p:sp>
      <p:sp>
        <p:nvSpPr>
          <p:cNvPr id="18" name="Text 15"/>
          <p:cNvSpPr/>
          <p:nvPr/>
        </p:nvSpPr>
        <p:spPr>
          <a:xfrm>
            <a:off x="5120640" y="3584448"/>
            <a:ext cx="1874520" cy="548640"/>
          </a:xfrm>
          <a:prstGeom prst="rect">
            <a:avLst/>
          </a:prstGeom>
          <a:noFill/>
          <a:ln/>
        </p:spPr>
        <p:txBody>
          <a:bodyPr wrap="square" lIns="0" tIns="0" rIns="0" bIns="0" rtlCol="0" anchor="ctr"/>
          <a:lstStyle/>
          <a:p>
            <a:pPr algn="ctr" indent="0" marL="0">
              <a:buNone/>
            </a:pPr>
            <a:r>
              <a:rPr lang="en-US" sz="900" dirty="0">
                <a:solidFill>
                  <a:srgbClr val="AEB9CC"/>
                </a:solidFill>
                <a:latin typeface="Manrope" pitchFamily="34" charset="0"/>
                <a:ea typeface="Manrope" pitchFamily="34" charset="-122"/>
                <a:cs typeface="Manrope" pitchFamily="34" charset="-120"/>
              </a:rPr>
              <a:t>19 candidates at 700+</a:t>
            </a:r>
            <a:endParaRPr lang="en-US" sz="900" dirty="0"/>
          </a:p>
        </p:txBody>
      </p:sp>
      <p:sp>
        <p:nvSpPr>
          <p:cNvPr id="19" name="Shape 16"/>
          <p:cNvSpPr/>
          <p:nvPr/>
        </p:nvSpPr>
        <p:spPr>
          <a:xfrm>
            <a:off x="7242048" y="2011680"/>
            <a:ext cx="2093976" cy="2286000"/>
          </a:xfrm>
          <a:prstGeom prst="roundRect">
            <a:avLst>
              <a:gd name="adj" fmla="val 3930"/>
            </a:avLst>
          </a:prstGeom>
          <a:solidFill>
            <a:srgbClr val="17294F"/>
          </a:solidFill>
          <a:ln/>
        </p:spPr>
      </p:sp>
      <p:sp>
        <p:nvSpPr>
          <p:cNvPr id="20" name="Text 17"/>
          <p:cNvSpPr/>
          <p:nvPr/>
        </p:nvSpPr>
        <p:spPr>
          <a:xfrm>
            <a:off x="7242048" y="2286000"/>
            <a:ext cx="2093976" cy="685800"/>
          </a:xfrm>
          <a:prstGeom prst="rect">
            <a:avLst/>
          </a:prstGeom>
          <a:noFill/>
          <a:ln/>
        </p:spPr>
        <p:txBody>
          <a:bodyPr wrap="square" lIns="0" tIns="0" rIns="0" bIns="0" rtlCol="0" anchor="ctr"/>
          <a:lstStyle/>
          <a:p>
            <a:pPr algn="ctr" indent="0" marL="0">
              <a:buNone/>
            </a:pPr>
            <a:r>
              <a:rPr lang="en-US" sz="2500" b="1" dirty="0">
                <a:solidFill>
                  <a:srgbClr val="C6962E"/>
                </a:solidFill>
                <a:latin typeface="Cormorant Garamond" pitchFamily="34" charset="0"/>
                <a:ea typeface="Cormorant Garamond" pitchFamily="34" charset="-122"/>
                <a:cs typeface="Cormorant Garamond" pitchFamily="34" charset="-120"/>
              </a:rPr>
              <a:t>715–213</a:t>
            </a:r>
            <a:endParaRPr lang="en-US" sz="2500" dirty="0"/>
          </a:p>
        </p:txBody>
      </p:sp>
      <p:sp>
        <p:nvSpPr>
          <p:cNvPr id="21" name="Text 18"/>
          <p:cNvSpPr/>
          <p:nvPr/>
        </p:nvSpPr>
        <p:spPr>
          <a:xfrm>
            <a:off x="7333488" y="3063240"/>
            <a:ext cx="1911096"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CUTOFF UR / EWS</a:t>
            </a:r>
            <a:endParaRPr lang="en-US" sz="1000" dirty="0"/>
          </a:p>
        </p:txBody>
      </p:sp>
      <p:sp>
        <p:nvSpPr>
          <p:cNvPr id="22" name="Text 19"/>
          <p:cNvSpPr/>
          <p:nvPr/>
        </p:nvSpPr>
        <p:spPr>
          <a:xfrm>
            <a:off x="7351776" y="3584448"/>
            <a:ext cx="1874520" cy="548640"/>
          </a:xfrm>
          <a:prstGeom prst="rect">
            <a:avLst/>
          </a:prstGeom>
          <a:noFill/>
          <a:ln/>
        </p:spPr>
        <p:txBody>
          <a:bodyPr wrap="square" lIns="0" tIns="0" rIns="0" bIns="0" rtlCol="0" anchor="ctr"/>
          <a:lstStyle/>
          <a:p>
            <a:pPr algn="ctr" indent="0" marL="0">
              <a:buNone/>
            </a:pPr>
            <a:r>
              <a:rPr lang="en-US" sz="900" dirty="0">
                <a:solidFill>
                  <a:srgbClr val="AEB9CC"/>
                </a:solidFill>
                <a:latin typeface="Manrope" pitchFamily="34" charset="0"/>
                <a:ea typeface="Manrope" pitchFamily="34" charset="-122"/>
                <a:cs typeface="Manrope" pitchFamily="34" charset="-120"/>
              </a:rPr>
              <a:t>50th percentile — highest ever</a:t>
            </a:r>
            <a:endParaRPr lang="en-US" sz="900" dirty="0"/>
          </a:p>
        </p:txBody>
      </p:sp>
      <p:sp>
        <p:nvSpPr>
          <p:cNvPr id="23" name="Shape 20"/>
          <p:cNvSpPr/>
          <p:nvPr/>
        </p:nvSpPr>
        <p:spPr>
          <a:xfrm>
            <a:off x="9473184" y="2011680"/>
            <a:ext cx="2093976" cy="2286000"/>
          </a:xfrm>
          <a:prstGeom prst="roundRect">
            <a:avLst>
              <a:gd name="adj" fmla="val 3930"/>
            </a:avLst>
          </a:prstGeom>
          <a:solidFill>
            <a:srgbClr val="17294F"/>
          </a:solidFill>
          <a:ln/>
        </p:spPr>
      </p:sp>
      <p:sp>
        <p:nvSpPr>
          <p:cNvPr id="24" name="Text 21"/>
          <p:cNvSpPr/>
          <p:nvPr/>
        </p:nvSpPr>
        <p:spPr>
          <a:xfrm>
            <a:off x="9473184" y="2286000"/>
            <a:ext cx="2093976" cy="685800"/>
          </a:xfrm>
          <a:prstGeom prst="rect">
            <a:avLst/>
          </a:prstGeom>
          <a:noFill/>
          <a:ln/>
        </p:spPr>
        <p:txBody>
          <a:bodyPr wrap="square" lIns="0" tIns="0" rIns="0" bIns="0" rtlCol="0" anchor="ctr"/>
          <a:lstStyle/>
          <a:p>
            <a:pPr algn="ctr" indent="0" marL="0">
              <a:buNone/>
            </a:pPr>
            <a:r>
              <a:rPr lang="en-US" sz="2500" b="1" dirty="0">
                <a:solidFill>
                  <a:srgbClr val="C6962E"/>
                </a:solidFill>
                <a:latin typeface="Cormorant Garamond" pitchFamily="34" charset="0"/>
                <a:ea typeface="Cormorant Garamond" pitchFamily="34" charset="-122"/>
                <a:cs typeface="Cormorant Garamond" pitchFamily="34" charset="-120"/>
              </a:rPr>
              <a:t>212–177</a:t>
            </a:r>
            <a:endParaRPr lang="en-US" sz="2500" dirty="0"/>
          </a:p>
        </p:txBody>
      </p:sp>
      <p:sp>
        <p:nvSpPr>
          <p:cNvPr id="25" name="Text 22"/>
          <p:cNvSpPr/>
          <p:nvPr/>
        </p:nvSpPr>
        <p:spPr>
          <a:xfrm>
            <a:off x="9564624" y="3063240"/>
            <a:ext cx="1911096"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CUTOFF OBC / SC / ST</a:t>
            </a:r>
            <a:endParaRPr lang="en-US" sz="1000" dirty="0"/>
          </a:p>
        </p:txBody>
      </p:sp>
      <p:sp>
        <p:nvSpPr>
          <p:cNvPr id="26" name="Text 23"/>
          <p:cNvSpPr/>
          <p:nvPr/>
        </p:nvSpPr>
        <p:spPr>
          <a:xfrm>
            <a:off x="9582912" y="3584448"/>
            <a:ext cx="1874520" cy="548640"/>
          </a:xfrm>
          <a:prstGeom prst="rect">
            <a:avLst/>
          </a:prstGeom>
          <a:noFill/>
          <a:ln/>
        </p:spPr>
        <p:txBody>
          <a:bodyPr wrap="square" lIns="0" tIns="0" rIns="0" bIns="0" rtlCol="0" anchor="ctr"/>
          <a:lstStyle/>
          <a:p>
            <a:pPr algn="ctr" indent="0" marL="0">
              <a:buNone/>
            </a:pPr>
            <a:r>
              <a:rPr lang="en-US" sz="900" dirty="0">
                <a:solidFill>
                  <a:srgbClr val="AEB9CC"/>
                </a:solidFill>
                <a:latin typeface="Manrope" pitchFamily="34" charset="0"/>
                <a:ea typeface="Manrope" pitchFamily="34" charset="-122"/>
                <a:cs typeface="Manrope" pitchFamily="34" charset="-120"/>
              </a:rPr>
              <a:t>40th percentile</a:t>
            </a:r>
            <a:endParaRPr lang="en-US" sz="900" dirty="0"/>
          </a:p>
        </p:txBody>
      </p:sp>
      <p:sp>
        <p:nvSpPr>
          <p:cNvPr id="27" name="Text 24"/>
          <p:cNvSpPr/>
          <p:nvPr/>
        </p:nvSpPr>
        <p:spPr>
          <a:xfrm>
            <a:off x="566928" y="5806440"/>
            <a:ext cx="7315200" cy="320040"/>
          </a:xfrm>
          <a:prstGeom prst="rect">
            <a:avLst/>
          </a:prstGeom>
          <a:noFill/>
          <a:ln/>
        </p:spPr>
        <p:txBody>
          <a:bodyPr wrap="square" lIns="0" tIns="0" rIns="0" bIns="0" rtlCol="0" anchor="ctr"/>
          <a:lstStyle/>
          <a:p>
            <a:pPr indent="0" marL="0">
              <a:buNone/>
            </a:pPr>
            <a:r>
              <a:rPr lang="en-US" sz="950" i="1" dirty="0">
                <a:solidFill>
                  <a:srgbClr val="F5E6C4"/>
                </a:solidFill>
                <a:latin typeface="Manrope" pitchFamily="34" charset="0"/>
                <a:ea typeface="Manrope" pitchFamily="34" charset="-122"/>
                <a:cs typeface="Manrope" pitchFamily="34" charset="-120"/>
              </a:rPr>
              <a:t>Source: NTA NEET UG 2026 result, declared 16 July 2026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6</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2 · INDIA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The Funnel: Qualified ≠ Seat</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11.21 lakh qualified · 63,296 government seats</a:t>
            </a:r>
            <a:endParaRPr lang="en-US" sz="1300" dirty="0"/>
          </a:p>
        </p:txBody>
      </p:sp>
      <p:sp>
        <p:nvSpPr>
          <p:cNvPr id="7" name="Shape 4"/>
          <p:cNvSpPr/>
          <p:nvPr/>
        </p:nvSpPr>
        <p:spPr>
          <a:xfrm>
            <a:off x="1248156" y="1783080"/>
            <a:ext cx="9692640" cy="713232"/>
          </a:xfrm>
          <a:prstGeom prst="roundRect">
            <a:avLst>
              <a:gd name="adj" fmla="val 8974"/>
            </a:avLst>
          </a:prstGeom>
          <a:solidFill>
            <a:srgbClr val="17294F"/>
          </a:solidFill>
          <a:ln/>
        </p:spPr>
      </p:sp>
      <p:sp>
        <p:nvSpPr>
          <p:cNvPr id="8" name="Text 5"/>
          <p:cNvSpPr/>
          <p:nvPr/>
        </p:nvSpPr>
        <p:spPr>
          <a:xfrm>
            <a:off x="1431036" y="1783080"/>
            <a:ext cx="932688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Manrope" pitchFamily="34" charset="0"/>
                <a:ea typeface="Manrope" pitchFamily="34" charset="-122"/>
                <a:cs typeface="Manrope" pitchFamily="34" charset="-120"/>
              </a:rPr>
              <a:t>Appeared   </a:t>
            </a:r>
            <a:pPr algn="ctr" indent="0" marL="0">
              <a:buNone/>
            </a:pPr>
            <a:r>
              <a:rPr lang="en-US" sz="1350" dirty="0">
                <a:solidFill>
                  <a:srgbClr val="FFFFFF"/>
                </a:solidFill>
                <a:latin typeface="Manrope" pitchFamily="34" charset="0"/>
                <a:ea typeface="Manrope" pitchFamily="34" charset="-122"/>
                <a:cs typeface="Manrope" pitchFamily="34" charset="-120"/>
              </a:rPr>
              <a:t>~20,00,000</a:t>
            </a:r>
            <a:endParaRPr lang="en-US" sz="1350" dirty="0"/>
          </a:p>
        </p:txBody>
      </p:sp>
      <p:sp>
        <p:nvSpPr>
          <p:cNvPr id="9" name="Shape 6"/>
          <p:cNvSpPr/>
          <p:nvPr/>
        </p:nvSpPr>
        <p:spPr>
          <a:xfrm>
            <a:off x="2619756" y="2715768"/>
            <a:ext cx="6949440" cy="713232"/>
          </a:xfrm>
          <a:prstGeom prst="roundRect">
            <a:avLst>
              <a:gd name="adj" fmla="val 8974"/>
            </a:avLst>
          </a:prstGeom>
          <a:solidFill>
            <a:srgbClr val="17294F"/>
          </a:solidFill>
          <a:ln/>
        </p:spPr>
      </p:sp>
      <p:sp>
        <p:nvSpPr>
          <p:cNvPr id="10" name="Text 7"/>
          <p:cNvSpPr/>
          <p:nvPr/>
        </p:nvSpPr>
        <p:spPr>
          <a:xfrm>
            <a:off x="2802636" y="2715768"/>
            <a:ext cx="658368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Manrope" pitchFamily="34" charset="0"/>
                <a:ea typeface="Manrope" pitchFamily="34" charset="-122"/>
                <a:cs typeface="Manrope" pitchFamily="34" charset="-120"/>
              </a:rPr>
              <a:t>Qualified   </a:t>
            </a:r>
            <a:pPr algn="ctr" indent="0" marL="0">
              <a:buNone/>
            </a:pPr>
            <a:r>
              <a:rPr lang="en-US" sz="1350" dirty="0">
                <a:solidFill>
                  <a:srgbClr val="FFFFFF"/>
                </a:solidFill>
                <a:latin typeface="Manrope" pitchFamily="34" charset="0"/>
                <a:ea typeface="Manrope" pitchFamily="34" charset="-122"/>
                <a:cs typeface="Manrope" pitchFamily="34" charset="-120"/>
              </a:rPr>
              <a:t>11,21,000</a:t>
            </a:r>
            <a:endParaRPr lang="en-US" sz="1350" dirty="0"/>
          </a:p>
        </p:txBody>
      </p:sp>
      <p:sp>
        <p:nvSpPr>
          <p:cNvPr id="11" name="Shape 8"/>
          <p:cNvSpPr/>
          <p:nvPr/>
        </p:nvSpPr>
        <p:spPr>
          <a:xfrm>
            <a:off x="3488436" y="3648456"/>
            <a:ext cx="5212080" cy="713232"/>
          </a:xfrm>
          <a:prstGeom prst="roundRect">
            <a:avLst>
              <a:gd name="adj" fmla="val 8974"/>
            </a:avLst>
          </a:prstGeom>
          <a:solidFill>
            <a:srgbClr val="17294F"/>
          </a:solidFill>
          <a:ln/>
        </p:spPr>
      </p:sp>
      <p:sp>
        <p:nvSpPr>
          <p:cNvPr id="12" name="Text 9"/>
          <p:cNvSpPr/>
          <p:nvPr/>
        </p:nvSpPr>
        <p:spPr>
          <a:xfrm>
            <a:off x="3671316" y="3648456"/>
            <a:ext cx="484632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Manrope" pitchFamily="34" charset="0"/>
                <a:ea typeface="Manrope" pitchFamily="34" charset="-122"/>
                <a:cs typeface="Manrope" pitchFamily="34" charset="-120"/>
              </a:rPr>
              <a:t>Total MBBS seats   </a:t>
            </a:r>
            <a:pPr algn="ctr" indent="0" marL="0">
              <a:buNone/>
            </a:pPr>
            <a:r>
              <a:rPr lang="en-US" sz="1350" dirty="0">
                <a:solidFill>
                  <a:srgbClr val="FFFFFF"/>
                </a:solidFill>
                <a:latin typeface="Manrope" pitchFamily="34" charset="0"/>
                <a:ea typeface="Manrope" pitchFamily="34" charset="-122"/>
                <a:cs typeface="Manrope" pitchFamily="34" charset="-120"/>
              </a:rPr>
              <a:t>1,36,939 · 823 colleges</a:t>
            </a:r>
            <a:endParaRPr lang="en-US" sz="1350" dirty="0"/>
          </a:p>
        </p:txBody>
      </p:sp>
      <p:sp>
        <p:nvSpPr>
          <p:cNvPr id="13" name="Shape 10"/>
          <p:cNvSpPr/>
          <p:nvPr/>
        </p:nvSpPr>
        <p:spPr>
          <a:xfrm>
            <a:off x="4768596" y="4581144"/>
            <a:ext cx="2651760" cy="713232"/>
          </a:xfrm>
          <a:prstGeom prst="roundRect">
            <a:avLst>
              <a:gd name="adj" fmla="val 8974"/>
            </a:avLst>
          </a:prstGeom>
          <a:solidFill>
            <a:srgbClr val="C6962E"/>
          </a:solidFill>
          <a:ln/>
        </p:spPr>
      </p:sp>
      <p:sp>
        <p:nvSpPr>
          <p:cNvPr id="14" name="Text 11"/>
          <p:cNvSpPr/>
          <p:nvPr/>
        </p:nvSpPr>
        <p:spPr>
          <a:xfrm>
            <a:off x="4860036" y="4581144"/>
            <a:ext cx="2468880" cy="713232"/>
          </a:xfrm>
          <a:prstGeom prst="rect">
            <a:avLst/>
          </a:prstGeom>
          <a:noFill/>
          <a:ln/>
        </p:spPr>
        <p:txBody>
          <a:bodyPr wrap="square" lIns="0" tIns="0" rIns="0" bIns="0" rtlCol="0" anchor="ctr"/>
          <a:lstStyle/>
          <a:p>
            <a:pPr algn="ctr" indent="0" marL="0">
              <a:buNone/>
            </a:pPr>
            <a:r>
              <a:rPr lang="en-US" sz="1250" b="1" dirty="0">
                <a:solidFill>
                  <a:srgbClr val="0B1A35"/>
                </a:solidFill>
                <a:latin typeface="Manrope" pitchFamily="34" charset="0"/>
                <a:ea typeface="Manrope" pitchFamily="34" charset="-122"/>
                <a:cs typeface="Manrope" pitchFamily="34" charset="-120"/>
              </a:rPr>
              <a:t>Government MBBS</a:t>
            </a:r>
            <a:endParaRPr lang="en-US" sz="1250" dirty="0"/>
          </a:p>
        </p:txBody>
      </p:sp>
      <p:sp>
        <p:nvSpPr>
          <p:cNvPr id="15" name="Text 12"/>
          <p:cNvSpPr/>
          <p:nvPr/>
        </p:nvSpPr>
        <p:spPr>
          <a:xfrm>
            <a:off x="7648956" y="4581144"/>
            <a:ext cx="2926080" cy="713232"/>
          </a:xfrm>
          <a:prstGeom prst="rect">
            <a:avLst/>
          </a:prstGeom>
          <a:noFill/>
          <a:ln/>
        </p:spPr>
        <p:txBody>
          <a:bodyPr wrap="square" lIns="0" tIns="0" rIns="0" bIns="0" rtlCol="0" anchor="ctr"/>
          <a:lstStyle/>
          <a:p>
            <a:pPr indent="0" marL="0">
              <a:buNone/>
            </a:pPr>
            <a:r>
              <a:rPr lang="en-US" sz="1300" b="1" dirty="0">
                <a:solidFill>
                  <a:srgbClr val="E0B85C"/>
                </a:solidFill>
                <a:latin typeface="Manrope" pitchFamily="34" charset="0"/>
                <a:ea typeface="Manrope" pitchFamily="34" charset="-122"/>
                <a:cs typeface="Manrope" pitchFamily="34" charset="-120"/>
              </a:rPr>
              <a:t>63,296  ·  441 colleges</a:t>
            </a:r>
            <a:endParaRPr lang="en-US" sz="1300" dirty="0"/>
          </a:p>
        </p:txBody>
      </p:sp>
      <p:sp>
        <p:nvSpPr>
          <p:cNvPr id="16" name="Text 13"/>
          <p:cNvSpPr/>
          <p:nvPr/>
        </p:nvSpPr>
        <p:spPr>
          <a:xfrm>
            <a:off x="566928" y="5623560"/>
            <a:ext cx="6858000" cy="457200"/>
          </a:xfrm>
          <a:prstGeom prst="rect">
            <a:avLst/>
          </a:prstGeom>
          <a:noFill/>
          <a:ln/>
        </p:spPr>
        <p:txBody>
          <a:bodyPr wrap="square" lIns="0" tIns="0" rIns="0" bIns="0" rtlCol="0" anchor="ctr"/>
          <a:lstStyle/>
          <a:p>
            <a:pPr indent="0" marL="0">
              <a:buNone/>
            </a:pPr>
            <a:r>
              <a:rPr lang="en-US" sz="2000" b="1" i="1" dirty="0">
                <a:solidFill>
                  <a:srgbClr val="C6962E"/>
                </a:solidFill>
                <a:latin typeface="Cormorant Garamond" pitchFamily="34" charset="0"/>
                <a:ea typeface="Cormorant Garamond" pitchFamily="34" charset="-122"/>
                <a:cs typeface="Cormorant Garamond" pitchFamily="34" charset="-120"/>
              </a:rPr>
              <a:t>≈ 18 qualified candidates per government seat</a:t>
            </a:r>
            <a:endParaRPr lang="en-US" sz="2000" dirty="0"/>
          </a:p>
        </p:txBody>
      </p:sp>
      <p:sp>
        <p:nvSpPr>
          <p:cNvPr id="17" name="Text 14"/>
          <p:cNvSpPr/>
          <p:nvPr/>
        </p:nvSpPr>
        <p:spPr>
          <a:xfrm>
            <a:off x="566928" y="6108192"/>
            <a:ext cx="10972800" cy="320040"/>
          </a:xfrm>
          <a:prstGeom prst="rect">
            <a:avLst/>
          </a:prstGeom>
          <a:noFill/>
          <a:ln/>
        </p:spPr>
        <p:txBody>
          <a:bodyPr wrap="square" lIns="0" tIns="0" rIns="0" bIns="0" rtlCol="0" anchor="ctr"/>
          <a:lstStyle/>
          <a:p>
            <a:pPr indent="0" marL="0">
              <a:buNone/>
            </a:pPr>
            <a:r>
              <a:rPr lang="en-US" sz="950" i="1" dirty="0">
                <a:solidFill>
                  <a:srgbClr val="AEB9CC"/>
                </a:solidFill>
                <a:latin typeface="Manrope" pitchFamily="34" charset="0"/>
                <a:ea typeface="Manrope" pitchFamily="34" charset="-122"/>
                <a:cs typeface="Manrope" pitchFamily="34" charset="-120"/>
              </a:rPr>
              <a:t>+ AIIMS / JIPMER ≈ 2,500 seats (outside matrix) · Source: NTA 2026 result · NMC 2026-27 seat matrix (+9,911 new seats)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7</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2 · INDIA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Seat Milti Kahan Se Hai?</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Char raaste — sab NEET rank se, par alag-alag darwaze</a:t>
            </a:r>
            <a:endParaRPr lang="en-US" sz="1300" dirty="0"/>
          </a:p>
        </p:txBody>
      </p:sp>
      <p:sp>
        <p:nvSpPr>
          <p:cNvPr id="7" name="Shape 4"/>
          <p:cNvSpPr/>
          <p:nvPr/>
        </p:nvSpPr>
        <p:spPr>
          <a:xfrm>
            <a:off x="548640" y="1691640"/>
            <a:ext cx="2697480" cy="3246120"/>
          </a:xfrm>
          <a:prstGeom prst="roundRect">
            <a:avLst>
              <a:gd name="adj" fmla="val 3390"/>
            </a:avLst>
          </a:prstGeom>
          <a:solidFill>
            <a:srgbClr val="F2F4F8"/>
          </a:solidFill>
          <a:ln/>
        </p:spPr>
      </p:sp>
      <p:sp>
        <p:nvSpPr>
          <p:cNvPr id="8" name="Shape 5"/>
          <p:cNvSpPr/>
          <p:nvPr/>
        </p:nvSpPr>
        <p:spPr>
          <a:xfrm>
            <a:off x="1595628" y="1965960"/>
            <a:ext cx="603504" cy="603504"/>
          </a:xfrm>
          <a:prstGeom prst="ellipse">
            <a:avLst/>
          </a:prstGeom>
          <a:solidFill>
            <a:srgbClr val="F5E6C4"/>
          </a:solidFill>
          <a:ln/>
        </p:spPr>
      </p:sp>
      <p:pic>
        <p:nvPicPr>
          <p:cNvPr id="9" name="Image 0" descr="/tmp/claude-0/-home-user/22b099b3-5195-5dc8-9cf2-1c5020dc8f38/scratchpad/deck/icons/door.png">    </p:cNvPr>
          <p:cNvPicPr>
            <a:picLocks noChangeAspect="1"/>
          </p:cNvPicPr>
          <p:nvPr/>
        </p:nvPicPr>
        <p:blipFill>
          <a:blip r:embed="rId1"/>
          <a:stretch>
            <a:fillRect/>
          </a:stretch>
        </p:blipFill>
        <p:spPr>
          <a:xfrm>
            <a:off x="1752539" y="2122871"/>
            <a:ext cx="289682" cy="289682"/>
          </a:xfrm>
          <a:prstGeom prst="rect">
            <a:avLst/>
          </a:prstGeom>
        </p:spPr>
      </p:pic>
      <p:sp>
        <p:nvSpPr>
          <p:cNvPr id="10" name="Text 6"/>
          <p:cNvSpPr/>
          <p:nvPr/>
        </p:nvSpPr>
        <p:spPr>
          <a:xfrm>
            <a:off x="685800" y="2743200"/>
            <a:ext cx="2423160" cy="411480"/>
          </a:xfrm>
          <a:prstGeom prst="rect">
            <a:avLst/>
          </a:prstGeom>
          <a:noFill/>
          <a:ln/>
        </p:spPr>
        <p:txBody>
          <a:bodyPr wrap="square" lIns="0" tIns="0" rIns="0" bIns="0" rtlCol="0" anchor="ctr"/>
          <a:lstStyle/>
          <a:p>
            <a:pPr algn="ctr" indent="0" marL="0">
              <a:buNone/>
            </a:pPr>
            <a:r>
              <a:rPr lang="en-US" sz="1400" b="1" dirty="0">
                <a:solidFill>
                  <a:srgbClr val="0B1A35"/>
                </a:solidFill>
                <a:latin typeface="Manrope" pitchFamily="34" charset="0"/>
                <a:ea typeface="Manrope" pitchFamily="34" charset="-122"/>
                <a:cs typeface="Manrope" pitchFamily="34" charset="-120"/>
              </a:rPr>
              <a:t>MCC (National)</a:t>
            </a:r>
            <a:endParaRPr lang="en-US" sz="1400" dirty="0"/>
          </a:p>
        </p:txBody>
      </p:sp>
      <p:sp>
        <p:nvSpPr>
          <p:cNvPr id="11" name="Text 7"/>
          <p:cNvSpPr/>
          <p:nvPr/>
        </p:nvSpPr>
        <p:spPr>
          <a:xfrm>
            <a:off x="749808" y="3200400"/>
            <a:ext cx="2295144" cy="868680"/>
          </a:xfrm>
          <a:prstGeom prst="rect">
            <a:avLst/>
          </a:prstGeom>
          <a:noFill/>
          <a:ln/>
        </p:spPr>
        <p:txBody>
          <a:bodyPr wrap="square" lIns="0" tIns="0" rIns="0" bIns="0" rtlCol="0" anchor="ctr"/>
          <a:lstStyle/>
          <a:p>
            <a:pPr algn="ctr" indent="0" marL="0">
              <a:buNone/>
            </a:pPr>
            <a:r>
              <a:rPr lang="en-US" sz="1050" dirty="0">
                <a:solidFill>
                  <a:srgbClr val="5A6B85"/>
                </a:solidFill>
                <a:latin typeface="Manrope" pitchFamily="34" charset="0"/>
                <a:ea typeface="Manrope" pitchFamily="34" charset="-122"/>
                <a:cs typeface="Manrope" pitchFamily="34" charset="-120"/>
              </a:rPr>
              <a:t>15% All India Quota + Deemed + AIIMS / JIPMER / ESIC</a:t>
            </a:r>
            <a:endParaRPr lang="en-US" sz="1050" dirty="0"/>
          </a:p>
        </p:txBody>
      </p:sp>
      <p:sp>
        <p:nvSpPr>
          <p:cNvPr id="12" name="Shape 8"/>
          <p:cNvSpPr/>
          <p:nvPr/>
        </p:nvSpPr>
        <p:spPr>
          <a:xfrm>
            <a:off x="868680" y="4224528"/>
            <a:ext cx="2057400" cy="411480"/>
          </a:xfrm>
          <a:prstGeom prst="roundRect">
            <a:avLst>
              <a:gd name="adj" fmla="val 48889"/>
            </a:avLst>
          </a:prstGeom>
          <a:solidFill>
            <a:srgbClr val="F5E6C4"/>
          </a:solidFill>
          <a:ln/>
        </p:spPr>
      </p:sp>
      <p:sp>
        <p:nvSpPr>
          <p:cNvPr id="13" name="Text 9"/>
          <p:cNvSpPr/>
          <p:nvPr/>
        </p:nvSpPr>
        <p:spPr>
          <a:xfrm>
            <a:off x="868680" y="4224528"/>
            <a:ext cx="2057400" cy="411480"/>
          </a:xfrm>
          <a:prstGeom prst="rect">
            <a:avLst/>
          </a:prstGeom>
          <a:noFill/>
          <a:ln/>
        </p:spPr>
        <p:txBody>
          <a:bodyPr wrap="square" lIns="0" tIns="0" rIns="0" bIns="0" rtlCol="0" anchor="ctr"/>
          <a:lstStyle/>
          <a:p>
            <a:pPr algn="ctr" indent="0" marL="0">
              <a:buNone/>
            </a:pPr>
            <a:r>
              <a:rPr lang="en-US" sz="950" b="1" dirty="0">
                <a:solidFill>
                  <a:srgbClr val="6B5518"/>
                </a:solidFill>
                <a:latin typeface="Manrope" pitchFamily="34" charset="0"/>
                <a:ea typeface="Manrope" pitchFamily="34" charset="-122"/>
                <a:cs typeface="Manrope" pitchFamily="34" charset="-120"/>
              </a:rPr>
              <a:t>mcc.nic.in</a:t>
            </a:r>
            <a:endParaRPr lang="en-US" sz="950" dirty="0"/>
          </a:p>
        </p:txBody>
      </p:sp>
      <p:sp>
        <p:nvSpPr>
          <p:cNvPr id="14" name="Shape 10"/>
          <p:cNvSpPr/>
          <p:nvPr/>
        </p:nvSpPr>
        <p:spPr>
          <a:xfrm>
            <a:off x="3374136" y="1691640"/>
            <a:ext cx="2697480" cy="3246120"/>
          </a:xfrm>
          <a:prstGeom prst="roundRect">
            <a:avLst>
              <a:gd name="adj" fmla="val 3390"/>
            </a:avLst>
          </a:prstGeom>
          <a:solidFill>
            <a:srgbClr val="F2F4F8"/>
          </a:solidFill>
          <a:ln/>
        </p:spPr>
      </p:sp>
      <p:sp>
        <p:nvSpPr>
          <p:cNvPr id="15" name="Shape 11"/>
          <p:cNvSpPr/>
          <p:nvPr/>
        </p:nvSpPr>
        <p:spPr>
          <a:xfrm>
            <a:off x="4421124" y="1965960"/>
            <a:ext cx="603504" cy="603504"/>
          </a:xfrm>
          <a:prstGeom prst="ellipse">
            <a:avLst/>
          </a:prstGeom>
          <a:solidFill>
            <a:srgbClr val="F5E6C4"/>
          </a:solidFill>
          <a:ln/>
        </p:spPr>
      </p:sp>
      <p:pic>
        <p:nvPicPr>
          <p:cNvPr id="16" name="Image 1" descr="/tmp/claude-0/-home-user/22b099b3-5195-5dc8-9cf2-1c5020dc8f38/scratchpad/deck/icons/door.png">    </p:cNvPr>
          <p:cNvPicPr>
            <a:picLocks noChangeAspect="1"/>
          </p:cNvPicPr>
          <p:nvPr/>
        </p:nvPicPr>
        <p:blipFill>
          <a:blip r:embed="rId2"/>
          <a:stretch>
            <a:fillRect/>
          </a:stretch>
        </p:blipFill>
        <p:spPr>
          <a:xfrm>
            <a:off x="4578035" y="2122871"/>
            <a:ext cx="289682" cy="289682"/>
          </a:xfrm>
          <a:prstGeom prst="rect">
            <a:avLst/>
          </a:prstGeom>
        </p:spPr>
      </p:pic>
      <p:sp>
        <p:nvSpPr>
          <p:cNvPr id="17" name="Text 12"/>
          <p:cNvSpPr/>
          <p:nvPr/>
        </p:nvSpPr>
        <p:spPr>
          <a:xfrm>
            <a:off x="3511296" y="2743200"/>
            <a:ext cx="2423160" cy="411480"/>
          </a:xfrm>
          <a:prstGeom prst="rect">
            <a:avLst/>
          </a:prstGeom>
          <a:noFill/>
          <a:ln/>
        </p:spPr>
        <p:txBody>
          <a:bodyPr wrap="square" lIns="0" tIns="0" rIns="0" bIns="0" rtlCol="0" anchor="ctr"/>
          <a:lstStyle/>
          <a:p>
            <a:pPr algn="ctr" indent="0" marL="0">
              <a:buNone/>
            </a:pPr>
            <a:r>
              <a:rPr lang="en-US" sz="1400" b="1" dirty="0">
                <a:solidFill>
                  <a:srgbClr val="0B1A35"/>
                </a:solidFill>
                <a:latin typeface="Manrope" pitchFamily="34" charset="0"/>
                <a:ea typeface="Manrope" pitchFamily="34" charset="-122"/>
                <a:cs typeface="Manrope" pitchFamily="34" charset="-120"/>
              </a:rPr>
              <a:t>State CET Cell</a:t>
            </a:r>
            <a:endParaRPr lang="en-US" sz="1400" dirty="0"/>
          </a:p>
        </p:txBody>
      </p:sp>
      <p:sp>
        <p:nvSpPr>
          <p:cNvPr id="18" name="Text 13"/>
          <p:cNvSpPr/>
          <p:nvPr/>
        </p:nvSpPr>
        <p:spPr>
          <a:xfrm>
            <a:off x="3575304" y="3200400"/>
            <a:ext cx="2295144" cy="868680"/>
          </a:xfrm>
          <a:prstGeom prst="rect">
            <a:avLst/>
          </a:prstGeom>
          <a:noFill/>
          <a:ln/>
        </p:spPr>
        <p:txBody>
          <a:bodyPr wrap="square" lIns="0" tIns="0" rIns="0" bIns="0" rtlCol="0" anchor="ctr"/>
          <a:lstStyle/>
          <a:p>
            <a:pPr algn="ctr" indent="0" marL="0">
              <a:buNone/>
            </a:pPr>
            <a:r>
              <a:rPr lang="en-US" sz="1050" dirty="0">
                <a:solidFill>
                  <a:srgbClr val="5A6B85"/>
                </a:solidFill>
                <a:latin typeface="Manrope" pitchFamily="34" charset="0"/>
                <a:ea typeface="Manrope" pitchFamily="34" charset="-122"/>
                <a:cs typeface="Manrope" pitchFamily="34" charset="-120"/>
              </a:rPr>
              <a:t>85% state quota + Maharashtra private colleges</a:t>
            </a:r>
            <a:endParaRPr lang="en-US" sz="1050" dirty="0"/>
          </a:p>
        </p:txBody>
      </p:sp>
      <p:sp>
        <p:nvSpPr>
          <p:cNvPr id="19" name="Shape 14"/>
          <p:cNvSpPr/>
          <p:nvPr/>
        </p:nvSpPr>
        <p:spPr>
          <a:xfrm>
            <a:off x="3694176" y="4224528"/>
            <a:ext cx="2057400" cy="411480"/>
          </a:xfrm>
          <a:prstGeom prst="roundRect">
            <a:avLst>
              <a:gd name="adj" fmla="val 48889"/>
            </a:avLst>
          </a:prstGeom>
          <a:solidFill>
            <a:srgbClr val="F5E6C4"/>
          </a:solidFill>
          <a:ln/>
        </p:spPr>
      </p:sp>
      <p:sp>
        <p:nvSpPr>
          <p:cNvPr id="20" name="Text 15"/>
          <p:cNvSpPr/>
          <p:nvPr/>
        </p:nvSpPr>
        <p:spPr>
          <a:xfrm>
            <a:off x="3694176" y="4224528"/>
            <a:ext cx="2057400" cy="411480"/>
          </a:xfrm>
          <a:prstGeom prst="rect">
            <a:avLst/>
          </a:prstGeom>
          <a:noFill/>
          <a:ln/>
        </p:spPr>
        <p:txBody>
          <a:bodyPr wrap="square" lIns="0" tIns="0" rIns="0" bIns="0" rtlCol="0" anchor="ctr"/>
          <a:lstStyle/>
          <a:p>
            <a:pPr algn="ctr" indent="0" marL="0">
              <a:buNone/>
            </a:pPr>
            <a:r>
              <a:rPr lang="en-US" sz="950" b="1" dirty="0">
                <a:solidFill>
                  <a:srgbClr val="6B5518"/>
                </a:solidFill>
                <a:latin typeface="Manrope" pitchFamily="34" charset="0"/>
                <a:ea typeface="Manrope" pitchFamily="34" charset="-122"/>
                <a:cs typeface="Manrope" pitchFamily="34" charset="-120"/>
              </a:rPr>
              <a:t>cetcell.mahacet.org</a:t>
            </a:r>
            <a:endParaRPr lang="en-US" sz="950" dirty="0"/>
          </a:p>
        </p:txBody>
      </p:sp>
      <p:sp>
        <p:nvSpPr>
          <p:cNvPr id="21" name="Shape 16"/>
          <p:cNvSpPr/>
          <p:nvPr/>
        </p:nvSpPr>
        <p:spPr>
          <a:xfrm>
            <a:off x="6199632" y="1691640"/>
            <a:ext cx="2697480" cy="3246120"/>
          </a:xfrm>
          <a:prstGeom prst="roundRect">
            <a:avLst>
              <a:gd name="adj" fmla="val 3390"/>
            </a:avLst>
          </a:prstGeom>
          <a:solidFill>
            <a:srgbClr val="F2F4F8"/>
          </a:solidFill>
          <a:ln/>
        </p:spPr>
      </p:sp>
      <p:sp>
        <p:nvSpPr>
          <p:cNvPr id="22" name="Shape 17"/>
          <p:cNvSpPr/>
          <p:nvPr/>
        </p:nvSpPr>
        <p:spPr>
          <a:xfrm>
            <a:off x="7246620" y="1965960"/>
            <a:ext cx="603504" cy="603504"/>
          </a:xfrm>
          <a:prstGeom prst="ellipse">
            <a:avLst/>
          </a:prstGeom>
          <a:solidFill>
            <a:srgbClr val="F5E6C4"/>
          </a:solidFill>
          <a:ln/>
        </p:spPr>
      </p:sp>
      <p:pic>
        <p:nvPicPr>
          <p:cNvPr id="23" name="Image 2" descr="/tmp/claude-0/-home-user/22b099b3-5195-5dc8-9cf2-1c5020dc8f38/scratchpad/deck/icons/door.png">    </p:cNvPr>
          <p:cNvPicPr>
            <a:picLocks noChangeAspect="1"/>
          </p:cNvPicPr>
          <p:nvPr/>
        </p:nvPicPr>
        <p:blipFill>
          <a:blip r:embed="rId3"/>
          <a:stretch>
            <a:fillRect/>
          </a:stretch>
        </p:blipFill>
        <p:spPr>
          <a:xfrm>
            <a:off x="7403531" y="2122871"/>
            <a:ext cx="289682" cy="289682"/>
          </a:xfrm>
          <a:prstGeom prst="rect">
            <a:avLst/>
          </a:prstGeom>
        </p:spPr>
      </p:pic>
      <p:sp>
        <p:nvSpPr>
          <p:cNvPr id="24" name="Text 18"/>
          <p:cNvSpPr/>
          <p:nvPr/>
        </p:nvSpPr>
        <p:spPr>
          <a:xfrm>
            <a:off x="6336792" y="2743200"/>
            <a:ext cx="2423160" cy="411480"/>
          </a:xfrm>
          <a:prstGeom prst="rect">
            <a:avLst/>
          </a:prstGeom>
          <a:noFill/>
          <a:ln/>
        </p:spPr>
        <p:txBody>
          <a:bodyPr wrap="square" lIns="0" tIns="0" rIns="0" bIns="0" rtlCol="0" anchor="ctr"/>
          <a:lstStyle/>
          <a:p>
            <a:pPr algn="ctr" indent="0" marL="0">
              <a:buNone/>
            </a:pPr>
            <a:r>
              <a:rPr lang="en-US" sz="1400" b="1" dirty="0">
                <a:solidFill>
                  <a:srgbClr val="0B1A35"/>
                </a:solidFill>
                <a:latin typeface="Manrope" pitchFamily="34" charset="0"/>
                <a:ea typeface="Manrope" pitchFamily="34" charset="-122"/>
                <a:cs typeface="Manrope" pitchFamily="34" charset="-120"/>
              </a:rPr>
              <a:t>Deemed Round</a:t>
            </a:r>
            <a:endParaRPr lang="en-US" sz="1400" dirty="0"/>
          </a:p>
        </p:txBody>
      </p:sp>
      <p:sp>
        <p:nvSpPr>
          <p:cNvPr id="25" name="Text 19"/>
          <p:cNvSpPr/>
          <p:nvPr/>
        </p:nvSpPr>
        <p:spPr>
          <a:xfrm>
            <a:off x="6400800" y="3200400"/>
            <a:ext cx="2295144" cy="868680"/>
          </a:xfrm>
          <a:prstGeom prst="rect">
            <a:avLst/>
          </a:prstGeom>
          <a:noFill/>
          <a:ln/>
        </p:spPr>
        <p:txBody>
          <a:bodyPr wrap="square" lIns="0" tIns="0" rIns="0" bIns="0" rtlCol="0" anchor="ctr"/>
          <a:lstStyle/>
          <a:p>
            <a:pPr algn="ctr" indent="0" marL="0">
              <a:buNone/>
            </a:pPr>
            <a:r>
              <a:rPr lang="en-US" sz="1050" dirty="0">
                <a:solidFill>
                  <a:srgbClr val="5A6B85"/>
                </a:solidFill>
                <a:latin typeface="Manrope" pitchFamily="34" charset="0"/>
                <a:ea typeface="Manrope" pitchFamily="34" charset="-122"/>
                <a:cs typeface="Manrope" pitchFamily="34" charset="-120"/>
              </a:rPr>
              <a:t>University-set fees · via MCC deemed rounds</a:t>
            </a:r>
            <a:endParaRPr lang="en-US" sz="1050" dirty="0"/>
          </a:p>
        </p:txBody>
      </p:sp>
      <p:sp>
        <p:nvSpPr>
          <p:cNvPr id="26" name="Shape 20"/>
          <p:cNvSpPr/>
          <p:nvPr/>
        </p:nvSpPr>
        <p:spPr>
          <a:xfrm>
            <a:off x="6519672" y="4224528"/>
            <a:ext cx="2057400" cy="411480"/>
          </a:xfrm>
          <a:prstGeom prst="roundRect">
            <a:avLst>
              <a:gd name="adj" fmla="val 48889"/>
            </a:avLst>
          </a:prstGeom>
          <a:solidFill>
            <a:srgbClr val="F5E6C4"/>
          </a:solidFill>
          <a:ln/>
        </p:spPr>
      </p:sp>
      <p:sp>
        <p:nvSpPr>
          <p:cNvPr id="27" name="Text 21"/>
          <p:cNvSpPr/>
          <p:nvPr/>
        </p:nvSpPr>
        <p:spPr>
          <a:xfrm>
            <a:off x="6519672" y="4224528"/>
            <a:ext cx="2057400" cy="411480"/>
          </a:xfrm>
          <a:prstGeom prst="rect">
            <a:avLst/>
          </a:prstGeom>
          <a:noFill/>
          <a:ln/>
        </p:spPr>
        <p:txBody>
          <a:bodyPr wrap="square" lIns="0" tIns="0" rIns="0" bIns="0" rtlCol="0" anchor="ctr"/>
          <a:lstStyle/>
          <a:p>
            <a:pPr algn="ctr" indent="0" marL="0">
              <a:buNone/>
            </a:pPr>
            <a:r>
              <a:rPr lang="en-US" sz="950" b="1" dirty="0">
                <a:solidFill>
                  <a:srgbClr val="6B5518"/>
                </a:solidFill>
                <a:latin typeface="Manrope" pitchFamily="34" charset="0"/>
                <a:ea typeface="Manrope" pitchFamily="34" charset="-122"/>
                <a:cs typeface="Manrope" pitchFamily="34" charset="-120"/>
              </a:rPr>
              <a:t>via MCC portal</a:t>
            </a:r>
            <a:endParaRPr lang="en-US" sz="950" dirty="0"/>
          </a:p>
        </p:txBody>
      </p:sp>
      <p:sp>
        <p:nvSpPr>
          <p:cNvPr id="28" name="Shape 22"/>
          <p:cNvSpPr/>
          <p:nvPr/>
        </p:nvSpPr>
        <p:spPr>
          <a:xfrm>
            <a:off x="9025128" y="1691640"/>
            <a:ext cx="2697480" cy="3246120"/>
          </a:xfrm>
          <a:prstGeom prst="roundRect">
            <a:avLst>
              <a:gd name="adj" fmla="val 3390"/>
            </a:avLst>
          </a:prstGeom>
          <a:solidFill>
            <a:srgbClr val="F2F4F8"/>
          </a:solidFill>
          <a:ln/>
        </p:spPr>
      </p:sp>
      <p:sp>
        <p:nvSpPr>
          <p:cNvPr id="29" name="Shape 23"/>
          <p:cNvSpPr/>
          <p:nvPr/>
        </p:nvSpPr>
        <p:spPr>
          <a:xfrm>
            <a:off x="10072116" y="1965960"/>
            <a:ext cx="603504" cy="603504"/>
          </a:xfrm>
          <a:prstGeom prst="ellipse">
            <a:avLst/>
          </a:prstGeom>
          <a:solidFill>
            <a:srgbClr val="F5E6C4"/>
          </a:solidFill>
          <a:ln/>
        </p:spPr>
      </p:sp>
      <p:pic>
        <p:nvPicPr>
          <p:cNvPr id="30" name="Image 3" descr="/tmp/claude-0/-home-user/22b099b3-5195-5dc8-9cf2-1c5020dc8f38/scratchpad/deck/icons/door.png">    </p:cNvPr>
          <p:cNvPicPr>
            <a:picLocks noChangeAspect="1"/>
          </p:cNvPicPr>
          <p:nvPr/>
        </p:nvPicPr>
        <p:blipFill>
          <a:blip r:embed="rId4"/>
          <a:stretch>
            <a:fillRect/>
          </a:stretch>
        </p:blipFill>
        <p:spPr>
          <a:xfrm>
            <a:off x="10229027" y="2122871"/>
            <a:ext cx="289682" cy="289682"/>
          </a:xfrm>
          <a:prstGeom prst="rect">
            <a:avLst/>
          </a:prstGeom>
        </p:spPr>
      </p:pic>
      <p:sp>
        <p:nvSpPr>
          <p:cNvPr id="31" name="Text 24"/>
          <p:cNvSpPr/>
          <p:nvPr/>
        </p:nvSpPr>
        <p:spPr>
          <a:xfrm>
            <a:off x="9162288" y="2743200"/>
            <a:ext cx="2423160" cy="411480"/>
          </a:xfrm>
          <a:prstGeom prst="rect">
            <a:avLst/>
          </a:prstGeom>
          <a:noFill/>
          <a:ln/>
        </p:spPr>
        <p:txBody>
          <a:bodyPr wrap="square" lIns="0" tIns="0" rIns="0" bIns="0" rtlCol="0" anchor="ctr"/>
          <a:lstStyle/>
          <a:p>
            <a:pPr algn="ctr" indent="0" marL="0">
              <a:buNone/>
            </a:pPr>
            <a:r>
              <a:rPr lang="en-US" sz="1400" b="1" dirty="0">
                <a:solidFill>
                  <a:srgbClr val="0B1A35"/>
                </a:solidFill>
                <a:latin typeface="Manrope" pitchFamily="34" charset="0"/>
                <a:ea typeface="Manrope" pitchFamily="34" charset="-122"/>
                <a:cs typeface="Manrope" pitchFamily="34" charset="-120"/>
              </a:rPr>
              <a:t>Management / NRI</a:t>
            </a:r>
            <a:endParaRPr lang="en-US" sz="1400" dirty="0"/>
          </a:p>
        </p:txBody>
      </p:sp>
      <p:sp>
        <p:nvSpPr>
          <p:cNvPr id="32" name="Text 25"/>
          <p:cNvSpPr/>
          <p:nvPr/>
        </p:nvSpPr>
        <p:spPr>
          <a:xfrm>
            <a:off x="9226296" y="3200400"/>
            <a:ext cx="2295144" cy="868680"/>
          </a:xfrm>
          <a:prstGeom prst="rect">
            <a:avLst/>
          </a:prstGeom>
          <a:noFill/>
          <a:ln/>
        </p:spPr>
        <p:txBody>
          <a:bodyPr wrap="square" lIns="0" tIns="0" rIns="0" bIns="0" rtlCol="0" anchor="ctr"/>
          <a:lstStyle/>
          <a:p>
            <a:pPr algn="ctr" indent="0" marL="0">
              <a:buNone/>
            </a:pPr>
            <a:r>
              <a:rPr lang="en-US" sz="1050" dirty="0">
                <a:solidFill>
                  <a:srgbClr val="5A6B85"/>
                </a:solidFill>
                <a:latin typeface="Manrope" pitchFamily="34" charset="0"/>
                <a:ea typeface="Manrope" pitchFamily="34" charset="-122"/>
                <a:cs typeface="Manrope" pitchFamily="34" charset="-120"/>
              </a:rPr>
              <a:t>College-level seats · the highest fee bracket</a:t>
            </a:r>
            <a:endParaRPr lang="en-US" sz="1050" dirty="0"/>
          </a:p>
        </p:txBody>
      </p:sp>
      <p:sp>
        <p:nvSpPr>
          <p:cNvPr id="33" name="Shape 26"/>
          <p:cNvSpPr/>
          <p:nvPr/>
        </p:nvSpPr>
        <p:spPr>
          <a:xfrm>
            <a:off x="9345168" y="4224528"/>
            <a:ext cx="2057400" cy="411480"/>
          </a:xfrm>
          <a:prstGeom prst="roundRect">
            <a:avLst>
              <a:gd name="adj" fmla="val 48889"/>
            </a:avLst>
          </a:prstGeom>
          <a:solidFill>
            <a:srgbClr val="F5E6C4"/>
          </a:solidFill>
          <a:ln/>
        </p:spPr>
      </p:sp>
      <p:sp>
        <p:nvSpPr>
          <p:cNvPr id="34" name="Text 27"/>
          <p:cNvSpPr/>
          <p:nvPr/>
        </p:nvSpPr>
        <p:spPr>
          <a:xfrm>
            <a:off x="9345168" y="4224528"/>
            <a:ext cx="2057400" cy="411480"/>
          </a:xfrm>
          <a:prstGeom prst="rect">
            <a:avLst/>
          </a:prstGeom>
          <a:noFill/>
          <a:ln/>
        </p:spPr>
        <p:txBody>
          <a:bodyPr wrap="square" lIns="0" tIns="0" rIns="0" bIns="0" rtlCol="0" anchor="ctr"/>
          <a:lstStyle/>
          <a:p>
            <a:pPr algn="ctr" indent="0" marL="0">
              <a:buNone/>
            </a:pPr>
            <a:r>
              <a:rPr lang="en-US" sz="950" b="1" dirty="0">
                <a:solidFill>
                  <a:srgbClr val="6B5518"/>
                </a:solidFill>
                <a:latin typeface="Manrope" pitchFamily="34" charset="0"/>
                <a:ea typeface="Manrope" pitchFamily="34" charset="-122"/>
                <a:cs typeface="Manrope" pitchFamily="34" charset="-120"/>
              </a:rPr>
              <a:t>college notifications</a:t>
            </a:r>
            <a:endParaRPr lang="en-US" sz="950" dirty="0"/>
          </a:p>
        </p:txBody>
      </p:sp>
      <p:sp>
        <p:nvSpPr>
          <p:cNvPr id="35" name="Shape 28"/>
          <p:cNvSpPr/>
          <p:nvPr/>
        </p:nvSpPr>
        <p:spPr>
          <a:xfrm>
            <a:off x="548640" y="5257800"/>
            <a:ext cx="11091672" cy="822960"/>
          </a:xfrm>
          <a:prstGeom prst="roundRect">
            <a:avLst>
              <a:gd name="adj" fmla="val 10000"/>
            </a:avLst>
          </a:prstGeom>
          <a:solidFill>
            <a:srgbClr val="0B1A35"/>
          </a:solidFill>
          <a:ln/>
        </p:spPr>
      </p:sp>
      <p:sp>
        <p:nvSpPr>
          <p:cNvPr id="36" name="Text 29"/>
          <p:cNvSpPr/>
          <p:nvPr/>
        </p:nvSpPr>
        <p:spPr>
          <a:xfrm>
            <a:off x="868680" y="5257800"/>
            <a:ext cx="10451592" cy="822960"/>
          </a:xfrm>
          <a:prstGeom prst="rect">
            <a:avLst/>
          </a:prstGeom>
          <a:noFill/>
          <a:ln/>
        </p:spPr>
        <p:txBody>
          <a:bodyPr wrap="square" lIns="0" tIns="0" rIns="0" bIns="0" rtlCol="0" anchor="ctr"/>
          <a:lstStyle/>
          <a:p>
            <a:pPr indent="0" marL="0">
              <a:buNone/>
            </a:pPr>
            <a:r>
              <a:rPr lang="en-US" sz="1250" b="1" dirty="0">
                <a:solidFill>
                  <a:srgbClr val="E0B85C"/>
                </a:solidFill>
                <a:latin typeface="Manrope" pitchFamily="34" charset="0"/>
                <a:ea typeface="Manrope" pitchFamily="34" charset="-122"/>
                <a:cs typeface="Manrope" pitchFamily="34" charset="-120"/>
              </a:rPr>
              <a:t>Dono portals par ALAG-ALAG registration lagta hai — </a:t>
            </a:r>
            <a:pPr indent="0" marL="0">
              <a:buNone/>
            </a:pPr>
            <a:r>
              <a:rPr lang="en-US" sz="1250" dirty="0">
                <a:solidFill>
                  <a:srgbClr val="FFFFFF"/>
                </a:solidFill>
                <a:latin typeface="Manrope" pitchFamily="34" charset="0"/>
                <a:ea typeface="Manrope" pitchFamily="34" charset="-122"/>
                <a:cs typeface="Manrope" pitchFamily="34" charset="-120"/>
              </a:rPr>
              <a:t>MCC ≠ CET Cell. Aur Round 1 ke baad counselling kabhi mat chhodiye — cutoffs later &amp; stray rounds mein relax hote hain.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8</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3 · GOVT CUTOFFS</a:t>
            </a:r>
            <a:endParaRPr lang="en-US" sz="900" dirty="0"/>
          </a:p>
        </p:txBody>
      </p:sp>
      <p:sp>
        <p:nvSpPr>
          <p:cNvPr id="5" name="Text 2"/>
          <p:cNvSpPr/>
          <p:nvPr/>
        </p:nvSpPr>
        <p:spPr>
          <a:xfrm>
            <a:off x="548640" y="384048"/>
            <a:ext cx="9326880" cy="777240"/>
          </a:xfrm>
          <a:prstGeom prst="rect">
            <a:avLst/>
          </a:prstGeom>
          <a:noFill/>
          <a:ln/>
        </p:spPr>
        <p:txBody>
          <a:bodyPr wrap="square" lIns="0" tIns="0" rIns="0" bIns="0" rtlCol="0" anchor="ctr"/>
          <a:lstStyle/>
          <a:p>
            <a:pPr indent="0" marL="0">
              <a:buNone/>
            </a:pPr>
            <a:r>
              <a:rPr lang="en-US" sz="2900" b="1" dirty="0">
                <a:solidFill>
                  <a:srgbClr val="0B1A35"/>
                </a:solidFill>
                <a:latin typeface="Cormorant Garamond" pitchFamily="34" charset="0"/>
                <a:ea typeface="Cormorant Garamond" pitchFamily="34" charset="-122"/>
                <a:cs typeface="Cormorant Garamond" pitchFamily="34" charset="-120"/>
              </a:rPr>
              <a:t>AIQ 15%: Category-wise Closing AIR</a:t>
            </a:r>
            <a:endParaRPr lang="en-US" sz="29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All India Quota — MCC counselling, government colleges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926080"/>
                <a:gridCol w="8165592"/>
              </a:tblGrid>
              <a:tr h="56692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Category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Expected closing AIR — AIQ 15%</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GEN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final + stray AIQ closing AIR — GEN]</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EWS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 EWS]</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OBC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 OBC]</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 SC]</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 ST]</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PwD</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MCC 2025 — PwD, per sub-category]</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Text 4"/>
          <p:cNvSpPr/>
          <p:nvPr/>
        </p:nvSpPr>
        <p:spPr>
          <a:xfrm>
            <a:off x="566928" y="5870448"/>
            <a:ext cx="6400800" cy="274320"/>
          </a:xfrm>
          <a:prstGeom prst="rect">
            <a:avLst/>
          </a:prstGeom>
          <a:noFill/>
          <a:ln/>
        </p:spPr>
        <p:txBody>
          <a:bodyPr wrap="square" lIns="0" tIns="0" rIns="0" bIns="0" rtlCol="0" anchor="ctr"/>
          <a:lstStyle/>
          <a:p>
            <a:pPr indent="0" marL="0">
              <a:buNone/>
            </a:pPr>
            <a:r>
              <a:rPr lang="en-US" sz="950" i="1" dirty="0">
                <a:solidFill>
                  <a:srgbClr val="5A6B85"/>
                </a:solidFill>
                <a:latin typeface="Manrope" pitchFamily="34" charset="0"/>
                <a:ea typeface="Manrope" pitchFamily="34" charset="-122"/>
                <a:cs typeface="Manrope" pitchFamily="34" charset="-120"/>
              </a:rPr>
              <a:t>Source: MCC allotment PDFs · mcc.nic.in</a:t>
            </a:r>
            <a:endParaRPr lang="en-US" sz="950" dirty="0"/>
          </a:p>
        </p:txBody>
      </p:sp>
      <p:sp>
        <p:nvSpPr>
          <p:cNvPr id="9" name="Shape 5"/>
          <p:cNvSpPr/>
          <p:nvPr/>
        </p:nvSpPr>
        <p:spPr>
          <a:xfrm>
            <a:off x="548640" y="6272784"/>
            <a:ext cx="11091672" cy="384048"/>
          </a:xfrm>
          <a:prstGeom prst="roundRect">
            <a:avLst>
              <a:gd name="adj" fmla="val 14286"/>
            </a:avLst>
          </a:prstGeom>
          <a:solidFill>
            <a:srgbClr val="F5E6C4"/>
          </a:solidFill>
          <a:ln/>
        </p:spPr>
      </p:sp>
      <p:sp>
        <p:nvSpPr>
          <p:cNvPr id="10" name="Text 6"/>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9</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3 · GOVT CUTOFFS</a:t>
            </a:r>
            <a:endParaRPr lang="en-US" sz="900" dirty="0"/>
          </a:p>
        </p:txBody>
      </p:sp>
      <p:sp>
        <p:nvSpPr>
          <p:cNvPr id="5" name="Text 2"/>
          <p:cNvSpPr/>
          <p:nvPr/>
        </p:nvSpPr>
        <p:spPr>
          <a:xfrm>
            <a:off x="548640" y="384048"/>
            <a:ext cx="9326880" cy="777240"/>
          </a:xfrm>
          <a:prstGeom prst="rect">
            <a:avLst/>
          </a:prstGeom>
          <a:noFill/>
          <a:ln/>
        </p:spPr>
        <p:txBody>
          <a:bodyPr wrap="square" lIns="0" tIns="0" rIns="0" bIns="0" rtlCol="0" anchor="ctr"/>
          <a:lstStyle/>
          <a:p>
            <a:pPr indent="0" marL="0">
              <a:buNone/>
            </a:pPr>
            <a:r>
              <a:rPr lang="en-US" sz="2900" b="1" dirty="0">
                <a:solidFill>
                  <a:srgbClr val="0B1A35"/>
                </a:solidFill>
                <a:latin typeface="Cormorant Garamond" pitchFamily="34" charset="0"/>
                <a:ea typeface="Cormorant Garamond" pitchFamily="34" charset="-122"/>
                <a:cs typeface="Cormorant Garamond" pitchFamily="34" charset="-120"/>
              </a:rPr>
              <a:t>Maharashtra 85%: Category-wise Closing</a:t>
            </a:r>
            <a:endParaRPr lang="en-US" sz="29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State quota government MBBS — MH CET Cell, 2025 last seat allotted</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77440"/>
                <a:gridCol w="4937760"/>
              </a:tblGrid>
              <a:tr h="530352">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Category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2025 last govt seat closed (AIR ≈)</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Open (GEN)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~52,400   (≈ 500 marks)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OBC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~48,000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EWS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~69,300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~1,60,800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~3,43,300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3035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PwD</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PwD closing]</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Shape 4"/>
          <p:cNvSpPr/>
          <p:nvPr/>
        </p:nvSpPr>
        <p:spPr>
          <a:xfrm>
            <a:off x="8183880" y="1783080"/>
            <a:ext cx="3456432" cy="3108960"/>
          </a:xfrm>
          <a:prstGeom prst="roundRect">
            <a:avLst>
              <a:gd name="adj" fmla="val 2941"/>
            </a:avLst>
          </a:prstGeom>
          <a:solidFill>
            <a:srgbClr val="F5E6C4"/>
          </a:solidFill>
          <a:ln/>
        </p:spPr>
      </p:sp>
      <p:sp>
        <p:nvSpPr>
          <p:cNvPr id="9" name="Text 5"/>
          <p:cNvSpPr/>
          <p:nvPr/>
        </p:nvSpPr>
        <p:spPr>
          <a:xfrm>
            <a:off x="8458200" y="2011680"/>
            <a:ext cx="2926080" cy="320040"/>
          </a:xfrm>
          <a:prstGeom prst="rect">
            <a:avLst/>
          </a:prstGeom>
          <a:noFill/>
          <a:ln/>
        </p:spPr>
        <p:txBody>
          <a:bodyPr wrap="square" lIns="0" tIns="0" rIns="0" bIns="0" rtlCol="0" anchor="ctr"/>
          <a:lstStyle/>
          <a:p>
            <a:pPr indent="0" marL="0">
              <a:buNone/>
            </a:pPr>
            <a:r>
              <a:rPr lang="en-US" sz="1100" b="1" spc="100" kern="0" dirty="0">
                <a:solidFill>
                  <a:srgbClr val="6B5518"/>
                </a:solidFill>
                <a:latin typeface="Manrope" pitchFamily="34" charset="0"/>
                <a:ea typeface="Manrope" pitchFamily="34" charset="-122"/>
                <a:cs typeface="Manrope" pitchFamily="34" charset="-120"/>
              </a:rPr>
              <a:t>Maharashtra-special</a:t>
            </a:r>
            <a:endParaRPr lang="en-US" sz="1100" dirty="0"/>
          </a:p>
        </p:txBody>
      </p:sp>
      <p:sp>
        <p:nvSpPr>
          <p:cNvPr id="10" name="Text 6"/>
          <p:cNvSpPr/>
          <p:nvPr/>
        </p:nvSpPr>
        <p:spPr>
          <a:xfrm>
            <a:off x="8458200" y="2377440"/>
            <a:ext cx="2926080" cy="2377440"/>
          </a:xfrm>
          <a:prstGeom prst="rect">
            <a:avLst/>
          </a:prstGeom>
          <a:noFill/>
          <a:ln/>
        </p:spPr>
        <p:txBody>
          <a:bodyPr wrap="square" lIns="0" tIns="0" rIns="0" bIns="0" rtlCol="0" anchor="ctr"/>
          <a:lstStyle/>
          <a:p>
            <a:pPr indent="0" marL="0">
              <a:buNone/>
            </a:pPr>
            <a:r>
              <a:rPr lang="en-US" sz="1100" dirty="0">
                <a:solidFill>
                  <a:srgbClr val="0B1A35"/>
                </a:solidFill>
                <a:latin typeface="Manrope" pitchFamily="34" charset="0"/>
                <a:ea typeface="Manrope" pitchFamily="34" charset="-122"/>
                <a:cs typeface="Manrope" pitchFamily="34" charset="-120"/>
              </a:rPr>
              <a:t>OBC closes NEAR Open (SEBC is a separate bucket).</a:t>
            </a:r>
            <a:endParaRPr lang="en-US" sz="1100" dirty="0"/>
          </a:p>
          <a:p>
            <a:pPr indent="0" marL="0">
              <a:buNone/>
            </a:pPr>
            <a:endParaRPr lang="en-US" sz="1100" dirty="0"/>
          </a:p>
          <a:p>
            <a:pPr indent="0" marL="0">
              <a:buNone/>
            </a:pPr>
            <a:r>
              <a:rPr lang="en-US" sz="1100" dirty="0">
                <a:solidFill>
                  <a:srgbClr val="0B1A35"/>
                </a:solidFill>
                <a:latin typeface="Manrope" pitchFamily="34" charset="0"/>
                <a:ea typeface="Manrope" pitchFamily="34" charset="-122"/>
                <a:cs typeface="Manrope" pitchFamily="34" charset="-120"/>
              </a:rPr>
              <a:t>EWS closes much LATER (~69k).</a:t>
            </a:r>
            <a:endParaRPr lang="en-US" sz="1100" dirty="0"/>
          </a:p>
          <a:p>
            <a:pPr indent="0" marL="0">
              <a:buNone/>
            </a:pPr>
            <a:endParaRPr lang="en-US" sz="1100" dirty="0"/>
          </a:p>
          <a:p>
            <a:pPr indent="0" marL="0">
              <a:buNone/>
            </a:pPr>
            <a:r>
              <a:rPr lang="en-US" sz="1100" dirty="0">
                <a:solidFill>
                  <a:srgbClr val="0B1A35"/>
                </a:solidFill>
                <a:latin typeface="Manrope" pitchFamily="34" charset="0"/>
                <a:ea typeface="Manrope" pitchFamily="34" charset="-122"/>
                <a:cs typeface="Manrope" pitchFamily="34" charset="-120"/>
              </a:rPr>
              <a:t>Other states behave differently — trust your state’s data, not WhatsApp forwards.</a:t>
            </a:r>
            <a:endParaRPr lang="en-US" sz="1100" dirty="0"/>
          </a:p>
        </p:txBody>
      </p:sp>
      <p:sp>
        <p:nvSpPr>
          <p:cNvPr id="11" name="Text 7"/>
          <p:cNvSpPr/>
          <p:nvPr/>
        </p:nvSpPr>
        <p:spPr>
          <a:xfrm>
            <a:off x="566928" y="5870448"/>
            <a:ext cx="7315200" cy="274320"/>
          </a:xfrm>
          <a:prstGeom prst="rect">
            <a:avLst/>
          </a:prstGeom>
          <a:noFill/>
          <a:ln/>
        </p:spPr>
        <p:txBody>
          <a:bodyPr wrap="square" lIns="0" tIns="0" rIns="0" bIns="0" rtlCol="0" anchor="ctr"/>
          <a:lstStyle/>
          <a:p>
            <a:pPr indent="0" marL="0">
              <a:buNone/>
            </a:pPr>
            <a:r>
              <a:rPr lang="en-US" sz="950" i="1" dirty="0">
                <a:solidFill>
                  <a:srgbClr val="5A6B85"/>
                </a:solidFill>
                <a:latin typeface="Manrope" pitchFamily="34" charset="0"/>
                <a:ea typeface="Manrope" pitchFamily="34" charset="-122"/>
                <a:cs typeface="Manrope" pitchFamily="34" charset="-120"/>
              </a:rPr>
              <a:t>Source: MH CET Cell 2025 allotment PDFs, compiled by ABHA office</a:t>
            </a:r>
            <a:endParaRPr lang="en-US" sz="950" dirty="0"/>
          </a:p>
        </p:txBody>
      </p:sp>
      <p:sp>
        <p:nvSpPr>
          <p:cNvPr id="12" name="Shape 8"/>
          <p:cNvSpPr/>
          <p:nvPr/>
        </p:nvSpPr>
        <p:spPr>
          <a:xfrm>
            <a:off x="548640" y="6272784"/>
            <a:ext cx="11091672" cy="384048"/>
          </a:xfrm>
          <a:prstGeom prst="roundRect">
            <a:avLst>
              <a:gd name="adj" fmla="val 14286"/>
            </a:avLst>
          </a:prstGeom>
          <a:solidFill>
            <a:srgbClr val="F5E6C4"/>
          </a:solidFill>
          <a:ln/>
        </p:spPr>
      </p:sp>
      <p:sp>
        <p:nvSpPr>
          <p:cNvPr id="13" name="Text 9"/>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10</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3 · GOVT CUTOFFS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Marks → AIR: Apna Rank Samjhein</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NTA 2026 result distribution — indicative bands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011680"/>
                <a:gridCol w="3657600"/>
              </a:tblGrid>
              <a:tr h="603504">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Marks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Approx. AIR</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603504">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650+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~1 – 1,500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603504">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600–649</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~1,550 – 10,200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603504">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560–599</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~10,200 – 29,000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603504">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500–559</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~29,000 – 91,000</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Shape 4"/>
          <p:cNvSpPr/>
          <p:nvPr/>
        </p:nvSpPr>
        <p:spPr>
          <a:xfrm>
            <a:off x="6675120" y="1874520"/>
            <a:ext cx="822960" cy="502920"/>
          </a:xfrm>
          <a:prstGeom prst="roundRect">
            <a:avLst>
              <a:gd name="adj" fmla="val 12727"/>
            </a:avLst>
          </a:prstGeom>
          <a:solidFill>
            <a:srgbClr val="C6962E"/>
          </a:solidFill>
          <a:ln/>
        </p:spPr>
      </p:sp>
      <p:sp>
        <p:nvSpPr>
          <p:cNvPr id="9" name="Text 5"/>
          <p:cNvSpPr/>
          <p:nvPr/>
        </p:nvSpPr>
        <p:spPr>
          <a:xfrm>
            <a:off x="7635240" y="1874520"/>
            <a:ext cx="1920240" cy="502920"/>
          </a:xfrm>
          <a:prstGeom prst="rect">
            <a:avLst/>
          </a:prstGeom>
          <a:noFill/>
          <a:ln/>
        </p:spPr>
        <p:txBody>
          <a:bodyPr wrap="square" lIns="0" tIns="0" rIns="0" bIns="0" rtlCol="0" anchor="ctr"/>
          <a:lstStyle/>
          <a:p>
            <a:pPr indent="0" marL="0">
              <a:buNone/>
            </a:pPr>
            <a:r>
              <a:rPr lang="en-US" sz="1050" dirty="0">
                <a:solidFill>
                  <a:srgbClr val="5A6B85"/>
                </a:solidFill>
                <a:latin typeface="Manrope" pitchFamily="34" charset="0"/>
                <a:ea typeface="Manrope" pitchFamily="34" charset="-122"/>
                <a:cs typeface="Manrope" pitchFamily="34" charset="-120"/>
              </a:rPr>
              <a:t>~1 – 1,500</a:t>
            </a:r>
            <a:endParaRPr lang="en-US" sz="1050" dirty="0"/>
          </a:p>
        </p:txBody>
      </p:sp>
      <p:sp>
        <p:nvSpPr>
          <p:cNvPr id="10" name="Text 6"/>
          <p:cNvSpPr/>
          <p:nvPr/>
        </p:nvSpPr>
        <p:spPr>
          <a:xfrm>
            <a:off x="6675120" y="1856232"/>
            <a:ext cx="822960" cy="502920"/>
          </a:xfrm>
          <a:prstGeom prst="rect">
            <a:avLst/>
          </a:prstGeom>
          <a:noFill/>
          <a:ln/>
        </p:spPr>
        <p:txBody>
          <a:bodyPr wrap="square" lIns="0" tIns="0" rIns="0" bIns="0" rtlCol="0" anchor="ctr"/>
          <a:lstStyle/>
          <a:p>
            <a:pPr algn="ctr" indent="0" marL="0">
              <a:buNone/>
            </a:pPr>
            <a:r>
              <a:rPr lang="en-US" sz="950" b="1" dirty="0">
                <a:solidFill>
                  <a:srgbClr val="0B1A35"/>
                </a:solidFill>
                <a:latin typeface="Manrope" pitchFamily="34" charset="0"/>
                <a:ea typeface="Manrope" pitchFamily="34" charset="-122"/>
                <a:cs typeface="Manrope" pitchFamily="34" charset="-120"/>
              </a:rPr>
              <a:t>650+</a:t>
            </a:r>
            <a:endParaRPr lang="en-US" sz="950" dirty="0"/>
          </a:p>
        </p:txBody>
      </p:sp>
      <p:sp>
        <p:nvSpPr>
          <p:cNvPr id="11" name="Shape 7"/>
          <p:cNvSpPr/>
          <p:nvPr/>
        </p:nvSpPr>
        <p:spPr>
          <a:xfrm>
            <a:off x="6675120" y="2788920"/>
            <a:ext cx="1645920" cy="502920"/>
          </a:xfrm>
          <a:prstGeom prst="roundRect">
            <a:avLst>
              <a:gd name="adj" fmla="val 12727"/>
            </a:avLst>
          </a:prstGeom>
          <a:solidFill>
            <a:srgbClr val="0B1A35"/>
          </a:solidFill>
          <a:ln/>
        </p:spPr>
      </p:sp>
      <p:sp>
        <p:nvSpPr>
          <p:cNvPr id="12" name="Text 8"/>
          <p:cNvSpPr/>
          <p:nvPr/>
        </p:nvSpPr>
        <p:spPr>
          <a:xfrm>
            <a:off x="8458200" y="2788920"/>
            <a:ext cx="1920240" cy="502920"/>
          </a:xfrm>
          <a:prstGeom prst="rect">
            <a:avLst/>
          </a:prstGeom>
          <a:noFill/>
          <a:ln/>
        </p:spPr>
        <p:txBody>
          <a:bodyPr wrap="square" lIns="0" tIns="0" rIns="0" bIns="0" rtlCol="0" anchor="ctr"/>
          <a:lstStyle/>
          <a:p>
            <a:pPr indent="0" marL="0">
              <a:buNone/>
            </a:pPr>
            <a:r>
              <a:rPr lang="en-US" sz="1050" dirty="0">
                <a:solidFill>
                  <a:srgbClr val="5A6B85"/>
                </a:solidFill>
                <a:latin typeface="Manrope" pitchFamily="34" charset="0"/>
                <a:ea typeface="Manrope" pitchFamily="34" charset="-122"/>
                <a:cs typeface="Manrope" pitchFamily="34" charset="-120"/>
              </a:rPr>
              <a:t>~1,550 – 10,200</a:t>
            </a:r>
            <a:endParaRPr lang="en-US" sz="1050" dirty="0"/>
          </a:p>
        </p:txBody>
      </p:sp>
      <p:sp>
        <p:nvSpPr>
          <p:cNvPr id="13" name="Text 9"/>
          <p:cNvSpPr/>
          <p:nvPr/>
        </p:nvSpPr>
        <p:spPr>
          <a:xfrm>
            <a:off x="6675120" y="2770632"/>
            <a:ext cx="1645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Manrope" pitchFamily="34" charset="0"/>
                <a:ea typeface="Manrope" pitchFamily="34" charset="-122"/>
                <a:cs typeface="Manrope" pitchFamily="34" charset="-120"/>
              </a:rPr>
              <a:t>600–649</a:t>
            </a:r>
            <a:endParaRPr lang="en-US" sz="950" dirty="0"/>
          </a:p>
        </p:txBody>
      </p:sp>
      <p:sp>
        <p:nvSpPr>
          <p:cNvPr id="14" name="Shape 10"/>
          <p:cNvSpPr/>
          <p:nvPr/>
        </p:nvSpPr>
        <p:spPr>
          <a:xfrm>
            <a:off x="6675120" y="3703320"/>
            <a:ext cx="2468880" cy="502920"/>
          </a:xfrm>
          <a:prstGeom prst="roundRect">
            <a:avLst>
              <a:gd name="adj" fmla="val 12727"/>
            </a:avLst>
          </a:prstGeom>
          <a:solidFill>
            <a:srgbClr val="0B1A35"/>
          </a:solidFill>
          <a:ln/>
        </p:spPr>
      </p:sp>
      <p:sp>
        <p:nvSpPr>
          <p:cNvPr id="15" name="Text 11"/>
          <p:cNvSpPr/>
          <p:nvPr/>
        </p:nvSpPr>
        <p:spPr>
          <a:xfrm>
            <a:off x="9281160" y="3703320"/>
            <a:ext cx="1920240" cy="502920"/>
          </a:xfrm>
          <a:prstGeom prst="rect">
            <a:avLst/>
          </a:prstGeom>
          <a:noFill/>
          <a:ln/>
        </p:spPr>
        <p:txBody>
          <a:bodyPr wrap="square" lIns="0" tIns="0" rIns="0" bIns="0" rtlCol="0" anchor="ctr"/>
          <a:lstStyle/>
          <a:p>
            <a:pPr indent="0" marL="0">
              <a:buNone/>
            </a:pPr>
            <a:r>
              <a:rPr lang="en-US" sz="1050" dirty="0">
                <a:solidFill>
                  <a:srgbClr val="5A6B85"/>
                </a:solidFill>
                <a:latin typeface="Manrope" pitchFamily="34" charset="0"/>
                <a:ea typeface="Manrope" pitchFamily="34" charset="-122"/>
                <a:cs typeface="Manrope" pitchFamily="34" charset="-120"/>
              </a:rPr>
              <a:t>~10,200 – 29,000</a:t>
            </a:r>
            <a:endParaRPr lang="en-US" sz="1050" dirty="0"/>
          </a:p>
        </p:txBody>
      </p:sp>
      <p:sp>
        <p:nvSpPr>
          <p:cNvPr id="16" name="Text 12"/>
          <p:cNvSpPr/>
          <p:nvPr/>
        </p:nvSpPr>
        <p:spPr>
          <a:xfrm>
            <a:off x="6675120" y="3685032"/>
            <a:ext cx="24688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Manrope" pitchFamily="34" charset="0"/>
                <a:ea typeface="Manrope" pitchFamily="34" charset="-122"/>
                <a:cs typeface="Manrope" pitchFamily="34" charset="-120"/>
              </a:rPr>
              <a:t>560–599</a:t>
            </a:r>
            <a:endParaRPr lang="en-US" sz="950" dirty="0"/>
          </a:p>
        </p:txBody>
      </p:sp>
      <p:sp>
        <p:nvSpPr>
          <p:cNvPr id="17" name="Shape 13"/>
          <p:cNvSpPr/>
          <p:nvPr/>
        </p:nvSpPr>
        <p:spPr>
          <a:xfrm>
            <a:off x="6675120" y="4617720"/>
            <a:ext cx="3291840" cy="502920"/>
          </a:xfrm>
          <a:prstGeom prst="roundRect">
            <a:avLst>
              <a:gd name="adj" fmla="val 12727"/>
            </a:avLst>
          </a:prstGeom>
          <a:solidFill>
            <a:srgbClr val="0B1A35"/>
          </a:solidFill>
          <a:ln/>
        </p:spPr>
      </p:sp>
      <p:sp>
        <p:nvSpPr>
          <p:cNvPr id="18" name="Text 14"/>
          <p:cNvSpPr/>
          <p:nvPr/>
        </p:nvSpPr>
        <p:spPr>
          <a:xfrm>
            <a:off x="10104120" y="4617720"/>
            <a:ext cx="1920240" cy="502920"/>
          </a:xfrm>
          <a:prstGeom prst="rect">
            <a:avLst/>
          </a:prstGeom>
          <a:noFill/>
          <a:ln/>
        </p:spPr>
        <p:txBody>
          <a:bodyPr wrap="square" lIns="0" tIns="0" rIns="0" bIns="0" rtlCol="0" anchor="ctr"/>
          <a:lstStyle/>
          <a:p>
            <a:pPr indent="0" marL="0">
              <a:buNone/>
            </a:pPr>
            <a:r>
              <a:rPr lang="en-US" sz="1050" dirty="0">
                <a:solidFill>
                  <a:srgbClr val="5A6B85"/>
                </a:solidFill>
                <a:latin typeface="Manrope" pitchFamily="34" charset="0"/>
                <a:ea typeface="Manrope" pitchFamily="34" charset="-122"/>
                <a:cs typeface="Manrope" pitchFamily="34" charset="-120"/>
              </a:rPr>
              <a:t>~29,000 – 91,000</a:t>
            </a:r>
            <a:endParaRPr lang="en-US" sz="1050" dirty="0"/>
          </a:p>
        </p:txBody>
      </p:sp>
      <p:sp>
        <p:nvSpPr>
          <p:cNvPr id="19" name="Text 15"/>
          <p:cNvSpPr/>
          <p:nvPr/>
        </p:nvSpPr>
        <p:spPr>
          <a:xfrm>
            <a:off x="6675120" y="4599432"/>
            <a:ext cx="329184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Manrope" pitchFamily="34" charset="0"/>
                <a:ea typeface="Manrope" pitchFamily="34" charset="-122"/>
                <a:cs typeface="Manrope" pitchFamily="34" charset="-120"/>
              </a:rPr>
              <a:t>500–559</a:t>
            </a:r>
            <a:endParaRPr lang="en-US" sz="950" dirty="0"/>
          </a:p>
        </p:txBody>
      </p:sp>
      <p:sp>
        <p:nvSpPr>
          <p:cNvPr id="20" name="Text 16"/>
          <p:cNvSpPr/>
          <p:nvPr/>
        </p:nvSpPr>
        <p:spPr>
          <a:xfrm>
            <a:off x="566928" y="5870448"/>
            <a:ext cx="10058400" cy="274320"/>
          </a:xfrm>
          <a:prstGeom prst="rect">
            <a:avLst/>
          </a:prstGeom>
          <a:noFill/>
          <a:ln/>
        </p:spPr>
        <p:txBody>
          <a:bodyPr wrap="square" lIns="0" tIns="0" rIns="0" bIns="0" rtlCol="0" anchor="ctr"/>
          <a:lstStyle/>
          <a:p>
            <a:pPr indent="0" marL="0">
              <a:buNone/>
            </a:pPr>
            <a:r>
              <a:rPr lang="en-US" sz="950" i="1" dirty="0">
                <a:solidFill>
                  <a:srgbClr val="5A6B85"/>
                </a:solidFill>
                <a:latin typeface="Manrope" pitchFamily="34" charset="0"/>
                <a:ea typeface="Manrope" pitchFamily="34" charset="-122"/>
                <a:cs typeface="Manrope" pitchFamily="34" charset="-120"/>
              </a:rPr>
              <a:t>Source: official NEET 2026 distribution, NTA — 1,492 scored ≥650 · 10,160 ≥600 · 90,780 ≥500</a:t>
            </a:r>
            <a:endParaRPr lang="en-US" sz="950" dirty="0"/>
          </a:p>
        </p:txBody>
      </p:sp>
      <p:sp>
        <p:nvSpPr>
          <p:cNvPr id="21" name="Shape 17"/>
          <p:cNvSpPr/>
          <p:nvPr/>
        </p:nvSpPr>
        <p:spPr>
          <a:xfrm>
            <a:off x="548640" y="6272784"/>
            <a:ext cx="11091672" cy="384048"/>
          </a:xfrm>
          <a:prstGeom prst="roundRect">
            <a:avLst>
              <a:gd name="adj" fmla="val 14286"/>
            </a:avLst>
          </a:prstGeom>
          <a:solidFill>
            <a:srgbClr val="F5E6C4"/>
          </a:solidFill>
          <a:ln/>
        </p:spPr>
      </p:sp>
      <p:sp>
        <p:nvSpPr>
          <p:cNvPr id="22" name="Text 18"/>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11</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3 · GOVT CUTOFFS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Teen Students, Teen Sach</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Apna rank in teeno se milaiye</a:t>
            </a:r>
            <a:endParaRPr lang="en-US" sz="1300" dirty="0"/>
          </a:p>
        </p:txBody>
      </p:sp>
      <p:sp>
        <p:nvSpPr>
          <p:cNvPr id="7" name="Shape 4"/>
          <p:cNvSpPr/>
          <p:nvPr/>
        </p:nvSpPr>
        <p:spPr>
          <a:xfrm>
            <a:off x="548640" y="1691640"/>
            <a:ext cx="3611880" cy="4114800"/>
          </a:xfrm>
          <a:prstGeom prst="roundRect">
            <a:avLst>
              <a:gd name="adj" fmla="val 2532"/>
            </a:avLst>
          </a:prstGeom>
          <a:solidFill>
            <a:srgbClr val="FFFFFF"/>
          </a:solidFill>
          <a:ln/>
        </p:spPr>
      </p:sp>
      <p:sp>
        <p:nvSpPr>
          <p:cNvPr id="8" name="Shape 5"/>
          <p:cNvSpPr/>
          <p:nvPr/>
        </p:nvSpPr>
        <p:spPr>
          <a:xfrm>
            <a:off x="804672" y="1938528"/>
            <a:ext cx="960120" cy="384048"/>
          </a:xfrm>
          <a:prstGeom prst="roundRect">
            <a:avLst>
              <a:gd name="adj" fmla="val 50000"/>
            </a:avLst>
          </a:prstGeom>
          <a:solidFill>
            <a:srgbClr val="C6962E"/>
          </a:solidFill>
          <a:ln/>
        </p:spPr>
      </p:sp>
      <p:sp>
        <p:nvSpPr>
          <p:cNvPr id="9" name="Text 6"/>
          <p:cNvSpPr/>
          <p:nvPr/>
        </p:nvSpPr>
        <p:spPr>
          <a:xfrm>
            <a:off x="804672" y="1938528"/>
            <a:ext cx="960120" cy="384048"/>
          </a:xfrm>
          <a:prstGeom prst="rect">
            <a:avLst/>
          </a:prstGeom>
          <a:noFill/>
          <a:ln/>
        </p:spPr>
        <p:txBody>
          <a:bodyPr wrap="square" lIns="0" tIns="0" rIns="0" bIns="0" rtlCol="0" anchor="ctr"/>
          <a:lstStyle/>
          <a:p>
            <a:pPr algn="ctr" indent="0" marL="0">
              <a:buNone/>
            </a:pPr>
            <a:r>
              <a:rPr lang="en-US" sz="1150" b="1" dirty="0">
                <a:solidFill>
                  <a:srgbClr val="0B1A35"/>
                </a:solidFill>
                <a:latin typeface="Manrope" pitchFamily="34" charset="0"/>
                <a:ea typeface="Manrope" pitchFamily="34" charset="-122"/>
                <a:cs typeface="Manrope" pitchFamily="34" charset="-120"/>
              </a:rPr>
              <a:t>GEN</a:t>
            </a:r>
            <a:endParaRPr lang="en-US" sz="1150" dirty="0"/>
          </a:p>
        </p:txBody>
      </p:sp>
      <p:sp>
        <p:nvSpPr>
          <p:cNvPr id="10" name="Text 7"/>
          <p:cNvSpPr/>
          <p:nvPr/>
        </p:nvSpPr>
        <p:spPr>
          <a:xfrm>
            <a:off x="804672" y="2395728"/>
            <a:ext cx="3099816" cy="566928"/>
          </a:xfrm>
          <a:prstGeom prst="rect">
            <a:avLst/>
          </a:prstGeom>
          <a:noFill/>
          <a:ln/>
        </p:spPr>
        <p:txBody>
          <a:bodyPr wrap="square" lIns="0" tIns="0" rIns="0" bIns="0" rtlCol="0" anchor="ctr"/>
          <a:lstStyle/>
          <a:p>
            <a:pPr indent="0" marL="0">
              <a:buNone/>
            </a:pPr>
            <a:r>
              <a:rPr lang="en-US" sz="2700" b="1" dirty="0">
                <a:solidFill>
                  <a:srgbClr val="0B1A35"/>
                </a:solidFill>
                <a:latin typeface="Cormorant Garamond" pitchFamily="34" charset="0"/>
                <a:ea typeface="Cormorant Garamond" pitchFamily="34" charset="-122"/>
                <a:cs typeface="Cormorant Garamond" pitchFamily="34" charset="-120"/>
              </a:rPr>
              <a:t>AIR 82,000</a:t>
            </a:r>
            <a:endParaRPr lang="en-US" sz="2700" dirty="0"/>
          </a:p>
        </p:txBody>
      </p:sp>
      <p:sp>
        <p:nvSpPr>
          <p:cNvPr id="11" name="Shape 8"/>
          <p:cNvSpPr/>
          <p:nvPr/>
        </p:nvSpPr>
        <p:spPr>
          <a:xfrm>
            <a:off x="804672" y="3154680"/>
            <a:ext cx="365760" cy="365760"/>
          </a:xfrm>
          <a:prstGeom prst="ellipse">
            <a:avLst/>
          </a:prstGeom>
          <a:solidFill>
            <a:srgbClr val="F5E6C4"/>
          </a:solidFill>
          <a:ln/>
        </p:spPr>
      </p:sp>
      <p:pic>
        <p:nvPicPr>
          <p:cNvPr id="12" name="Image 0" descr="/tmp/claude-0/-home-user/22b099b3-5195-5dc8-9cf2-1c5020dc8f38/scratchpad/deck/icons/times.png">    </p:cNvPr>
          <p:cNvPicPr>
            <a:picLocks noChangeAspect="1"/>
          </p:cNvPicPr>
          <p:nvPr/>
        </p:nvPicPr>
        <p:blipFill>
          <a:blip r:embed="rId1"/>
          <a:stretch>
            <a:fillRect/>
          </a:stretch>
        </p:blipFill>
        <p:spPr>
          <a:xfrm>
            <a:off x="899770" y="3249778"/>
            <a:ext cx="175565" cy="175565"/>
          </a:xfrm>
          <a:prstGeom prst="rect">
            <a:avLst/>
          </a:prstGeom>
        </p:spPr>
      </p:pic>
      <p:sp>
        <p:nvSpPr>
          <p:cNvPr id="13" name="Text 9"/>
          <p:cNvSpPr/>
          <p:nvPr/>
        </p:nvSpPr>
        <p:spPr>
          <a:xfrm>
            <a:off x="1298448" y="3081528"/>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Govt (closed ~52k)</a:t>
            </a:r>
            <a:endParaRPr lang="en-US" sz="1080" dirty="0"/>
          </a:p>
        </p:txBody>
      </p:sp>
      <p:sp>
        <p:nvSpPr>
          <p:cNvPr id="14" name="Shape 10"/>
          <p:cNvSpPr/>
          <p:nvPr/>
        </p:nvSpPr>
        <p:spPr>
          <a:xfrm>
            <a:off x="804672" y="3959352"/>
            <a:ext cx="365760" cy="365760"/>
          </a:xfrm>
          <a:prstGeom prst="ellipse">
            <a:avLst/>
          </a:prstGeom>
          <a:solidFill>
            <a:srgbClr val="F5E6C4"/>
          </a:solidFill>
          <a:ln/>
        </p:spPr>
      </p:sp>
      <p:pic>
        <p:nvPicPr>
          <p:cNvPr id="15" name="Image 1" descr="/tmp/claude-0/-home-user/22b099b3-5195-5dc8-9cf2-1c5020dc8f38/scratchpad/deck/icons/checkNavy.png">    </p:cNvPr>
          <p:cNvPicPr>
            <a:picLocks noChangeAspect="1"/>
          </p:cNvPicPr>
          <p:nvPr/>
        </p:nvPicPr>
        <p:blipFill>
          <a:blip r:embed="rId2"/>
          <a:stretch>
            <a:fillRect/>
          </a:stretch>
        </p:blipFill>
        <p:spPr>
          <a:xfrm>
            <a:off x="899770" y="4054450"/>
            <a:ext cx="175565" cy="175565"/>
          </a:xfrm>
          <a:prstGeom prst="rect">
            <a:avLst/>
          </a:prstGeom>
        </p:spPr>
      </p:pic>
      <p:sp>
        <p:nvSpPr>
          <p:cNvPr id="16" name="Text 11"/>
          <p:cNvSpPr/>
          <p:nvPr/>
        </p:nvSpPr>
        <p:spPr>
          <a:xfrm>
            <a:off x="1298448" y="3886200"/>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Private / Deemed — compare fees</a:t>
            </a:r>
            <a:endParaRPr lang="en-US" sz="1080" dirty="0"/>
          </a:p>
        </p:txBody>
      </p:sp>
      <p:sp>
        <p:nvSpPr>
          <p:cNvPr id="17" name="Shape 12"/>
          <p:cNvSpPr/>
          <p:nvPr/>
        </p:nvSpPr>
        <p:spPr>
          <a:xfrm>
            <a:off x="804672" y="4764024"/>
            <a:ext cx="365760" cy="365760"/>
          </a:xfrm>
          <a:prstGeom prst="ellipse">
            <a:avLst/>
          </a:prstGeom>
          <a:solidFill>
            <a:srgbClr val="F5E6C4"/>
          </a:solidFill>
          <a:ln/>
        </p:spPr>
      </p:sp>
      <p:pic>
        <p:nvPicPr>
          <p:cNvPr id="18" name="Image 2" descr="/tmp/claude-0/-home-user/22b099b3-5195-5dc8-9cf2-1c5020dc8f38/scratchpad/deck/icons/checkNavy.png">    </p:cNvPr>
          <p:cNvPicPr>
            <a:picLocks noChangeAspect="1"/>
          </p:cNvPicPr>
          <p:nvPr/>
        </p:nvPicPr>
        <p:blipFill>
          <a:blip r:embed="rId3"/>
          <a:stretch>
            <a:fillRect/>
          </a:stretch>
        </p:blipFill>
        <p:spPr>
          <a:xfrm>
            <a:off x="899770" y="4859122"/>
            <a:ext cx="175565" cy="175565"/>
          </a:xfrm>
          <a:prstGeom prst="rect">
            <a:avLst/>
          </a:prstGeom>
        </p:spPr>
      </p:pic>
      <p:sp>
        <p:nvSpPr>
          <p:cNvPr id="19" name="Text 13"/>
          <p:cNvSpPr/>
          <p:nvPr/>
        </p:nvSpPr>
        <p:spPr>
          <a:xfrm>
            <a:off x="1298448" y="4690872"/>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Abroad — only after the fee math</a:t>
            </a:r>
            <a:endParaRPr lang="en-US" sz="1080" dirty="0"/>
          </a:p>
        </p:txBody>
      </p:sp>
      <p:sp>
        <p:nvSpPr>
          <p:cNvPr id="20" name="Shape 14"/>
          <p:cNvSpPr/>
          <p:nvPr/>
        </p:nvSpPr>
        <p:spPr>
          <a:xfrm>
            <a:off x="4288536" y="1691640"/>
            <a:ext cx="3611880" cy="4114800"/>
          </a:xfrm>
          <a:prstGeom prst="roundRect">
            <a:avLst>
              <a:gd name="adj" fmla="val 2532"/>
            </a:avLst>
          </a:prstGeom>
          <a:solidFill>
            <a:srgbClr val="FFFFFF"/>
          </a:solidFill>
          <a:ln/>
        </p:spPr>
      </p:sp>
      <p:sp>
        <p:nvSpPr>
          <p:cNvPr id="21" name="Shape 15"/>
          <p:cNvSpPr/>
          <p:nvPr/>
        </p:nvSpPr>
        <p:spPr>
          <a:xfrm>
            <a:off x="4544568" y="1938528"/>
            <a:ext cx="960120" cy="384048"/>
          </a:xfrm>
          <a:prstGeom prst="roundRect">
            <a:avLst>
              <a:gd name="adj" fmla="val 50000"/>
            </a:avLst>
          </a:prstGeom>
          <a:solidFill>
            <a:srgbClr val="C6962E"/>
          </a:solidFill>
          <a:ln/>
        </p:spPr>
      </p:sp>
      <p:sp>
        <p:nvSpPr>
          <p:cNvPr id="22" name="Text 16"/>
          <p:cNvSpPr/>
          <p:nvPr/>
        </p:nvSpPr>
        <p:spPr>
          <a:xfrm>
            <a:off x="4544568" y="1938528"/>
            <a:ext cx="960120" cy="384048"/>
          </a:xfrm>
          <a:prstGeom prst="rect">
            <a:avLst/>
          </a:prstGeom>
          <a:noFill/>
          <a:ln/>
        </p:spPr>
        <p:txBody>
          <a:bodyPr wrap="square" lIns="0" tIns="0" rIns="0" bIns="0" rtlCol="0" anchor="ctr"/>
          <a:lstStyle/>
          <a:p>
            <a:pPr algn="ctr" indent="0" marL="0">
              <a:buNone/>
            </a:pPr>
            <a:r>
              <a:rPr lang="en-US" sz="1150" b="1" dirty="0">
                <a:solidFill>
                  <a:srgbClr val="0B1A35"/>
                </a:solidFill>
                <a:latin typeface="Manrope" pitchFamily="34" charset="0"/>
                <a:ea typeface="Manrope" pitchFamily="34" charset="-122"/>
                <a:cs typeface="Manrope" pitchFamily="34" charset="-120"/>
              </a:rPr>
              <a:t>OBC</a:t>
            </a:r>
            <a:endParaRPr lang="en-US" sz="1150" dirty="0"/>
          </a:p>
        </p:txBody>
      </p:sp>
      <p:sp>
        <p:nvSpPr>
          <p:cNvPr id="23" name="Text 17"/>
          <p:cNvSpPr/>
          <p:nvPr/>
        </p:nvSpPr>
        <p:spPr>
          <a:xfrm>
            <a:off x="4544568" y="2395728"/>
            <a:ext cx="3099816" cy="566928"/>
          </a:xfrm>
          <a:prstGeom prst="rect">
            <a:avLst/>
          </a:prstGeom>
          <a:noFill/>
          <a:ln/>
        </p:spPr>
        <p:txBody>
          <a:bodyPr wrap="square" lIns="0" tIns="0" rIns="0" bIns="0" rtlCol="0" anchor="ctr"/>
          <a:lstStyle/>
          <a:p>
            <a:pPr indent="0" marL="0">
              <a:buNone/>
            </a:pPr>
            <a:r>
              <a:rPr lang="en-US" sz="2700" b="1" dirty="0">
                <a:solidFill>
                  <a:srgbClr val="0B1A35"/>
                </a:solidFill>
                <a:latin typeface="Cormorant Garamond" pitchFamily="34" charset="0"/>
                <a:ea typeface="Cormorant Garamond" pitchFamily="34" charset="-122"/>
                <a:cs typeface="Cormorant Garamond" pitchFamily="34" charset="-120"/>
              </a:rPr>
              <a:t>AIR 1,40,000</a:t>
            </a:r>
            <a:endParaRPr lang="en-US" sz="2700" dirty="0"/>
          </a:p>
        </p:txBody>
      </p:sp>
      <p:sp>
        <p:nvSpPr>
          <p:cNvPr id="24" name="Shape 18"/>
          <p:cNvSpPr/>
          <p:nvPr/>
        </p:nvSpPr>
        <p:spPr>
          <a:xfrm>
            <a:off x="4544568" y="3154680"/>
            <a:ext cx="365760" cy="365760"/>
          </a:xfrm>
          <a:prstGeom prst="ellipse">
            <a:avLst/>
          </a:prstGeom>
          <a:solidFill>
            <a:srgbClr val="F5E6C4"/>
          </a:solidFill>
          <a:ln/>
        </p:spPr>
      </p:sp>
      <p:pic>
        <p:nvPicPr>
          <p:cNvPr id="25" name="Image 3" descr="/tmp/claude-0/-home-user/22b099b3-5195-5dc8-9cf2-1c5020dc8f38/scratchpad/deck/icons/times.png">    </p:cNvPr>
          <p:cNvPicPr>
            <a:picLocks noChangeAspect="1"/>
          </p:cNvPicPr>
          <p:nvPr/>
        </p:nvPicPr>
        <p:blipFill>
          <a:blip r:embed="rId4"/>
          <a:stretch>
            <a:fillRect/>
          </a:stretch>
        </p:blipFill>
        <p:spPr>
          <a:xfrm>
            <a:off x="4639666" y="3249778"/>
            <a:ext cx="175565" cy="175565"/>
          </a:xfrm>
          <a:prstGeom prst="rect">
            <a:avLst/>
          </a:prstGeom>
        </p:spPr>
      </p:pic>
      <p:sp>
        <p:nvSpPr>
          <p:cNvPr id="26" name="Text 19"/>
          <p:cNvSpPr/>
          <p:nvPr/>
        </p:nvSpPr>
        <p:spPr>
          <a:xfrm>
            <a:off x="5038344" y="3081528"/>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Govt (closed ~48k)</a:t>
            </a:r>
            <a:endParaRPr lang="en-US" sz="1080" dirty="0"/>
          </a:p>
        </p:txBody>
      </p:sp>
      <p:sp>
        <p:nvSpPr>
          <p:cNvPr id="27" name="Shape 20"/>
          <p:cNvSpPr/>
          <p:nvPr/>
        </p:nvSpPr>
        <p:spPr>
          <a:xfrm>
            <a:off x="4544568" y="3959352"/>
            <a:ext cx="365760" cy="365760"/>
          </a:xfrm>
          <a:prstGeom prst="ellipse">
            <a:avLst/>
          </a:prstGeom>
          <a:solidFill>
            <a:srgbClr val="F5E6C4"/>
          </a:solidFill>
          <a:ln/>
        </p:spPr>
      </p:sp>
      <p:pic>
        <p:nvPicPr>
          <p:cNvPr id="28" name="Image 4" descr="/tmp/claude-0/-home-user/22b099b3-5195-5dc8-9cf2-1c5020dc8f38/scratchpad/deck/icons/checkNavy.png">    </p:cNvPr>
          <p:cNvPicPr>
            <a:picLocks noChangeAspect="1"/>
          </p:cNvPicPr>
          <p:nvPr/>
        </p:nvPicPr>
        <p:blipFill>
          <a:blip r:embed="rId5"/>
          <a:stretch>
            <a:fillRect/>
          </a:stretch>
        </p:blipFill>
        <p:spPr>
          <a:xfrm>
            <a:off x="4639666" y="4054450"/>
            <a:ext cx="175565" cy="175565"/>
          </a:xfrm>
          <a:prstGeom prst="rect">
            <a:avLst/>
          </a:prstGeom>
        </p:spPr>
      </p:pic>
      <p:sp>
        <p:nvSpPr>
          <p:cNvPr id="29" name="Text 21"/>
          <p:cNvSpPr/>
          <p:nvPr/>
        </p:nvSpPr>
        <p:spPr>
          <a:xfrm>
            <a:off x="5038344" y="3886200"/>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Private seat likely — fee is the question</a:t>
            </a:r>
            <a:endParaRPr lang="en-US" sz="1080" dirty="0"/>
          </a:p>
        </p:txBody>
      </p:sp>
      <p:sp>
        <p:nvSpPr>
          <p:cNvPr id="30" name="Shape 22"/>
          <p:cNvSpPr/>
          <p:nvPr/>
        </p:nvSpPr>
        <p:spPr>
          <a:xfrm>
            <a:off x="4544568" y="4764024"/>
            <a:ext cx="365760" cy="365760"/>
          </a:xfrm>
          <a:prstGeom prst="ellipse">
            <a:avLst/>
          </a:prstGeom>
          <a:solidFill>
            <a:srgbClr val="F5E6C4"/>
          </a:solidFill>
          <a:ln/>
        </p:spPr>
      </p:sp>
      <p:pic>
        <p:nvPicPr>
          <p:cNvPr id="31" name="Image 5" descr="/tmp/claude-0/-home-user/22b099b3-5195-5dc8-9cf2-1c5020dc8f38/scratchpad/deck/icons/checkNavy.png">    </p:cNvPr>
          <p:cNvPicPr>
            <a:picLocks noChangeAspect="1"/>
          </p:cNvPicPr>
          <p:nvPr/>
        </p:nvPicPr>
        <p:blipFill>
          <a:blip r:embed="rId6"/>
          <a:stretch>
            <a:fillRect/>
          </a:stretch>
        </p:blipFill>
        <p:spPr>
          <a:xfrm>
            <a:off x="4639666" y="4859122"/>
            <a:ext cx="175565" cy="175565"/>
          </a:xfrm>
          <a:prstGeom prst="rect">
            <a:avLst/>
          </a:prstGeom>
        </p:spPr>
      </p:pic>
      <p:sp>
        <p:nvSpPr>
          <p:cNvPr id="32" name="Text 23"/>
          <p:cNvSpPr/>
          <p:nvPr/>
        </p:nvSpPr>
        <p:spPr>
          <a:xfrm>
            <a:off x="5038344" y="4690872"/>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Decision = total outflow vs budget</a:t>
            </a:r>
            <a:endParaRPr lang="en-US" sz="1080" dirty="0"/>
          </a:p>
        </p:txBody>
      </p:sp>
      <p:sp>
        <p:nvSpPr>
          <p:cNvPr id="33" name="Shape 24"/>
          <p:cNvSpPr/>
          <p:nvPr/>
        </p:nvSpPr>
        <p:spPr>
          <a:xfrm>
            <a:off x="8028432" y="1691640"/>
            <a:ext cx="3611880" cy="4114800"/>
          </a:xfrm>
          <a:prstGeom prst="roundRect">
            <a:avLst>
              <a:gd name="adj" fmla="val 2532"/>
            </a:avLst>
          </a:prstGeom>
          <a:solidFill>
            <a:srgbClr val="FFFFFF"/>
          </a:solidFill>
          <a:ln/>
        </p:spPr>
      </p:sp>
      <p:sp>
        <p:nvSpPr>
          <p:cNvPr id="34" name="Shape 25"/>
          <p:cNvSpPr/>
          <p:nvPr/>
        </p:nvSpPr>
        <p:spPr>
          <a:xfrm>
            <a:off x="8284464" y="1938528"/>
            <a:ext cx="960120" cy="384048"/>
          </a:xfrm>
          <a:prstGeom prst="roundRect">
            <a:avLst>
              <a:gd name="adj" fmla="val 50000"/>
            </a:avLst>
          </a:prstGeom>
          <a:solidFill>
            <a:srgbClr val="C6962E"/>
          </a:solidFill>
          <a:ln/>
        </p:spPr>
      </p:sp>
      <p:sp>
        <p:nvSpPr>
          <p:cNvPr id="35" name="Text 26"/>
          <p:cNvSpPr/>
          <p:nvPr/>
        </p:nvSpPr>
        <p:spPr>
          <a:xfrm>
            <a:off x="8284464" y="1938528"/>
            <a:ext cx="960120" cy="384048"/>
          </a:xfrm>
          <a:prstGeom prst="rect">
            <a:avLst/>
          </a:prstGeom>
          <a:noFill/>
          <a:ln/>
        </p:spPr>
        <p:txBody>
          <a:bodyPr wrap="square" lIns="0" tIns="0" rIns="0" bIns="0" rtlCol="0" anchor="ctr"/>
          <a:lstStyle/>
          <a:p>
            <a:pPr algn="ctr" indent="0" marL="0">
              <a:buNone/>
            </a:pPr>
            <a:r>
              <a:rPr lang="en-US" sz="1150" b="1" dirty="0">
                <a:solidFill>
                  <a:srgbClr val="0B1A35"/>
                </a:solidFill>
                <a:latin typeface="Manrope" pitchFamily="34" charset="0"/>
                <a:ea typeface="Manrope" pitchFamily="34" charset="-122"/>
                <a:cs typeface="Manrope" pitchFamily="34" charset="-120"/>
              </a:rPr>
              <a:t>SC</a:t>
            </a:r>
            <a:endParaRPr lang="en-US" sz="1150" dirty="0"/>
          </a:p>
        </p:txBody>
      </p:sp>
      <p:sp>
        <p:nvSpPr>
          <p:cNvPr id="36" name="Text 27"/>
          <p:cNvSpPr/>
          <p:nvPr/>
        </p:nvSpPr>
        <p:spPr>
          <a:xfrm>
            <a:off x="8284464" y="2395728"/>
            <a:ext cx="3099816" cy="566928"/>
          </a:xfrm>
          <a:prstGeom prst="rect">
            <a:avLst/>
          </a:prstGeom>
          <a:noFill/>
          <a:ln/>
        </p:spPr>
        <p:txBody>
          <a:bodyPr wrap="square" lIns="0" tIns="0" rIns="0" bIns="0" rtlCol="0" anchor="ctr"/>
          <a:lstStyle/>
          <a:p>
            <a:pPr indent="0" marL="0">
              <a:buNone/>
            </a:pPr>
            <a:r>
              <a:rPr lang="en-US" sz="2700" b="1" dirty="0">
                <a:solidFill>
                  <a:srgbClr val="0B1A35"/>
                </a:solidFill>
                <a:latin typeface="Cormorant Garamond" pitchFamily="34" charset="0"/>
                <a:ea typeface="Cormorant Garamond" pitchFamily="34" charset="-122"/>
                <a:cs typeface="Cormorant Garamond" pitchFamily="34" charset="-120"/>
              </a:rPr>
              <a:t>AIR 3,20,000</a:t>
            </a:r>
            <a:endParaRPr lang="en-US" sz="2700" dirty="0"/>
          </a:p>
        </p:txBody>
      </p:sp>
      <p:sp>
        <p:nvSpPr>
          <p:cNvPr id="37" name="Shape 28"/>
          <p:cNvSpPr/>
          <p:nvPr/>
        </p:nvSpPr>
        <p:spPr>
          <a:xfrm>
            <a:off x="8284464" y="3154680"/>
            <a:ext cx="365760" cy="365760"/>
          </a:xfrm>
          <a:prstGeom prst="ellipse">
            <a:avLst/>
          </a:prstGeom>
          <a:solidFill>
            <a:srgbClr val="F5E6C4"/>
          </a:solidFill>
          <a:ln/>
        </p:spPr>
      </p:sp>
      <p:pic>
        <p:nvPicPr>
          <p:cNvPr id="38" name="Image 6" descr="/tmp/claude-0/-home-user/22b099b3-5195-5dc8-9cf2-1c5020dc8f38/scratchpad/deck/icons/times.png">    </p:cNvPr>
          <p:cNvPicPr>
            <a:picLocks noChangeAspect="1"/>
          </p:cNvPicPr>
          <p:nvPr/>
        </p:nvPicPr>
        <p:blipFill>
          <a:blip r:embed="rId7"/>
          <a:stretch>
            <a:fillRect/>
          </a:stretch>
        </p:blipFill>
        <p:spPr>
          <a:xfrm>
            <a:off x="8379562" y="3249778"/>
            <a:ext cx="175565" cy="175565"/>
          </a:xfrm>
          <a:prstGeom prst="rect">
            <a:avLst/>
          </a:prstGeom>
        </p:spPr>
      </p:pic>
      <p:sp>
        <p:nvSpPr>
          <p:cNvPr id="39" name="Text 29"/>
          <p:cNvSpPr/>
          <p:nvPr/>
        </p:nvSpPr>
        <p:spPr>
          <a:xfrm>
            <a:off x="8778240" y="3081528"/>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2025 closed ~1.61L — difficult, sach hai</a:t>
            </a:r>
            <a:endParaRPr lang="en-US" sz="1080" dirty="0"/>
          </a:p>
        </p:txBody>
      </p:sp>
      <p:sp>
        <p:nvSpPr>
          <p:cNvPr id="40" name="Shape 30"/>
          <p:cNvSpPr/>
          <p:nvPr/>
        </p:nvSpPr>
        <p:spPr>
          <a:xfrm>
            <a:off x="8284464" y="3959352"/>
            <a:ext cx="365760" cy="365760"/>
          </a:xfrm>
          <a:prstGeom prst="ellipse">
            <a:avLst/>
          </a:prstGeom>
          <a:solidFill>
            <a:srgbClr val="F5E6C4"/>
          </a:solidFill>
          <a:ln/>
        </p:spPr>
      </p:sp>
      <p:pic>
        <p:nvPicPr>
          <p:cNvPr id="41" name="Image 7" descr="/tmp/claude-0/-home-user/22b099b3-5195-5dc8-9cf2-1c5020dc8f38/scratchpad/deck/icons/checkNavy.png">    </p:cNvPr>
          <p:cNvPicPr>
            <a:picLocks noChangeAspect="1"/>
          </p:cNvPicPr>
          <p:nvPr/>
        </p:nvPicPr>
        <p:blipFill>
          <a:blip r:embed="rId8"/>
          <a:stretch>
            <a:fillRect/>
          </a:stretch>
        </p:blipFill>
        <p:spPr>
          <a:xfrm>
            <a:off x="8379562" y="4054450"/>
            <a:ext cx="175565" cy="175565"/>
          </a:xfrm>
          <a:prstGeom prst="rect">
            <a:avLst/>
          </a:prstGeom>
        </p:spPr>
      </p:pic>
      <p:sp>
        <p:nvSpPr>
          <p:cNvPr id="42" name="Text 31"/>
          <p:cNvSpPr/>
          <p:nvPr/>
        </p:nvSpPr>
        <p:spPr>
          <a:xfrm>
            <a:off x="8778240" y="3886200"/>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Attend ALL rounds — stray-round miracles happen</a:t>
            </a:r>
            <a:endParaRPr lang="en-US" sz="1080" dirty="0"/>
          </a:p>
        </p:txBody>
      </p:sp>
      <p:sp>
        <p:nvSpPr>
          <p:cNvPr id="43" name="Shape 32"/>
          <p:cNvSpPr/>
          <p:nvPr/>
        </p:nvSpPr>
        <p:spPr>
          <a:xfrm>
            <a:off x="8284464" y="4764024"/>
            <a:ext cx="365760" cy="365760"/>
          </a:xfrm>
          <a:prstGeom prst="ellipse">
            <a:avLst/>
          </a:prstGeom>
          <a:solidFill>
            <a:srgbClr val="F5E6C4"/>
          </a:solidFill>
          <a:ln/>
        </p:spPr>
      </p:sp>
      <p:pic>
        <p:nvPicPr>
          <p:cNvPr id="44" name="Image 8" descr="/tmp/claude-0/-home-user/22b099b3-5195-5dc8-9cf2-1c5020dc8f38/scratchpad/deck/icons/checkNavy.png">    </p:cNvPr>
          <p:cNvPicPr>
            <a:picLocks noChangeAspect="1"/>
          </p:cNvPicPr>
          <p:nvPr/>
        </p:nvPicPr>
        <p:blipFill>
          <a:blip r:embed="rId9"/>
          <a:stretch>
            <a:fillRect/>
          </a:stretch>
        </p:blipFill>
        <p:spPr>
          <a:xfrm>
            <a:off x="8379562" y="4859122"/>
            <a:ext cx="175565" cy="175565"/>
          </a:xfrm>
          <a:prstGeom prst="rect">
            <a:avLst/>
          </a:prstGeom>
        </p:spPr>
      </p:pic>
      <p:sp>
        <p:nvSpPr>
          <p:cNvPr id="45" name="Text 33"/>
          <p:cNvSpPr/>
          <p:nvPr/>
        </p:nvSpPr>
        <p:spPr>
          <a:xfrm>
            <a:off x="8778240" y="4690872"/>
            <a:ext cx="2606040" cy="777240"/>
          </a:xfrm>
          <a:prstGeom prst="rect">
            <a:avLst/>
          </a:prstGeom>
          <a:noFill/>
          <a:ln/>
        </p:spPr>
        <p:txBody>
          <a:bodyPr wrap="square" lIns="0" tIns="0" rIns="0" bIns="0" rtlCol="0" anchor="ctr"/>
          <a:lstStyle/>
          <a:p>
            <a:pPr indent="0" marL="0">
              <a:buNone/>
            </a:pPr>
            <a:r>
              <a:rPr lang="en-US" sz="1080" dirty="0">
                <a:solidFill>
                  <a:srgbClr val="22304A"/>
                </a:solidFill>
                <a:latin typeface="Manrope" pitchFamily="34" charset="0"/>
                <a:ea typeface="Manrope" pitchFamily="34" charset="-122"/>
                <a:cs typeface="Manrope" pitchFamily="34" charset="-120"/>
              </a:rPr>
              <a:t>Backups ready: BDS / BAMS / BHMS</a:t>
            </a:r>
            <a:endParaRPr lang="en-US" sz="1080" dirty="0"/>
          </a:p>
        </p:txBody>
      </p:sp>
      <p:sp>
        <p:nvSpPr>
          <p:cNvPr id="46" name="Shape 34"/>
          <p:cNvSpPr/>
          <p:nvPr/>
        </p:nvSpPr>
        <p:spPr>
          <a:xfrm>
            <a:off x="548640" y="6272784"/>
            <a:ext cx="11091672" cy="384048"/>
          </a:xfrm>
          <a:prstGeom prst="roundRect">
            <a:avLst>
              <a:gd name="adj" fmla="val 14286"/>
            </a:avLst>
          </a:prstGeom>
          <a:solidFill>
            <a:srgbClr val="17294F"/>
          </a:solidFill>
          <a:ln/>
        </p:spPr>
      </p:sp>
      <p:sp>
        <p:nvSpPr>
          <p:cNvPr id="47" name="Text 35"/>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F5E6C4"/>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12</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4 · PRIVATE</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Private Colleges: Closing Ranks</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MH CET Cell private quota — category-wise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926080"/>
                <a:gridCol w="8165592"/>
              </a:tblGrid>
              <a:tr h="502920">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Category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Expected private closing (AIR)</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GEN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GEN]</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EWS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EWS]</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OBC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OBC]</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SC]</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ST]</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02920">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PwD</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MH CET Cell 2025 private closing — PwD]</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Shape 4"/>
          <p:cNvSpPr/>
          <p:nvPr/>
        </p:nvSpPr>
        <p:spPr>
          <a:xfrm>
            <a:off x="548640" y="5349240"/>
            <a:ext cx="11091672" cy="658368"/>
          </a:xfrm>
          <a:prstGeom prst="roundRect">
            <a:avLst>
              <a:gd name="adj" fmla="val 11111"/>
            </a:avLst>
          </a:prstGeom>
          <a:solidFill>
            <a:srgbClr val="0B1A35"/>
          </a:solidFill>
          <a:ln/>
        </p:spPr>
      </p:sp>
      <p:sp>
        <p:nvSpPr>
          <p:cNvPr id="9" name="Text 5"/>
          <p:cNvSpPr/>
          <p:nvPr/>
        </p:nvSpPr>
        <p:spPr>
          <a:xfrm>
            <a:off x="868680" y="5349240"/>
            <a:ext cx="10451592" cy="658368"/>
          </a:xfrm>
          <a:prstGeom prst="rect">
            <a:avLst/>
          </a:prstGeom>
          <a:noFill/>
          <a:ln/>
        </p:spPr>
        <p:txBody>
          <a:bodyPr wrap="square" lIns="0" tIns="0" rIns="0" bIns="0" rtlCol="0" anchor="ctr"/>
          <a:lstStyle/>
          <a:p>
            <a:pPr indent="0" marL="0">
              <a:buNone/>
            </a:pPr>
            <a:r>
              <a:rPr lang="en-US" sz="1200" b="1" dirty="0">
                <a:solidFill>
                  <a:srgbClr val="E0B85C"/>
                </a:solidFill>
                <a:latin typeface="Manrope" pitchFamily="34" charset="0"/>
                <a:ea typeface="Manrope" pitchFamily="34" charset="-122"/>
                <a:cs typeface="Manrope" pitchFamily="34" charset="-120"/>
              </a:rPr>
              <a:t>Practical note: </a:t>
            </a:r>
            <a:pPr indent="0" marL="0">
              <a:buNone/>
            </a:pPr>
            <a:r>
              <a:rPr lang="en-US" sz="1200" dirty="0">
                <a:solidFill>
                  <a:srgbClr val="FFFFFF"/>
                </a:solidFill>
                <a:latin typeface="Manrope" pitchFamily="34" charset="0"/>
                <a:ea typeface="Manrope" pitchFamily="34" charset="-122"/>
                <a:cs typeface="Manrope" pitchFamily="34" charset="-120"/>
              </a:rPr>
              <a:t>private seats fill far deeper — lakhs, not thousands. Deemed closings run deeper still [VERIFY: MCC deemed 2025].</a:t>
            </a:r>
            <a:endParaRPr lang="en-US" sz="1200" dirty="0"/>
          </a:p>
        </p:txBody>
      </p:sp>
      <p:sp>
        <p:nvSpPr>
          <p:cNvPr id="10" name="Shape 6"/>
          <p:cNvSpPr/>
          <p:nvPr/>
        </p:nvSpPr>
        <p:spPr>
          <a:xfrm>
            <a:off x="548640" y="6272784"/>
            <a:ext cx="11091672" cy="384048"/>
          </a:xfrm>
          <a:prstGeom prst="roundRect">
            <a:avLst>
              <a:gd name="adj" fmla="val 14286"/>
            </a:avLst>
          </a:prstGeom>
          <a:solidFill>
            <a:srgbClr val="F5E6C4"/>
          </a:solidFill>
          <a:ln/>
        </p:spPr>
      </p:sp>
      <p:sp>
        <p:nvSpPr>
          <p:cNvPr id="11" name="Text 7"/>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13</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4 · PRIVATE</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Seat Milna vs Seat Parvadna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The critical honesty slide</a:t>
            </a:r>
            <a:endParaRPr lang="en-US" sz="1300" dirty="0"/>
          </a:p>
        </p:txBody>
      </p:sp>
      <p:sp>
        <p:nvSpPr>
          <p:cNvPr id="7" name="Shape 4"/>
          <p:cNvSpPr/>
          <p:nvPr/>
        </p:nvSpPr>
        <p:spPr>
          <a:xfrm>
            <a:off x="640080" y="1783080"/>
            <a:ext cx="5120640" cy="3017520"/>
          </a:xfrm>
          <a:prstGeom prst="roundRect">
            <a:avLst>
              <a:gd name="adj" fmla="val 3030"/>
            </a:avLst>
          </a:prstGeom>
          <a:solidFill>
            <a:srgbClr val="17294F"/>
          </a:solidFill>
          <a:ln/>
        </p:spPr>
      </p:sp>
      <p:sp>
        <p:nvSpPr>
          <p:cNvPr id="8" name="Shape 5"/>
          <p:cNvSpPr/>
          <p:nvPr/>
        </p:nvSpPr>
        <p:spPr>
          <a:xfrm>
            <a:off x="2898648" y="2057400"/>
            <a:ext cx="685800" cy="685800"/>
          </a:xfrm>
          <a:prstGeom prst="ellipse">
            <a:avLst/>
          </a:prstGeom>
          <a:solidFill>
            <a:srgbClr val="F5E6C4"/>
          </a:solidFill>
          <a:ln/>
        </p:spPr>
      </p:sp>
      <p:pic>
        <p:nvPicPr>
          <p:cNvPr id="9" name="Image 0" descr="/tmp/claude-0/-home-user/22b099b3-5195-5dc8-9cf2-1c5020dc8f38/scratchpad/deck/icons/door.png">    </p:cNvPr>
          <p:cNvPicPr>
            <a:picLocks noChangeAspect="1"/>
          </p:cNvPicPr>
          <p:nvPr/>
        </p:nvPicPr>
        <p:blipFill>
          <a:blip r:embed="rId1"/>
          <a:stretch>
            <a:fillRect/>
          </a:stretch>
        </p:blipFill>
        <p:spPr>
          <a:xfrm>
            <a:off x="3076956" y="2235708"/>
            <a:ext cx="329184" cy="329184"/>
          </a:xfrm>
          <a:prstGeom prst="rect">
            <a:avLst/>
          </a:prstGeom>
        </p:spPr>
      </p:pic>
      <p:sp>
        <p:nvSpPr>
          <p:cNvPr id="10" name="Text 6"/>
          <p:cNvSpPr/>
          <p:nvPr/>
        </p:nvSpPr>
        <p:spPr>
          <a:xfrm>
            <a:off x="640080" y="2880360"/>
            <a:ext cx="5120640" cy="411480"/>
          </a:xfrm>
          <a:prstGeom prst="rect">
            <a:avLst/>
          </a:prstGeom>
          <a:noFill/>
          <a:ln/>
        </p:spPr>
        <p:txBody>
          <a:bodyPr wrap="square" lIns="0" tIns="0" rIns="0" bIns="0" rtlCol="0" anchor="ctr"/>
          <a:lstStyle/>
          <a:p>
            <a:pPr algn="ctr" indent="0" marL="0">
              <a:buNone/>
            </a:pPr>
            <a:r>
              <a:rPr lang="en-US" sz="1500" b="1" spc="300" kern="0" dirty="0">
                <a:solidFill>
                  <a:srgbClr val="FFFFFF"/>
                </a:solidFill>
                <a:latin typeface="Manrope" pitchFamily="34" charset="0"/>
                <a:ea typeface="Manrope" pitchFamily="34" charset="-122"/>
                <a:cs typeface="Manrope" pitchFamily="34" charset="-120"/>
              </a:rPr>
              <a:t>SEAT</a:t>
            </a:r>
            <a:endParaRPr lang="en-US" sz="1500" dirty="0"/>
          </a:p>
        </p:txBody>
      </p:sp>
      <p:sp>
        <p:nvSpPr>
          <p:cNvPr id="11" name="Text 7"/>
          <p:cNvSpPr/>
          <p:nvPr/>
        </p:nvSpPr>
        <p:spPr>
          <a:xfrm>
            <a:off x="914400" y="3337560"/>
            <a:ext cx="4572000" cy="822960"/>
          </a:xfrm>
          <a:prstGeom prst="rect">
            <a:avLst/>
          </a:prstGeom>
          <a:noFill/>
          <a:ln/>
        </p:spPr>
        <p:txBody>
          <a:bodyPr wrap="square" lIns="0" tIns="0" rIns="0" bIns="0" rtlCol="0" anchor="ctr"/>
          <a:lstStyle/>
          <a:p>
            <a:pPr algn="ctr" indent="0" marL="0">
              <a:buNone/>
            </a:pPr>
            <a:r>
              <a:rPr lang="en-US" sz="1250" dirty="0">
                <a:solidFill>
                  <a:srgbClr val="C9D2E2"/>
                </a:solidFill>
                <a:latin typeface="Manrope" pitchFamily="34" charset="0"/>
                <a:ea typeface="Manrope" pitchFamily="34" charset="-122"/>
                <a:cs typeface="Manrope" pitchFamily="34" charset="-120"/>
              </a:rPr>
              <a:t>Often available at a rank where</a:t>
            </a:r>
            <a:endParaRPr lang="en-US" sz="1250" dirty="0"/>
          </a:p>
          <a:p>
            <a:pPr algn="ctr" indent="0" marL="0">
              <a:buNone/>
            </a:pPr>
            <a:r>
              <a:rPr lang="en-US" sz="1250" dirty="0">
                <a:solidFill>
                  <a:srgbClr val="C9D2E2"/>
                </a:solidFill>
                <a:latin typeface="Manrope" pitchFamily="34" charset="0"/>
                <a:ea typeface="Manrope" pitchFamily="34" charset="-122"/>
                <a:cs typeface="Manrope" pitchFamily="34" charset="-120"/>
              </a:rPr>
              <a:t>a government seat is not</a:t>
            </a:r>
            <a:endParaRPr lang="en-US" sz="1250" dirty="0"/>
          </a:p>
        </p:txBody>
      </p:sp>
      <p:sp>
        <p:nvSpPr>
          <p:cNvPr id="12" name="Shape 8"/>
          <p:cNvSpPr/>
          <p:nvPr/>
        </p:nvSpPr>
        <p:spPr>
          <a:xfrm>
            <a:off x="6428232" y="1783080"/>
            <a:ext cx="5120640" cy="3017520"/>
          </a:xfrm>
          <a:prstGeom prst="roundRect">
            <a:avLst>
              <a:gd name="adj" fmla="val 3030"/>
            </a:avLst>
          </a:prstGeom>
          <a:solidFill>
            <a:srgbClr val="17294F"/>
          </a:solidFill>
          <a:ln/>
        </p:spPr>
      </p:sp>
      <p:sp>
        <p:nvSpPr>
          <p:cNvPr id="13" name="Shape 9"/>
          <p:cNvSpPr/>
          <p:nvPr/>
        </p:nvSpPr>
        <p:spPr>
          <a:xfrm>
            <a:off x="8686800" y="2057400"/>
            <a:ext cx="685800" cy="685800"/>
          </a:xfrm>
          <a:prstGeom prst="ellipse">
            <a:avLst/>
          </a:prstGeom>
          <a:solidFill>
            <a:srgbClr val="F5E6C4"/>
          </a:solidFill>
          <a:ln/>
        </p:spPr>
      </p:sp>
      <p:pic>
        <p:nvPicPr>
          <p:cNvPr id="14" name="Image 1" descr="/tmp/claude-0/-home-user/22b099b3-5195-5dc8-9cf2-1c5020dc8f38/scratchpad/deck/icons/scale.png">    </p:cNvPr>
          <p:cNvPicPr>
            <a:picLocks noChangeAspect="1"/>
          </p:cNvPicPr>
          <p:nvPr/>
        </p:nvPicPr>
        <p:blipFill>
          <a:blip r:embed="rId2"/>
          <a:stretch>
            <a:fillRect/>
          </a:stretch>
        </p:blipFill>
        <p:spPr>
          <a:xfrm>
            <a:off x="8865108" y="2235708"/>
            <a:ext cx="329184" cy="329184"/>
          </a:xfrm>
          <a:prstGeom prst="rect">
            <a:avLst/>
          </a:prstGeom>
        </p:spPr>
      </p:pic>
      <p:sp>
        <p:nvSpPr>
          <p:cNvPr id="15" name="Text 10"/>
          <p:cNvSpPr/>
          <p:nvPr/>
        </p:nvSpPr>
        <p:spPr>
          <a:xfrm>
            <a:off x="6428232" y="2880360"/>
            <a:ext cx="5120640" cy="411480"/>
          </a:xfrm>
          <a:prstGeom prst="rect">
            <a:avLst/>
          </a:prstGeom>
          <a:noFill/>
          <a:ln/>
        </p:spPr>
        <p:txBody>
          <a:bodyPr wrap="square" lIns="0" tIns="0" rIns="0" bIns="0" rtlCol="0" anchor="ctr"/>
          <a:lstStyle/>
          <a:p>
            <a:pPr algn="ctr" indent="0" marL="0">
              <a:buNone/>
            </a:pPr>
            <a:r>
              <a:rPr lang="en-US" sz="1500" b="1" spc="300" kern="0" dirty="0">
                <a:solidFill>
                  <a:srgbClr val="FFFFFF"/>
                </a:solidFill>
                <a:latin typeface="Manrope" pitchFamily="34" charset="0"/>
                <a:ea typeface="Manrope" pitchFamily="34" charset="-122"/>
                <a:cs typeface="Manrope" pitchFamily="34" charset="-120"/>
              </a:rPr>
              <a:t>FEE</a:t>
            </a:r>
            <a:endParaRPr lang="en-US" sz="1500" dirty="0"/>
          </a:p>
        </p:txBody>
      </p:sp>
      <p:sp>
        <p:nvSpPr>
          <p:cNvPr id="16" name="Text 11"/>
          <p:cNvSpPr/>
          <p:nvPr/>
        </p:nvSpPr>
        <p:spPr>
          <a:xfrm>
            <a:off x="6702552" y="3337560"/>
            <a:ext cx="4572000" cy="822960"/>
          </a:xfrm>
          <a:prstGeom prst="rect">
            <a:avLst/>
          </a:prstGeom>
          <a:noFill/>
          <a:ln/>
        </p:spPr>
        <p:txBody>
          <a:bodyPr wrap="square" lIns="0" tIns="0" rIns="0" bIns="0" rtlCol="0" anchor="ctr"/>
          <a:lstStyle/>
          <a:p>
            <a:pPr algn="ctr" indent="0" marL="0">
              <a:buNone/>
            </a:pPr>
            <a:r>
              <a:rPr lang="en-US" sz="1250" dirty="0">
                <a:solidFill>
                  <a:srgbClr val="C9D2E2"/>
                </a:solidFill>
                <a:latin typeface="Manrope" pitchFamily="34" charset="0"/>
                <a:ea typeface="Manrope" pitchFamily="34" charset="-122"/>
                <a:cs typeface="Manrope" pitchFamily="34" charset="-120"/>
              </a:rPr>
              <a:t>At a price that can change the</a:t>
            </a:r>
            <a:endParaRPr lang="en-US" sz="1250" dirty="0"/>
          </a:p>
          <a:p>
            <a:pPr algn="ctr" indent="0" marL="0">
              <a:buNone/>
            </a:pPr>
            <a:r>
              <a:rPr lang="en-US" sz="1250" dirty="0">
                <a:solidFill>
                  <a:srgbClr val="C9D2E2"/>
                </a:solidFill>
                <a:latin typeface="Manrope" pitchFamily="34" charset="0"/>
                <a:ea typeface="Manrope" pitchFamily="34" charset="-122"/>
                <a:cs typeface="Manrope" pitchFamily="34" charset="-120"/>
              </a:rPr>
              <a:t>family’s financial life</a:t>
            </a:r>
            <a:endParaRPr lang="en-US" sz="1250" dirty="0"/>
          </a:p>
        </p:txBody>
      </p:sp>
      <p:sp>
        <p:nvSpPr>
          <p:cNvPr id="17" name="Text 12"/>
          <p:cNvSpPr/>
          <p:nvPr/>
        </p:nvSpPr>
        <p:spPr>
          <a:xfrm>
            <a:off x="0" y="4983480"/>
            <a:ext cx="12188952" cy="594360"/>
          </a:xfrm>
          <a:prstGeom prst="rect">
            <a:avLst/>
          </a:prstGeom>
          <a:noFill/>
          <a:ln/>
        </p:spPr>
        <p:txBody>
          <a:bodyPr wrap="square" lIns="0" tIns="0" rIns="0" bIns="0" rtlCol="0" anchor="ctr"/>
          <a:lstStyle/>
          <a:p>
            <a:pPr algn="ctr" indent="0" marL="0">
              <a:buNone/>
            </a:pPr>
            <a:r>
              <a:rPr lang="en-US" sz="2700" b="1" i="1" dirty="0">
                <a:solidFill>
                  <a:srgbClr val="C6962E"/>
                </a:solidFill>
                <a:latin typeface="Cormorant Garamond" pitchFamily="34" charset="0"/>
                <a:ea typeface="Cormorant Garamond" pitchFamily="34" charset="-122"/>
                <a:cs typeface="Cormorant Garamond" pitchFamily="34" charset="-120"/>
              </a:rPr>
              <a:t>“Milegi — par kis keemat par?”</a:t>
            </a:r>
            <a:endParaRPr lang="en-US" sz="2700" dirty="0"/>
          </a:p>
        </p:txBody>
      </p:sp>
      <p:sp>
        <p:nvSpPr>
          <p:cNvPr id="18" name="Shape 13"/>
          <p:cNvSpPr/>
          <p:nvPr/>
        </p:nvSpPr>
        <p:spPr>
          <a:xfrm>
            <a:off x="548640" y="6272784"/>
            <a:ext cx="11091672" cy="384048"/>
          </a:xfrm>
          <a:prstGeom prst="roundRect">
            <a:avLst>
              <a:gd name="adj" fmla="val 14286"/>
            </a:avLst>
          </a:prstGeom>
          <a:solidFill>
            <a:srgbClr val="17294F"/>
          </a:solidFill>
          <a:ln/>
        </p:spPr>
      </p:sp>
      <p:sp>
        <p:nvSpPr>
          <p:cNvPr id="19" name="Text 14"/>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F5E6C4"/>
                </a:solidFill>
                <a:latin typeface="Manrope" pitchFamily="34" charset="0"/>
                <a:ea typeface="Manrope" pitchFamily="34" charset="-122"/>
                <a:cs typeface="Manrope" pitchFamily="34" charset="-120"/>
              </a:rPr>
              <a:t>Maharashtra private tuition ≈ ₹9–22 lakh/year — indicative, subject to change · FRA schedule [VERIFY] · Controlled seminar use only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14</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4 · PRIVATE</a:t>
            </a:r>
            <a:endParaRPr lang="en-US" sz="900" dirty="0"/>
          </a:p>
        </p:txBody>
      </p:sp>
      <p:sp>
        <p:nvSpPr>
          <p:cNvPr id="5" name="Text 2"/>
          <p:cNvSpPr/>
          <p:nvPr/>
        </p:nvSpPr>
        <p:spPr>
          <a:xfrm>
            <a:off x="548640" y="384048"/>
            <a:ext cx="9326880" cy="777240"/>
          </a:xfrm>
          <a:prstGeom prst="rect">
            <a:avLst/>
          </a:prstGeom>
          <a:noFill/>
          <a:ln/>
        </p:spPr>
        <p:txBody>
          <a:bodyPr wrap="square" lIns="0" tIns="0" rIns="0" bIns="0" rtlCol="0" anchor="ctr"/>
          <a:lstStyle/>
          <a:p>
            <a:pPr indent="0" marL="0">
              <a:buNone/>
            </a:pPr>
            <a:r>
              <a:rPr lang="en-US" sz="2900" b="1" dirty="0">
                <a:solidFill>
                  <a:srgbClr val="0B1A35"/>
                </a:solidFill>
                <a:latin typeface="Cormorant Garamond" pitchFamily="34" charset="0"/>
                <a:ea typeface="Cormorant Garamond" pitchFamily="34" charset="-122"/>
                <a:cs typeface="Cormorant Garamond" pitchFamily="34" charset="-120"/>
              </a:rPr>
              <a:t>Deemed Universities: Teesri Category</a:t>
            </a:r>
            <a:endParaRPr lang="en-US" sz="29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MCC ke through, alag fee logic</a:t>
            </a:r>
            <a:endParaRPr lang="en-US" sz="1300" dirty="0"/>
          </a:p>
        </p:txBody>
      </p:sp>
      <p:sp>
        <p:nvSpPr>
          <p:cNvPr id="7" name="Shape 4"/>
          <p:cNvSpPr/>
          <p:nvPr/>
        </p:nvSpPr>
        <p:spPr>
          <a:xfrm>
            <a:off x="548640" y="1691640"/>
            <a:ext cx="3621024" cy="1371600"/>
          </a:xfrm>
          <a:prstGeom prst="roundRect">
            <a:avLst>
              <a:gd name="adj" fmla="val 6667"/>
            </a:avLst>
          </a:prstGeom>
          <a:solidFill>
            <a:srgbClr val="F2F4F8"/>
          </a:solidFill>
          <a:ln/>
        </p:spPr>
      </p:sp>
      <p:sp>
        <p:nvSpPr>
          <p:cNvPr id="8" name="Text 5"/>
          <p:cNvSpPr/>
          <p:nvPr/>
        </p:nvSpPr>
        <p:spPr>
          <a:xfrm>
            <a:off x="777240" y="1874520"/>
            <a:ext cx="3200400" cy="365760"/>
          </a:xfrm>
          <a:prstGeom prst="rect">
            <a:avLst/>
          </a:prstGeom>
          <a:noFill/>
          <a:ln/>
        </p:spPr>
        <p:txBody>
          <a:bodyPr wrap="square" lIns="0" tIns="0" rIns="0" bIns="0" rtlCol="0" anchor="ctr"/>
          <a:lstStyle/>
          <a:p>
            <a:pPr indent="0" marL="0">
              <a:buNone/>
            </a:pPr>
            <a:r>
              <a:rPr lang="en-US" sz="1450" b="1" dirty="0">
                <a:solidFill>
                  <a:srgbClr val="0B1A35"/>
                </a:solidFill>
                <a:latin typeface="Manrope" pitchFamily="34" charset="0"/>
                <a:ea typeface="Manrope" pitchFamily="34" charset="-122"/>
                <a:cs typeface="Manrope" pitchFamily="34" charset="-120"/>
              </a:rPr>
              <a:t>Government</a:t>
            </a:r>
            <a:endParaRPr lang="en-US" sz="1450" dirty="0"/>
          </a:p>
        </p:txBody>
      </p:sp>
      <p:sp>
        <p:nvSpPr>
          <p:cNvPr id="9" name="Text 6"/>
          <p:cNvSpPr/>
          <p:nvPr/>
        </p:nvSpPr>
        <p:spPr>
          <a:xfrm>
            <a:off x="777240" y="2286000"/>
            <a:ext cx="3200400" cy="548640"/>
          </a:xfrm>
          <a:prstGeom prst="rect">
            <a:avLst/>
          </a:prstGeom>
          <a:noFill/>
          <a:ln/>
        </p:spPr>
        <p:txBody>
          <a:bodyPr wrap="square" lIns="0" tIns="0" rIns="0" bIns="0" rtlCol="0" anchor="ctr"/>
          <a:lstStyle/>
          <a:p>
            <a:pPr indent="0" marL="0">
              <a:buNone/>
            </a:pPr>
            <a:r>
              <a:rPr lang="en-US" sz="1100" dirty="0">
                <a:solidFill>
                  <a:srgbClr val="5A6B85"/>
                </a:solidFill>
                <a:latin typeface="Manrope" pitchFamily="34" charset="0"/>
                <a:ea typeface="Manrope" pitchFamily="34" charset="-122"/>
                <a:cs typeface="Manrope" pitchFamily="34" charset="-120"/>
              </a:rPr>
              <a:t>FRA-regulated fees · rank decides</a:t>
            </a:r>
            <a:endParaRPr lang="en-US" sz="1100" dirty="0"/>
          </a:p>
        </p:txBody>
      </p:sp>
      <p:sp>
        <p:nvSpPr>
          <p:cNvPr id="10" name="Shape 7"/>
          <p:cNvSpPr/>
          <p:nvPr/>
        </p:nvSpPr>
        <p:spPr>
          <a:xfrm>
            <a:off x="4306824" y="1691640"/>
            <a:ext cx="3621024" cy="1371600"/>
          </a:xfrm>
          <a:prstGeom prst="roundRect">
            <a:avLst>
              <a:gd name="adj" fmla="val 6667"/>
            </a:avLst>
          </a:prstGeom>
          <a:solidFill>
            <a:srgbClr val="F2F4F8"/>
          </a:solidFill>
          <a:ln/>
        </p:spPr>
      </p:sp>
      <p:sp>
        <p:nvSpPr>
          <p:cNvPr id="11" name="Text 8"/>
          <p:cNvSpPr/>
          <p:nvPr/>
        </p:nvSpPr>
        <p:spPr>
          <a:xfrm>
            <a:off x="4535424" y="1874520"/>
            <a:ext cx="3200400" cy="365760"/>
          </a:xfrm>
          <a:prstGeom prst="rect">
            <a:avLst/>
          </a:prstGeom>
          <a:noFill/>
          <a:ln/>
        </p:spPr>
        <p:txBody>
          <a:bodyPr wrap="square" lIns="0" tIns="0" rIns="0" bIns="0" rtlCol="0" anchor="ctr"/>
          <a:lstStyle/>
          <a:p>
            <a:pPr indent="0" marL="0">
              <a:buNone/>
            </a:pPr>
            <a:r>
              <a:rPr lang="en-US" sz="1450" b="1" dirty="0">
                <a:solidFill>
                  <a:srgbClr val="0B1A35"/>
                </a:solidFill>
                <a:latin typeface="Manrope" pitchFamily="34" charset="0"/>
                <a:ea typeface="Manrope" pitchFamily="34" charset="-122"/>
                <a:cs typeface="Manrope" pitchFamily="34" charset="-120"/>
              </a:rPr>
              <a:t>Private (State)</a:t>
            </a:r>
            <a:endParaRPr lang="en-US" sz="1450" dirty="0"/>
          </a:p>
        </p:txBody>
      </p:sp>
      <p:sp>
        <p:nvSpPr>
          <p:cNvPr id="12" name="Text 9"/>
          <p:cNvSpPr/>
          <p:nvPr/>
        </p:nvSpPr>
        <p:spPr>
          <a:xfrm>
            <a:off x="4535424" y="2286000"/>
            <a:ext cx="3200400" cy="548640"/>
          </a:xfrm>
          <a:prstGeom prst="rect">
            <a:avLst/>
          </a:prstGeom>
          <a:noFill/>
          <a:ln/>
        </p:spPr>
        <p:txBody>
          <a:bodyPr wrap="square" lIns="0" tIns="0" rIns="0" bIns="0" rtlCol="0" anchor="ctr"/>
          <a:lstStyle/>
          <a:p>
            <a:pPr indent="0" marL="0">
              <a:buNone/>
            </a:pPr>
            <a:r>
              <a:rPr lang="en-US" sz="1100" dirty="0">
                <a:solidFill>
                  <a:srgbClr val="5A6B85"/>
                </a:solidFill>
                <a:latin typeface="Manrope" pitchFamily="34" charset="0"/>
                <a:ea typeface="Manrope" pitchFamily="34" charset="-122"/>
                <a:cs typeface="Manrope" pitchFamily="34" charset="-120"/>
              </a:rPr>
              <a:t>FRA-approved fee schedule</a:t>
            </a:r>
            <a:endParaRPr lang="en-US" sz="1100" dirty="0"/>
          </a:p>
        </p:txBody>
      </p:sp>
      <p:sp>
        <p:nvSpPr>
          <p:cNvPr id="13" name="Shape 10"/>
          <p:cNvSpPr/>
          <p:nvPr/>
        </p:nvSpPr>
        <p:spPr>
          <a:xfrm>
            <a:off x="8065008" y="1691640"/>
            <a:ext cx="3621024" cy="1371600"/>
          </a:xfrm>
          <a:prstGeom prst="roundRect">
            <a:avLst>
              <a:gd name="adj" fmla="val 6667"/>
            </a:avLst>
          </a:prstGeom>
          <a:solidFill>
            <a:srgbClr val="F5E6C4"/>
          </a:solidFill>
          <a:ln/>
        </p:spPr>
      </p:sp>
      <p:sp>
        <p:nvSpPr>
          <p:cNvPr id="14" name="Text 11"/>
          <p:cNvSpPr/>
          <p:nvPr/>
        </p:nvSpPr>
        <p:spPr>
          <a:xfrm>
            <a:off x="8293608" y="1874520"/>
            <a:ext cx="3200400" cy="365760"/>
          </a:xfrm>
          <a:prstGeom prst="rect">
            <a:avLst/>
          </a:prstGeom>
          <a:noFill/>
          <a:ln/>
        </p:spPr>
        <p:txBody>
          <a:bodyPr wrap="square" lIns="0" tIns="0" rIns="0" bIns="0" rtlCol="0" anchor="ctr"/>
          <a:lstStyle/>
          <a:p>
            <a:pPr indent="0" marL="0">
              <a:buNone/>
            </a:pPr>
            <a:r>
              <a:rPr lang="en-US" sz="1450" b="1" dirty="0">
                <a:solidFill>
                  <a:srgbClr val="0B1A35"/>
                </a:solidFill>
                <a:latin typeface="Manrope" pitchFamily="34" charset="0"/>
                <a:ea typeface="Manrope" pitchFamily="34" charset="-122"/>
                <a:cs typeface="Manrope" pitchFamily="34" charset="-120"/>
              </a:rPr>
              <a:t>Deemed</a:t>
            </a:r>
            <a:endParaRPr lang="en-US" sz="1450" dirty="0"/>
          </a:p>
        </p:txBody>
      </p:sp>
      <p:sp>
        <p:nvSpPr>
          <p:cNvPr id="15" name="Text 12"/>
          <p:cNvSpPr/>
          <p:nvPr/>
        </p:nvSpPr>
        <p:spPr>
          <a:xfrm>
            <a:off x="8293608" y="2286000"/>
            <a:ext cx="3200400" cy="548640"/>
          </a:xfrm>
          <a:prstGeom prst="rect">
            <a:avLst/>
          </a:prstGeom>
          <a:noFill/>
          <a:ln/>
        </p:spPr>
        <p:txBody>
          <a:bodyPr wrap="square" lIns="0" tIns="0" rIns="0" bIns="0" rtlCol="0" anchor="ctr"/>
          <a:lstStyle/>
          <a:p>
            <a:pPr indent="0" marL="0">
              <a:buNone/>
            </a:pPr>
            <a:r>
              <a:rPr lang="en-US" sz="1100" dirty="0">
                <a:solidFill>
                  <a:srgbClr val="6B5518"/>
                </a:solidFill>
                <a:latin typeface="Manrope" pitchFamily="34" charset="0"/>
                <a:ea typeface="Manrope" pitchFamily="34" charset="-122"/>
                <a:cs typeface="Manrope" pitchFamily="34" charset="-120"/>
              </a:rPr>
              <a:t>University sets its own fee — outside FRA</a:t>
            </a:r>
            <a:endParaRPr lang="en-US" sz="1100" dirty="0"/>
          </a:p>
        </p:txBody>
      </p:sp>
      <p:sp>
        <p:nvSpPr>
          <p:cNvPr id="16" name="Text 13"/>
          <p:cNvSpPr/>
          <p:nvPr/>
        </p:nvSpPr>
        <p:spPr>
          <a:xfrm>
            <a:off x="777240" y="3383280"/>
            <a:ext cx="1060704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22304A"/>
                </a:solidFill>
                <a:latin typeface="Manrope" pitchFamily="34" charset="0"/>
                <a:ea typeface="Manrope" pitchFamily="34" charset="-122"/>
                <a:cs typeface="Manrope" pitchFamily="34" charset="-120"/>
              </a:rPr>
              <a:t>Counselling via MCC deemed rounds — national pool, all-India competition</a:t>
            </a:r>
            <a:endParaRPr lang="en-US" sz="1400" dirty="0"/>
          </a:p>
          <a:p>
            <a:pPr marL="342900" indent="-342900">
              <a:spcAft>
                <a:spcPts val="1200"/>
              </a:spcAft>
              <a:buSzPct val="100000"/>
              <a:buChar char="•"/>
            </a:pPr>
            <a:r>
              <a:rPr lang="en-US" sz="1400" dirty="0">
                <a:solidFill>
                  <a:srgbClr val="22304A"/>
                </a:solidFill>
                <a:latin typeface="Manrope" pitchFamily="34" charset="0"/>
                <a:ea typeface="Manrope" pitchFamily="34" charset="-122"/>
                <a:cs typeface="Manrope" pitchFamily="34" charset="-120"/>
              </a:rPr>
              <a:t>Closings run deeper than state private  [VERIFY: MCC deemed 2025 closings]</a:t>
            </a:r>
            <a:endParaRPr lang="en-US" sz="1400" dirty="0"/>
          </a:p>
          <a:p>
            <a:pPr marL="342900" indent="-342900">
              <a:spcAft>
                <a:spcPts val="1200"/>
              </a:spcAft>
              <a:buSzPct val="100000"/>
              <a:buChar char="•"/>
            </a:pPr>
            <a:r>
              <a:rPr lang="en-US" sz="1400" dirty="0">
                <a:solidFill>
                  <a:srgbClr val="22304A"/>
                </a:solidFill>
                <a:latin typeface="Manrope" pitchFamily="34" charset="0"/>
                <a:ea typeface="Manrope" pitchFamily="34" charset="-122"/>
                <a:cs typeface="Manrope" pitchFamily="34" charset="-120"/>
              </a:rPr>
              <a:t>Fee range: [VERIFY: deemed MBBS fee band 2026-27]</a:t>
            </a:r>
            <a:endParaRPr lang="en-US" sz="1400" dirty="0"/>
          </a:p>
          <a:p>
            <a:pPr marL="342900" indent="-342900">
              <a:spcAft>
                <a:spcPts val="1200"/>
              </a:spcAft>
              <a:buSzPct val="100000"/>
              <a:buChar char="•"/>
            </a:pPr>
            <a:r>
              <a:rPr lang="en-US" sz="1400" dirty="0">
                <a:solidFill>
                  <a:srgbClr val="22304A"/>
                </a:solidFill>
                <a:latin typeface="Manrope" pitchFamily="34" charset="0"/>
                <a:ea typeface="Manrope" pitchFamily="34" charset="-122"/>
                <a:cs typeface="Manrope" pitchFamily="34" charset="-120"/>
              </a:rPr>
              <a:t>Ask every deemed university for its full written fee schedule before Round 1</a:t>
            </a:r>
            <a:endParaRPr lang="en-US" sz="1400" dirty="0"/>
          </a:p>
        </p:txBody>
      </p:sp>
      <p:sp>
        <p:nvSpPr>
          <p:cNvPr id="17" name="Shape 14"/>
          <p:cNvSpPr/>
          <p:nvPr/>
        </p:nvSpPr>
        <p:spPr>
          <a:xfrm>
            <a:off x="548640" y="6272784"/>
            <a:ext cx="11091672" cy="384048"/>
          </a:xfrm>
          <a:prstGeom prst="roundRect">
            <a:avLst>
              <a:gd name="adj" fmla="val 14286"/>
            </a:avLst>
          </a:prstGeom>
          <a:solidFill>
            <a:srgbClr val="F5E6C4"/>
          </a:solidFill>
          <a:ln/>
        </p:spPr>
      </p:sp>
      <p:sp>
        <p:nvSpPr>
          <p:cNvPr id="18" name="Text 15"/>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based on previous years' trends. Actual cutoffs vary each year with seat matrix, applicants and reservation rules.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15</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5 · FEES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FRA Kya Hai — Ek Minute Mein</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Fee Regulating Authority, Maharashtra</a:t>
            </a:r>
            <a:endParaRPr lang="en-US" sz="1300" dirty="0"/>
          </a:p>
        </p:txBody>
      </p:sp>
      <p:sp>
        <p:nvSpPr>
          <p:cNvPr id="7" name="Shape 4"/>
          <p:cNvSpPr/>
          <p:nvPr/>
        </p:nvSpPr>
        <p:spPr>
          <a:xfrm>
            <a:off x="5468112" y="1783080"/>
            <a:ext cx="1234440" cy="1234440"/>
          </a:xfrm>
          <a:prstGeom prst="ellipse">
            <a:avLst/>
          </a:prstGeom>
          <a:solidFill>
            <a:srgbClr val="F5E6C4"/>
          </a:solidFill>
          <a:ln/>
        </p:spPr>
      </p:sp>
      <p:pic>
        <p:nvPicPr>
          <p:cNvPr id="8" name="Image 0" descr="/tmp/claude-0/-home-user/22b099b3-5195-5dc8-9cf2-1c5020dc8f38/scratchpad/deck/icons/shield.png">    </p:cNvPr>
          <p:cNvPicPr>
            <a:picLocks noChangeAspect="1"/>
          </p:cNvPicPr>
          <p:nvPr/>
        </p:nvPicPr>
        <p:blipFill>
          <a:blip r:embed="rId1"/>
          <a:stretch>
            <a:fillRect/>
          </a:stretch>
        </p:blipFill>
        <p:spPr>
          <a:xfrm>
            <a:off x="5789066" y="2104034"/>
            <a:ext cx="592531" cy="592531"/>
          </a:xfrm>
          <a:prstGeom prst="rect">
            <a:avLst/>
          </a:prstGeom>
        </p:spPr>
      </p:pic>
      <p:sp>
        <p:nvSpPr>
          <p:cNvPr id="9" name="Text 5"/>
          <p:cNvSpPr/>
          <p:nvPr/>
        </p:nvSpPr>
        <p:spPr>
          <a:xfrm>
            <a:off x="4937760" y="3063240"/>
            <a:ext cx="2286000" cy="365760"/>
          </a:xfrm>
          <a:prstGeom prst="rect">
            <a:avLst/>
          </a:prstGeom>
          <a:noFill/>
          <a:ln/>
        </p:spPr>
        <p:txBody>
          <a:bodyPr wrap="square" lIns="0" tIns="0" rIns="0" bIns="0" rtlCol="0" anchor="ctr"/>
          <a:lstStyle/>
          <a:p>
            <a:pPr algn="ctr" indent="0" marL="0">
              <a:buNone/>
            </a:pPr>
            <a:r>
              <a:rPr lang="en-US" sz="1400" b="1" spc="200" kern="0" dirty="0">
                <a:solidFill>
                  <a:srgbClr val="0B1A35"/>
                </a:solidFill>
                <a:latin typeface="Manrope" pitchFamily="34" charset="0"/>
                <a:ea typeface="Manrope" pitchFamily="34" charset="-122"/>
                <a:cs typeface="Manrope" pitchFamily="34" charset="-120"/>
              </a:rPr>
              <a:t>FRA</a:t>
            </a:r>
            <a:endParaRPr lang="en-US" sz="1400" dirty="0"/>
          </a:p>
        </p:txBody>
      </p:sp>
      <p:sp>
        <p:nvSpPr>
          <p:cNvPr id="10" name="Shape 6"/>
          <p:cNvSpPr/>
          <p:nvPr/>
        </p:nvSpPr>
        <p:spPr>
          <a:xfrm>
            <a:off x="5120640" y="2743200"/>
            <a:ext cx="-2194560" cy="1005840"/>
          </a:xfrm>
          <a:prstGeom prst="line">
            <a:avLst/>
          </a:prstGeom>
          <a:noFill/>
          <a:ln w="19050">
            <a:solidFill>
              <a:srgbClr val="C6962E"/>
            </a:solidFill>
            <a:prstDash val="solid"/>
            <a:tailEnd type="triangle"/>
          </a:ln>
        </p:spPr>
      </p:sp>
      <p:sp>
        <p:nvSpPr>
          <p:cNvPr id="11" name="Shape 7"/>
          <p:cNvSpPr/>
          <p:nvPr/>
        </p:nvSpPr>
        <p:spPr>
          <a:xfrm>
            <a:off x="7086600" y="2743200"/>
            <a:ext cx="2194560" cy="1005840"/>
          </a:xfrm>
          <a:prstGeom prst="line">
            <a:avLst/>
          </a:prstGeom>
          <a:noFill/>
          <a:ln w="19050">
            <a:solidFill>
              <a:srgbClr val="C6962E"/>
            </a:solidFill>
            <a:prstDash val="solid"/>
            <a:tailEnd type="triangle"/>
          </a:ln>
        </p:spPr>
      </p:sp>
      <p:sp>
        <p:nvSpPr>
          <p:cNvPr id="12" name="Shape 8"/>
          <p:cNvSpPr/>
          <p:nvPr/>
        </p:nvSpPr>
        <p:spPr>
          <a:xfrm>
            <a:off x="822960" y="3886200"/>
            <a:ext cx="4572000" cy="1691640"/>
          </a:xfrm>
          <a:prstGeom prst="roundRect">
            <a:avLst>
              <a:gd name="adj" fmla="val 5405"/>
            </a:avLst>
          </a:prstGeom>
          <a:solidFill>
            <a:srgbClr val="F2F4F8"/>
          </a:solidFill>
          <a:ln/>
        </p:spPr>
      </p:sp>
      <p:sp>
        <p:nvSpPr>
          <p:cNvPr id="13" name="Text 9"/>
          <p:cNvSpPr/>
          <p:nvPr/>
        </p:nvSpPr>
        <p:spPr>
          <a:xfrm>
            <a:off x="1097280" y="4069080"/>
            <a:ext cx="4023360" cy="320040"/>
          </a:xfrm>
          <a:prstGeom prst="rect">
            <a:avLst/>
          </a:prstGeom>
          <a:noFill/>
          <a:ln/>
        </p:spPr>
        <p:txBody>
          <a:bodyPr wrap="square" lIns="0" tIns="0" rIns="0" bIns="0" rtlCol="0" anchor="ctr"/>
          <a:lstStyle/>
          <a:p>
            <a:pPr indent="0" marL="0">
              <a:buNone/>
            </a:pPr>
            <a:r>
              <a:rPr lang="en-US" sz="1100" b="1" spc="200" kern="0" dirty="0">
                <a:solidFill>
                  <a:srgbClr val="C6962E"/>
                </a:solidFill>
                <a:latin typeface="Manrope" pitchFamily="34" charset="0"/>
                <a:ea typeface="Manrope" pitchFamily="34" charset="-122"/>
                <a:cs typeface="Manrope" pitchFamily="34" charset="-120"/>
              </a:rPr>
              <a:t>REGULATED</a:t>
            </a:r>
            <a:endParaRPr lang="en-US" sz="1100" dirty="0"/>
          </a:p>
        </p:txBody>
      </p:sp>
      <p:sp>
        <p:nvSpPr>
          <p:cNvPr id="14" name="Text 10"/>
          <p:cNvSpPr/>
          <p:nvPr/>
        </p:nvSpPr>
        <p:spPr>
          <a:xfrm>
            <a:off x="1097280" y="4434840"/>
            <a:ext cx="4023360" cy="1005840"/>
          </a:xfrm>
          <a:prstGeom prst="rect">
            <a:avLst/>
          </a:prstGeom>
          <a:noFill/>
          <a:ln/>
        </p:spPr>
        <p:txBody>
          <a:bodyPr wrap="square" lIns="0" tIns="0" rIns="0" bIns="0" rtlCol="0" anchor="ctr"/>
          <a:lstStyle/>
          <a:p>
            <a:pPr indent="0" marL="0">
              <a:buNone/>
            </a:pPr>
            <a:r>
              <a:rPr lang="en-US" sz="1200" dirty="0">
                <a:solidFill>
                  <a:srgbClr val="22304A"/>
                </a:solidFill>
                <a:latin typeface="Manrope" pitchFamily="34" charset="0"/>
                <a:ea typeface="Manrope" pitchFamily="34" charset="-122"/>
                <a:cs typeface="Manrope" pitchFamily="34" charset="-120"/>
              </a:rPr>
              <a:t>State private colleges — tuition + development fee approved every year; the approved list is public.</a:t>
            </a:r>
            <a:endParaRPr lang="en-US" sz="1200" dirty="0"/>
          </a:p>
        </p:txBody>
      </p:sp>
      <p:sp>
        <p:nvSpPr>
          <p:cNvPr id="15" name="Shape 11"/>
          <p:cNvSpPr/>
          <p:nvPr/>
        </p:nvSpPr>
        <p:spPr>
          <a:xfrm>
            <a:off x="6793992" y="3886200"/>
            <a:ext cx="4572000" cy="1691640"/>
          </a:xfrm>
          <a:prstGeom prst="roundRect">
            <a:avLst>
              <a:gd name="adj" fmla="val 5405"/>
            </a:avLst>
          </a:prstGeom>
          <a:solidFill>
            <a:srgbClr val="FFFFFF"/>
          </a:solidFill>
          <a:ln w="12700">
            <a:solidFill>
              <a:srgbClr val="E3DCC8"/>
            </a:solidFill>
            <a:prstDash val="solid"/>
          </a:ln>
        </p:spPr>
      </p:sp>
      <p:sp>
        <p:nvSpPr>
          <p:cNvPr id="16" name="Text 12"/>
          <p:cNvSpPr/>
          <p:nvPr/>
        </p:nvSpPr>
        <p:spPr>
          <a:xfrm>
            <a:off x="7068312" y="4069080"/>
            <a:ext cx="4023360" cy="320040"/>
          </a:xfrm>
          <a:prstGeom prst="rect">
            <a:avLst/>
          </a:prstGeom>
          <a:noFill/>
          <a:ln/>
        </p:spPr>
        <p:txBody>
          <a:bodyPr wrap="square" lIns="0" tIns="0" rIns="0" bIns="0" rtlCol="0" anchor="ctr"/>
          <a:lstStyle/>
          <a:p>
            <a:pPr indent="0" marL="0">
              <a:buNone/>
            </a:pPr>
            <a:r>
              <a:rPr lang="en-US" sz="1100" b="1" spc="200" kern="0" dirty="0">
                <a:solidFill>
                  <a:srgbClr val="5A6B85"/>
                </a:solidFill>
                <a:latin typeface="Manrope" pitchFamily="34" charset="0"/>
                <a:ea typeface="Manrope" pitchFamily="34" charset="-122"/>
                <a:cs typeface="Manrope" pitchFamily="34" charset="-120"/>
              </a:rPr>
              <a:t>OUTSIDE FRA</a:t>
            </a:r>
            <a:endParaRPr lang="en-US" sz="1100" dirty="0"/>
          </a:p>
        </p:txBody>
      </p:sp>
      <p:sp>
        <p:nvSpPr>
          <p:cNvPr id="17" name="Text 13"/>
          <p:cNvSpPr/>
          <p:nvPr/>
        </p:nvSpPr>
        <p:spPr>
          <a:xfrm>
            <a:off x="7068312" y="4434840"/>
            <a:ext cx="4023360" cy="1005840"/>
          </a:xfrm>
          <a:prstGeom prst="rect">
            <a:avLst/>
          </a:prstGeom>
          <a:noFill/>
          <a:ln/>
        </p:spPr>
        <p:txBody>
          <a:bodyPr wrap="square" lIns="0" tIns="0" rIns="0" bIns="0" rtlCol="0" anchor="ctr"/>
          <a:lstStyle/>
          <a:p>
            <a:pPr indent="0" marL="0">
              <a:buNone/>
            </a:pPr>
            <a:r>
              <a:rPr lang="en-US" sz="1200" dirty="0">
                <a:solidFill>
                  <a:srgbClr val="5A6B85"/>
                </a:solidFill>
                <a:latin typeface="Manrope" pitchFamily="34" charset="0"/>
                <a:ea typeface="Manrope" pitchFamily="34" charset="-122"/>
                <a:cs typeface="Manrope" pitchFamily="34" charset="-120"/>
              </a:rPr>
              <a:t>Deemed universities (fees self-set) and management / NRI premiums.</a:t>
            </a:r>
            <a:endParaRPr lang="en-US" sz="1200" dirty="0"/>
          </a:p>
        </p:txBody>
      </p:sp>
      <p:sp>
        <p:nvSpPr>
          <p:cNvPr id="18" name="Shape 14"/>
          <p:cNvSpPr/>
          <p:nvPr/>
        </p:nvSpPr>
        <p:spPr>
          <a:xfrm>
            <a:off x="548640" y="6272784"/>
            <a:ext cx="11091672" cy="384048"/>
          </a:xfrm>
          <a:prstGeom prst="roundRect">
            <a:avLst>
              <a:gd name="adj" fmla="val 14286"/>
            </a:avLst>
          </a:prstGeom>
          <a:solidFill>
            <a:srgbClr val="F5E6C4"/>
          </a:solidFill>
          <a:ln/>
        </p:spPr>
      </p:sp>
      <p:sp>
        <p:nvSpPr>
          <p:cNvPr id="19" name="Text 15"/>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Golden rule: before any private admission, demand the FRA-approved fee letter. Jo college taal-mataul kare — wahan ruk jaiye.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16</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5 · FEES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Asli Hisaab: 5.5 Saal Ka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Total cost of ownership — headline tuition nahi (4.5 yr course + 1 yr internship)</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566160"/>
                <a:gridCol w="2505456"/>
                <a:gridCol w="2505456"/>
                <a:gridCol w="2514600"/>
              </a:tblGrid>
              <a:tr h="56692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Head (5.5 yrs)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Government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Private (FRA)</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Deemed</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Tuition × 4.5 yrs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GMC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FRA 2026-27]</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univ.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Hostel + mess × 5.5 yrs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GMC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FRA 2026-27]</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univ.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Books / exams / misc</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GMC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FRA 2026-27]</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univ.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566928">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Internship year</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GMC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FRA 2026-27]</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050" i="1" dirty="0">
                          <a:solidFill>
                            <a:srgbClr val="A67B25"/>
                          </a:solidFill>
                          <a:latin typeface="Manrope" pitchFamily="34" charset="0"/>
                          <a:ea typeface="Manrope" pitchFamily="34" charset="-122"/>
                          <a:cs typeface="Manrope" pitchFamily="34" charset="-120"/>
                        </a:rPr>
                        <a:t>[VERIFY: univ. schedule]</a:t>
                      </a:r>
                      <a:endParaRPr lang="en-US" sz="10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566928">
                <a:tc>
                  <a:txBody>
                    <a:bodyPr/>
                    <a:lstStyle/>
                    <a:p>
                      <a:pPr indent="0" marL="0">
                        <a:buNone/>
                      </a:pPr>
                      <a:r>
                        <a:rPr lang="en-US" sz="1250" b="1" dirty="0">
                          <a:solidFill>
                            <a:srgbClr val="E0B85C"/>
                          </a:solidFill>
                          <a:latin typeface="Manrope" pitchFamily="34" charset="0"/>
                          <a:ea typeface="Manrope" pitchFamily="34" charset="-122"/>
                          <a:cs typeface="Manrope" pitchFamily="34" charset="-120"/>
                        </a:rPr>
                        <a:t>TOTAL 5.5-YEAR OUTFLOW</a:t>
                      </a:r>
                      <a:endParaRPr lang="en-US" sz="12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i="1" dirty="0">
                          <a:solidFill>
                            <a:srgbClr val="F5E6C4"/>
                          </a:solidFill>
                          <a:latin typeface="Manrope" pitchFamily="34" charset="0"/>
                          <a:ea typeface="Manrope" pitchFamily="34" charset="-122"/>
                          <a:cs typeface="Manrope" pitchFamily="34" charset="-120"/>
                        </a:rPr>
                        <a:t>[VERIFY]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i="1" dirty="0">
                          <a:solidFill>
                            <a:srgbClr val="F5E6C4"/>
                          </a:solidFill>
                          <a:latin typeface="Manrope" pitchFamily="34" charset="0"/>
                          <a:ea typeface="Manrope" pitchFamily="34" charset="-122"/>
                          <a:cs typeface="Manrope" pitchFamily="34" charset="-120"/>
                        </a:rPr>
                        <a:t>[VERIFY]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i="1" dirty="0">
                          <a:solidFill>
                            <a:srgbClr val="F5E6C4"/>
                          </a:solidFill>
                          <a:latin typeface="Manrope" pitchFamily="34" charset="0"/>
                          <a:ea typeface="Manrope" pitchFamily="34" charset="-122"/>
                          <a:cs typeface="Manrope" pitchFamily="34" charset="-120"/>
                        </a:rPr>
                        <a:t>[VERIFY]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bl>
          </a:graphicData>
        </a:graphic>
      </p:graphicFrame>
      <p:sp>
        <p:nvSpPr>
          <p:cNvPr id="8" name="Text 4"/>
          <p:cNvSpPr/>
          <p:nvPr/>
        </p:nvSpPr>
        <p:spPr>
          <a:xfrm>
            <a:off x="566928" y="5669280"/>
            <a:ext cx="11064240" cy="502920"/>
          </a:xfrm>
          <a:prstGeom prst="rect">
            <a:avLst/>
          </a:prstGeom>
          <a:noFill/>
          <a:ln/>
        </p:spPr>
        <p:txBody>
          <a:bodyPr wrap="square" lIns="0" tIns="0" rIns="0" bIns="0" rtlCol="0" anchor="ctr"/>
          <a:lstStyle/>
          <a:p>
            <a:pPr indent="0" marL="0">
              <a:buNone/>
            </a:pPr>
            <a:r>
              <a:rPr lang="en-US" sz="1000" i="1" dirty="0">
                <a:solidFill>
                  <a:srgbClr val="5A6B85"/>
                </a:solidFill>
                <a:latin typeface="Manrope" pitchFamily="34" charset="0"/>
                <a:ea typeface="Manrope" pitchFamily="34" charset="-122"/>
                <a:cs typeface="Manrope" pitchFamily="34" charset="-120"/>
              </a:rPr>
              <a:t>Internship: many govt colleges PAY a stipend; some private CHARGE fees for the internship year — verify per college. Add deposits, uniforms, exam fees, travel.</a:t>
            </a:r>
            <a:endParaRPr lang="en-US" sz="1000" dirty="0"/>
          </a:p>
        </p:txBody>
      </p:sp>
      <p:sp>
        <p:nvSpPr>
          <p:cNvPr id="9" name="Shape 5"/>
          <p:cNvSpPr/>
          <p:nvPr/>
        </p:nvSpPr>
        <p:spPr>
          <a:xfrm>
            <a:off x="548640" y="6272784"/>
            <a:ext cx="11091672" cy="384048"/>
          </a:xfrm>
          <a:prstGeom prst="roundRect">
            <a:avLst>
              <a:gd name="adj" fmla="val 14286"/>
            </a:avLst>
          </a:prstGeom>
          <a:solidFill>
            <a:srgbClr val="F5E6C4"/>
          </a:solidFill>
          <a:ln/>
        </p:spPr>
      </p:sp>
      <p:sp>
        <p:nvSpPr>
          <p:cNvPr id="10" name="Text 6"/>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subject to change — verify every figure against FRA / college official schedules before presenting.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17</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5 · FEES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Families Actually Kya Dete Hain</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Headline fee ≠ cheque book reality</a:t>
            </a:r>
            <a:endParaRPr lang="en-US" sz="1300" dirty="0"/>
          </a:p>
        </p:txBody>
      </p:sp>
      <p:sp>
        <p:nvSpPr>
          <p:cNvPr id="7" name="Shape 4"/>
          <p:cNvSpPr/>
          <p:nvPr/>
        </p:nvSpPr>
        <p:spPr>
          <a:xfrm>
            <a:off x="2011680" y="2057400"/>
            <a:ext cx="2377440" cy="1051560"/>
          </a:xfrm>
          <a:prstGeom prst="triangle">
            <a:avLst/>
          </a:prstGeom>
          <a:solidFill>
            <a:srgbClr val="C6962E"/>
          </a:solidFill>
          <a:ln/>
        </p:spPr>
      </p:sp>
      <p:sp>
        <p:nvSpPr>
          <p:cNvPr id="8" name="Text 5"/>
          <p:cNvSpPr/>
          <p:nvPr/>
        </p:nvSpPr>
        <p:spPr>
          <a:xfrm>
            <a:off x="1737360" y="1755648"/>
            <a:ext cx="2926080" cy="274320"/>
          </a:xfrm>
          <a:prstGeom prst="rect">
            <a:avLst/>
          </a:prstGeom>
          <a:noFill/>
          <a:ln/>
        </p:spPr>
        <p:txBody>
          <a:bodyPr wrap="square" lIns="0" tIns="0" rIns="0" bIns="0" rtlCol="0" anchor="ctr"/>
          <a:lstStyle/>
          <a:p>
            <a:pPr algn="ctr" indent="0" marL="0">
              <a:buNone/>
            </a:pPr>
            <a:r>
              <a:rPr lang="en-US" sz="1150" b="1" dirty="0">
                <a:solidFill>
                  <a:srgbClr val="E0B85C"/>
                </a:solidFill>
                <a:latin typeface="Manrope" pitchFamily="34" charset="0"/>
                <a:ea typeface="Manrope" pitchFamily="34" charset="-122"/>
                <a:cs typeface="Manrope" pitchFamily="34" charset="-120"/>
              </a:rPr>
              <a:t>Tuition (headline)</a:t>
            </a:r>
            <a:endParaRPr lang="en-US" sz="1150" dirty="0"/>
          </a:p>
        </p:txBody>
      </p:sp>
      <p:sp>
        <p:nvSpPr>
          <p:cNvPr id="9" name="Shape 6"/>
          <p:cNvSpPr/>
          <p:nvPr/>
        </p:nvSpPr>
        <p:spPr>
          <a:xfrm>
            <a:off x="822960" y="3127248"/>
            <a:ext cx="4754880" cy="50292"/>
          </a:xfrm>
          <a:prstGeom prst="rect">
            <a:avLst/>
          </a:prstGeom>
          <a:solidFill>
            <a:srgbClr val="E0B85C"/>
          </a:solidFill>
          <a:ln/>
        </p:spPr>
      </p:sp>
      <p:sp>
        <p:nvSpPr>
          <p:cNvPr id="10" name="Text 7"/>
          <p:cNvSpPr/>
          <p:nvPr/>
        </p:nvSpPr>
        <p:spPr>
          <a:xfrm>
            <a:off x="4709160" y="2889504"/>
            <a:ext cx="914400" cy="228600"/>
          </a:xfrm>
          <a:prstGeom prst="rect">
            <a:avLst/>
          </a:prstGeom>
          <a:noFill/>
          <a:ln/>
        </p:spPr>
        <p:txBody>
          <a:bodyPr wrap="square" lIns="0" tIns="0" rIns="0" bIns="0" rtlCol="0" anchor="ctr"/>
          <a:lstStyle/>
          <a:p>
            <a:pPr indent="0" marL="0">
              <a:buNone/>
            </a:pPr>
            <a:r>
              <a:rPr lang="en-US" sz="800" i="1" dirty="0">
                <a:solidFill>
                  <a:srgbClr val="AEB9CC"/>
                </a:solidFill>
                <a:latin typeface="Manrope" pitchFamily="34" charset="0"/>
                <a:ea typeface="Manrope" pitchFamily="34" charset="-122"/>
                <a:cs typeface="Manrope" pitchFamily="34" charset="-120"/>
              </a:rPr>
              <a:t>waterline</a:t>
            </a:r>
            <a:endParaRPr lang="en-US" sz="800" dirty="0"/>
          </a:p>
        </p:txBody>
      </p:sp>
      <p:sp>
        <p:nvSpPr>
          <p:cNvPr id="11" name="Shape 8"/>
          <p:cNvSpPr/>
          <p:nvPr/>
        </p:nvSpPr>
        <p:spPr>
          <a:xfrm flipV="1">
            <a:off x="1234440" y="3218688"/>
            <a:ext cx="3931920" cy="2651760"/>
          </a:xfrm>
          <a:prstGeom prst="triangle">
            <a:avLst/>
          </a:prstGeom>
          <a:solidFill>
            <a:srgbClr val="17294F"/>
          </a:solidFill>
          <a:ln/>
        </p:spPr>
      </p:sp>
      <p:sp>
        <p:nvSpPr>
          <p:cNvPr id="12" name="Text 9"/>
          <p:cNvSpPr/>
          <p:nvPr/>
        </p:nvSpPr>
        <p:spPr>
          <a:xfrm>
            <a:off x="1600200" y="3429000"/>
            <a:ext cx="3200400" cy="1554480"/>
          </a:xfrm>
          <a:prstGeom prst="rect">
            <a:avLst/>
          </a:prstGeom>
          <a:noFill/>
          <a:ln/>
        </p:spPr>
        <p:txBody>
          <a:bodyPr wrap="square" lIns="0" tIns="0" rIns="0" bIns="0" rtlCol="0" anchor="ctr"/>
          <a:lstStyle/>
          <a:p>
            <a:pPr algn="ctr" indent="0" marL="0">
              <a:buNone/>
            </a:pPr>
            <a:r>
              <a:rPr lang="en-US" sz="1050" dirty="0">
                <a:solidFill>
                  <a:srgbClr val="C9D2E2"/>
                </a:solidFill>
                <a:latin typeface="Manrope" pitchFamily="34" charset="0"/>
                <a:ea typeface="Manrope" pitchFamily="34" charset="-122"/>
                <a:cs typeface="Manrope" pitchFamily="34" charset="-120"/>
              </a:rPr>
              <a:t>Deposits · uniforms</a:t>
            </a:r>
            <a:endParaRPr lang="en-US" sz="1050" dirty="0"/>
          </a:p>
          <a:p>
            <a:pPr algn="ctr" indent="0" marL="0">
              <a:buNone/>
            </a:pPr>
            <a:r>
              <a:rPr lang="en-US" sz="1050" dirty="0">
                <a:solidFill>
                  <a:srgbClr val="C9D2E2"/>
                </a:solidFill>
                <a:latin typeface="Manrope" pitchFamily="34" charset="0"/>
                <a:ea typeface="Manrope" pitchFamily="34" charset="-122"/>
                <a:cs typeface="Manrope" pitchFamily="34" charset="-120"/>
              </a:rPr>
              <a:t>exam fees · hostel hikes</a:t>
            </a:r>
            <a:endParaRPr lang="en-US" sz="1050" dirty="0"/>
          </a:p>
          <a:p>
            <a:pPr algn="ctr" indent="0" marL="0">
              <a:buNone/>
            </a:pPr>
            <a:r>
              <a:rPr lang="en-US" sz="1050" dirty="0">
                <a:solidFill>
                  <a:srgbClr val="C9D2E2"/>
                </a:solidFill>
                <a:latin typeface="Manrope" pitchFamily="34" charset="0"/>
                <a:ea typeface="Manrope" pitchFamily="34" charset="-122"/>
                <a:cs typeface="Manrope" pitchFamily="34" charset="-120"/>
              </a:rPr>
              <a:t>festival travel · city living</a:t>
            </a:r>
            <a:endParaRPr lang="en-US" sz="1050" dirty="0"/>
          </a:p>
          <a:p>
            <a:pPr algn="ctr" indent="0" marL="0">
              <a:buNone/>
            </a:pPr>
            <a:r>
              <a:rPr lang="en-US" sz="1050" dirty="0">
                <a:solidFill>
                  <a:srgbClr val="C9D2E2"/>
                </a:solidFill>
                <a:latin typeface="Manrope" pitchFamily="34" charset="0"/>
                <a:ea typeface="Manrope" pitchFamily="34" charset="-122"/>
                <a:cs typeface="Manrope" pitchFamily="34" charset="-120"/>
              </a:rPr>
              <a:t>coaching add-ons</a:t>
            </a:r>
            <a:endParaRPr lang="en-US" sz="1050" dirty="0"/>
          </a:p>
        </p:txBody>
      </p:sp>
      <p:sp>
        <p:nvSpPr>
          <p:cNvPr id="13" name="Text 10"/>
          <p:cNvSpPr/>
          <p:nvPr/>
        </p:nvSpPr>
        <p:spPr>
          <a:xfrm>
            <a:off x="6400800" y="2286000"/>
            <a:ext cx="5120640" cy="868680"/>
          </a:xfrm>
          <a:prstGeom prst="rect">
            <a:avLst/>
          </a:prstGeom>
          <a:noFill/>
          <a:ln/>
        </p:spPr>
        <p:txBody>
          <a:bodyPr wrap="square" lIns="0" tIns="0" rIns="0" bIns="0" rtlCol="0" anchor="ctr"/>
          <a:lstStyle/>
          <a:p>
            <a:pPr indent="0" marL="0">
              <a:buNone/>
            </a:pPr>
            <a:r>
              <a:rPr lang="en-US" sz="2200" b="1" i="1" dirty="0">
                <a:solidFill>
                  <a:srgbClr val="C6962E"/>
                </a:solidFill>
                <a:latin typeface="Cormorant Garamond" pitchFamily="34" charset="0"/>
                <a:ea typeface="Cormorant Garamond" pitchFamily="34" charset="-122"/>
                <a:cs typeface="Cormorant Garamond" pitchFamily="34" charset="-120"/>
              </a:rPr>
              <a:t>The headline tuition is the smallest honest number.</a:t>
            </a:r>
            <a:endParaRPr lang="en-US" sz="2200" dirty="0"/>
          </a:p>
        </p:txBody>
      </p:sp>
      <p:sp>
        <p:nvSpPr>
          <p:cNvPr id="14" name="Text 11"/>
          <p:cNvSpPr/>
          <p:nvPr/>
        </p:nvSpPr>
        <p:spPr>
          <a:xfrm>
            <a:off x="6400800" y="338328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FFFFFF"/>
                </a:solidFill>
                <a:latin typeface="Manrope" pitchFamily="34" charset="0"/>
                <a:ea typeface="Manrope" pitchFamily="34" charset="-122"/>
                <a:cs typeface="Manrope" pitchFamily="34" charset="-120"/>
              </a:rPr>
              <a:t>Every year re-totals: deposits, exam fees, hostel revisions</a:t>
            </a:r>
            <a:endParaRPr lang="en-US" sz="1250" dirty="0"/>
          </a:p>
          <a:p>
            <a:pPr marL="342900" indent="-342900">
              <a:spcAft>
                <a:spcPts val="1000"/>
              </a:spcAft>
              <a:buSzPct val="100000"/>
              <a:buChar char="•"/>
            </a:pPr>
            <a:r>
              <a:rPr lang="en-US" sz="1250" dirty="0">
                <a:solidFill>
                  <a:srgbClr val="FFFFFF"/>
                </a:solidFill>
                <a:latin typeface="Manrope" pitchFamily="34" charset="0"/>
                <a:ea typeface="Manrope" pitchFamily="34" charset="-122"/>
                <a:cs typeface="Manrope" pitchFamily="34" charset="-120"/>
              </a:rPr>
              <a:t>Add travel, city living, coaching add-ons</a:t>
            </a:r>
            <a:endParaRPr lang="en-US" sz="1250" dirty="0"/>
          </a:p>
          <a:p>
            <a:pPr marL="342900" indent="-342900">
              <a:spcAft>
                <a:spcPts val="1000"/>
              </a:spcAft>
              <a:buSzPct val="100000"/>
              <a:buChar char="•"/>
            </a:pPr>
            <a:r>
              <a:rPr lang="en-US" sz="1250" dirty="0">
                <a:solidFill>
                  <a:srgbClr val="FFFFFF"/>
                </a:solidFill>
                <a:latin typeface="Manrope" pitchFamily="34" charset="0"/>
                <a:ea typeface="Manrope" pitchFamily="34" charset="-122"/>
                <a:cs typeface="Manrope" pitchFamily="34" charset="-120"/>
              </a:rPr>
              <a:t>Rule: budget = published total + buffer  [VERIFY: buffer % from ABHA counselling data]</a:t>
            </a:r>
            <a:endParaRPr lang="en-US" sz="1250" dirty="0"/>
          </a:p>
          <a:p>
            <a:pPr marL="342900" indent="-342900">
              <a:spcAft>
                <a:spcPts val="1000"/>
              </a:spcAft>
              <a:buSzPct val="100000"/>
              <a:buChar char="•"/>
            </a:pPr>
            <a:r>
              <a:rPr lang="en-US" sz="1250" b="1" dirty="0">
                <a:solidFill>
                  <a:srgbClr val="E0B85C"/>
                </a:solidFill>
                <a:latin typeface="Manrope" pitchFamily="34" charset="0"/>
                <a:ea typeface="Manrope" pitchFamily="34" charset="-122"/>
                <a:cs typeface="Manrope" pitchFamily="34" charset="-120"/>
              </a:rPr>
              <a:t>Test: “karj na budavta parvadta hai?” — “kadachit” means “nahi”</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18</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5 → 6 · CHECKPOINT</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Checkpoint: India Ki Poori Picture</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Ab aap jaante hain — seats, ranks, fees</a:t>
            </a:r>
            <a:endParaRPr lang="en-US" sz="1300" dirty="0"/>
          </a:p>
        </p:txBody>
      </p:sp>
      <p:sp>
        <p:nvSpPr>
          <p:cNvPr id="7" name="Shape 4"/>
          <p:cNvSpPr/>
          <p:nvPr/>
        </p:nvSpPr>
        <p:spPr>
          <a:xfrm>
            <a:off x="731520" y="1783080"/>
            <a:ext cx="457200" cy="457200"/>
          </a:xfrm>
          <a:prstGeom prst="ellipse">
            <a:avLst/>
          </a:prstGeom>
          <a:solidFill>
            <a:srgbClr val="F5E6C4"/>
          </a:solidFill>
          <a:ln/>
        </p:spPr>
      </p:sp>
      <p:pic>
        <p:nvPicPr>
          <p:cNvPr id="8" name="Image 0" descr="/tmp/claude-0/-home-user/22b099b3-5195-5dc8-9cf2-1c5020dc8f38/scratchpad/deck/icons/check.png">    </p:cNvPr>
          <p:cNvPicPr>
            <a:picLocks noChangeAspect="1"/>
          </p:cNvPicPr>
          <p:nvPr/>
        </p:nvPicPr>
        <p:blipFill>
          <a:blip r:embed="rId1"/>
          <a:stretch>
            <a:fillRect/>
          </a:stretch>
        </p:blipFill>
        <p:spPr>
          <a:xfrm>
            <a:off x="850392" y="1901952"/>
            <a:ext cx="219456" cy="219456"/>
          </a:xfrm>
          <a:prstGeom prst="rect">
            <a:avLst/>
          </a:prstGeom>
        </p:spPr>
      </p:pic>
      <p:sp>
        <p:nvSpPr>
          <p:cNvPr id="9" name="Text 5"/>
          <p:cNvSpPr/>
          <p:nvPr/>
        </p:nvSpPr>
        <p:spPr>
          <a:xfrm>
            <a:off x="1371600" y="1783080"/>
            <a:ext cx="9875520" cy="457200"/>
          </a:xfrm>
          <a:prstGeom prst="rect">
            <a:avLst/>
          </a:prstGeom>
          <a:noFill/>
          <a:ln/>
        </p:spPr>
        <p:txBody>
          <a:bodyPr wrap="square" lIns="0" tIns="0" rIns="0" bIns="0" rtlCol="0" anchor="ctr"/>
          <a:lstStyle/>
          <a:p>
            <a:pPr indent="0" marL="0">
              <a:buNone/>
            </a:pPr>
            <a:r>
              <a:rPr lang="en-US" sz="1500" dirty="0">
                <a:solidFill>
                  <a:srgbClr val="22304A"/>
                </a:solidFill>
                <a:latin typeface="Manrope" pitchFamily="34" charset="0"/>
                <a:ea typeface="Manrope" pitchFamily="34" charset="-122"/>
                <a:cs typeface="Manrope" pitchFamily="34" charset="-120"/>
              </a:rPr>
              <a:t>Funnel — 11.21 lakh qualified · 63,296 govt seats</a:t>
            </a:r>
            <a:endParaRPr lang="en-US" sz="1500" dirty="0"/>
          </a:p>
        </p:txBody>
      </p:sp>
      <p:sp>
        <p:nvSpPr>
          <p:cNvPr id="10" name="Shape 6"/>
          <p:cNvSpPr/>
          <p:nvPr/>
        </p:nvSpPr>
        <p:spPr>
          <a:xfrm>
            <a:off x="731520" y="2496312"/>
            <a:ext cx="457200" cy="457200"/>
          </a:xfrm>
          <a:prstGeom prst="ellipse">
            <a:avLst/>
          </a:prstGeom>
          <a:solidFill>
            <a:srgbClr val="F5E6C4"/>
          </a:solidFill>
          <a:ln/>
        </p:spPr>
      </p:sp>
      <p:pic>
        <p:nvPicPr>
          <p:cNvPr id="11" name="Image 1" descr="/tmp/claude-0/-home-user/22b099b3-5195-5dc8-9cf2-1c5020dc8f38/scratchpad/deck/icons/check.png">    </p:cNvPr>
          <p:cNvPicPr>
            <a:picLocks noChangeAspect="1"/>
          </p:cNvPicPr>
          <p:nvPr/>
        </p:nvPicPr>
        <p:blipFill>
          <a:blip r:embed="rId2"/>
          <a:stretch>
            <a:fillRect/>
          </a:stretch>
        </p:blipFill>
        <p:spPr>
          <a:xfrm>
            <a:off x="850392" y="2615184"/>
            <a:ext cx="219456" cy="219456"/>
          </a:xfrm>
          <a:prstGeom prst="rect">
            <a:avLst/>
          </a:prstGeom>
        </p:spPr>
      </p:pic>
      <p:sp>
        <p:nvSpPr>
          <p:cNvPr id="12" name="Text 7"/>
          <p:cNvSpPr/>
          <p:nvPr/>
        </p:nvSpPr>
        <p:spPr>
          <a:xfrm>
            <a:off x="1371600" y="2496312"/>
            <a:ext cx="9875520" cy="457200"/>
          </a:xfrm>
          <a:prstGeom prst="rect">
            <a:avLst/>
          </a:prstGeom>
          <a:noFill/>
          <a:ln/>
        </p:spPr>
        <p:txBody>
          <a:bodyPr wrap="square" lIns="0" tIns="0" rIns="0" bIns="0" rtlCol="0" anchor="ctr"/>
          <a:lstStyle/>
          <a:p>
            <a:pPr indent="0" marL="0">
              <a:buNone/>
            </a:pPr>
            <a:r>
              <a:rPr lang="en-US" sz="1500" dirty="0">
                <a:solidFill>
                  <a:srgbClr val="22304A"/>
                </a:solidFill>
                <a:latin typeface="Manrope" pitchFamily="34" charset="0"/>
                <a:ea typeface="Manrope" pitchFamily="34" charset="-122"/>
                <a:cs typeface="Manrope" pitchFamily="34" charset="-120"/>
              </a:rPr>
              <a:t>Your category’s closing — you can read it yourself</a:t>
            </a:r>
            <a:endParaRPr lang="en-US" sz="1500" dirty="0"/>
          </a:p>
        </p:txBody>
      </p:sp>
      <p:sp>
        <p:nvSpPr>
          <p:cNvPr id="13" name="Shape 8"/>
          <p:cNvSpPr/>
          <p:nvPr/>
        </p:nvSpPr>
        <p:spPr>
          <a:xfrm>
            <a:off x="731520" y="3209544"/>
            <a:ext cx="457200" cy="457200"/>
          </a:xfrm>
          <a:prstGeom prst="ellipse">
            <a:avLst/>
          </a:prstGeom>
          <a:solidFill>
            <a:srgbClr val="F5E6C4"/>
          </a:solidFill>
          <a:ln/>
        </p:spPr>
      </p:sp>
      <p:pic>
        <p:nvPicPr>
          <p:cNvPr id="14" name="Image 2" descr="/tmp/claude-0/-home-user/22b099b3-5195-5dc8-9cf2-1c5020dc8f38/scratchpad/deck/icons/check.png">    </p:cNvPr>
          <p:cNvPicPr>
            <a:picLocks noChangeAspect="1"/>
          </p:cNvPicPr>
          <p:nvPr/>
        </p:nvPicPr>
        <p:blipFill>
          <a:blip r:embed="rId3"/>
          <a:stretch>
            <a:fillRect/>
          </a:stretch>
        </p:blipFill>
        <p:spPr>
          <a:xfrm>
            <a:off x="850392" y="3328416"/>
            <a:ext cx="219456" cy="219456"/>
          </a:xfrm>
          <a:prstGeom prst="rect">
            <a:avLst/>
          </a:prstGeom>
        </p:spPr>
      </p:pic>
      <p:sp>
        <p:nvSpPr>
          <p:cNvPr id="15" name="Text 9"/>
          <p:cNvSpPr/>
          <p:nvPr/>
        </p:nvSpPr>
        <p:spPr>
          <a:xfrm>
            <a:off x="1371600" y="3209544"/>
            <a:ext cx="9875520" cy="457200"/>
          </a:xfrm>
          <a:prstGeom prst="rect">
            <a:avLst/>
          </a:prstGeom>
          <a:noFill/>
          <a:ln/>
        </p:spPr>
        <p:txBody>
          <a:bodyPr wrap="square" lIns="0" tIns="0" rIns="0" bIns="0" rtlCol="0" anchor="ctr"/>
          <a:lstStyle/>
          <a:p>
            <a:pPr indent="0" marL="0">
              <a:buNone/>
            </a:pPr>
            <a:r>
              <a:rPr lang="en-US" sz="1500" dirty="0">
                <a:solidFill>
                  <a:srgbClr val="22304A"/>
                </a:solidFill>
                <a:latin typeface="Manrope" pitchFamily="34" charset="0"/>
                <a:ea typeface="Manrope" pitchFamily="34" charset="-122"/>
                <a:cs typeface="Manrope" pitchFamily="34" charset="-120"/>
              </a:rPr>
              <a:t>Govt / Private / Deemed — total-outflow framework ready</a:t>
            </a:r>
            <a:endParaRPr lang="en-US" sz="1500" dirty="0"/>
          </a:p>
        </p:txBody>
      </p:sp>
      <p:sp>
        <p:nvSpPr>
          <p:cNvPr id="16" name="Shape 10"/>
          <p:cNvSpPr/>
          <p:nvPr/>
        </p:nvSpPr>
        <p:spPr>
          <a:xfrm>
            <a:off x="731520" y="4160520"/>
            <a:ext cx="10725912" cy="1783080"/>
          </a:xfrm>
          <a:prstGeom prst="roundRect">
            <a:avLst>
              <a:gd name="adj" fmla="val 6154"/>
            </a:avLst>
          </a:prstGeom>
          <a:solidFill>
            <a:srgbClr val="0B1A35"/>
          </a:solidFill>
          <a:ln/>
        </p:spPr>
      </p:sp>
      <p:sp>
        <p:nvSpPr>
          <p:cNvPr id="17" name="Text 11"/>
          <p:cNvSpPr/>
          <p:nvPr/>
        </p:nvSpPr>
        <p:spPr>
          <a:xfrm>
            <a:off x="1005840" y="4434840"/>
            <a:ext cx="10149840" cy="685800"/>
          </a:xfrm>
          <a:prstGeom prst="rect">
            <a:avLst/>
          </a:prstGeom>
          <a:noFill/>
          <a:ln/>
        </p:spPr>
        <p:txBody>
          <a:bodyPr wrap="square" lIns="0" tIns="0" rIns="0" bIns="0" rtlCol="0" anchor="ctr"/>
          <a:lstStyle/>
          <a:p>
            <a:pPr algn="ctr" indent="0" marL="0">
              <a:buNone/>
            </a:pPr>
            <a:r>
              <a:rPr lang="en-US" sz="3000" b="1" dirty="0">
                <a:solidFill>
                  <a:srgbClr val="C6962E"/>
                </a:solidFill>
                <a:latin typeface="Cormorant Garamond" pitchFamily="34" charset="0"/>
                <a:ea typeface="Cormorant Garamond" pitchFamily="34" charset="-122"/>
                <a:cs typeface="Cormorant Garamond" pitchFamily="34" charset="-120"/>
              </a:rPr>
              <a:t>“India fit? Bass. Yahin ruk jaiye.”</a:t>
            </a:r>
            <a:endParaRPr lang="en-US" sz="3000" dirty="0"/>
          </a:p>
        </p:txBody>
      </p:sp>
      <p:sp>
        <p:nvSpPr>
          <p:cNvPr id="18" name="Text 12"/>
          <p:cNvSpPr/>
          <p:nvPr/>
        </p:nvSpPr>
        <p:spPr>
          <a:xfrm>
            <a:off x="1005840" y="5212080"/>
            <a:ext cx="10149840" cy="502920"/>
          </a:xfrm>
          <a:prstGeom prst="rect">
            <a:avLst/>
          </a:prstGeom>
          <a:noFill/>
          <a:ln/>
        </p:spPr>
        <p:txBody>
          <a:bodyPr wrap="square" lIns="0" tIns="0" rIns="0" bIns="0" rtlCol="0" anchor="ctr"/>
          <a:lstStyle/>
          <a:p>
            <a:pPr algn="ctr" indent="0" marL="0">
              <a:buNone/>
            </a:pPr>
            <a:r>
              <a:rPr lang="en-US" sz="1250" dirty="0">
                <a:solidFill>
                  <a:srgbClr val="F5E6C4"/>
                </a:solidFill>
                <a:latin typeface="Manrope" pitchFamily="34" charset="0"/>
                <a:ea typeface="Manrope" pitchFamily="34" charset="-122"/>
                <a:cs typeface="Manrope" pitchFamily="34" charset="-120"/>
              </a:rPr>
              <a:t>Agar rank aur budget genuinely closed hain — sirf tab, agla section aapke liye hai. Wahan bhi utni hi imaandari milegi.</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19</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6 · INDIA VS ABROAD</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Comparison Matrix — Part 1</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Entry, cost, duration, language, clinical exposure</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651760"/>
                <a:gridCol w="4114800"/>
                <a:gridCol w="4325112"/>
              </a:tblGrid>
              <a:tr h="713232">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Dimension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India (Govt / Pvt)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Abroad (typical)</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Entry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NEET rank + counselling rounds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NEET qualify + university admission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Total cost 5.5–6 yr</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Govt low · Pvt/Deemed [VERIFY]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Country-wise — next act (indicative)</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Duration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4.5 yr + 1 yr internship</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5–6 yr incl. clerkship (varies)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Medium</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English</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English programmes; LOCAL language for patients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Clinical exposure</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High patient load, esp. government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Varies by country / hospital [VERIFY]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bl>
          </a:graphicData>
        </a:graphic>
      </p:graphicFrame>
      <p:sp>
        <p:nvSpPr>
          <p:cNvPr id="8" name="Text 4"/>
          <p:cNvSpPr/>
          <p:nvPr/>
        </p:nvSpPr>
        <p:spPr>
          <a:xfrm>
            <a:off x="566928" y="5943600"/>
            <a:ext cx="8229600" cy="320040"/>
          </a:xfrm>
          <a:prstGeom prst="rect">
            <a:avLst/>
          </a:prstGeom>
          <a:noFill/>
          <a:ln/>
        </p:spPr>
        <p:txBody>
          <a:bodyPr wrap="square" lIns="0" tIns="0" rIns="0" bIns="0" rtlCol="0" anchor="ctr"/>
          <a:lstStyle/>
          <a:p>
            <a:pPr indent="0" marL="0">
              <a:buNone/>
            </a:pPr>
            <a:r>
              <a:rPr lang="en-US" sz="1100" b="1" i="1" dirty="0">
                <a:solidFill>
                  <a:srgbClr val="C6962E"/>
                </a:solidFill>
                <a:latin typeface="Manrope" pitchFamily="34" charset="0"/>
                <a:ea typeface="Manrope" pitchFamily="34" charset="-122"/>
                <a:cs typeface="Manrope" pitchFamily="34" charset="-120"/>
              </a:rPr>
              <a:t>Benchmark on every row: the Indian government seat.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20</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6 · INDIA VS ABROAD</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Comparison Matrix — Part 2</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Licensing, recognition, family, return pathway</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651760"/>
                <a:gridCol w="3291840"/>
                <a:gridCol w="5148072"/>
              </a:tblGrid>
              <a:tr h="713232">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Dimension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India</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Abroad</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Licence to practise</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5E6C4"/>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Internship + registration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5E6C4"/>
                    </a:solidFill>
                  </a:tcPr>
                </a:tc>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FMGE MANDATORY, then internship + registration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5E6C4"/>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Recognition</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NMC colleges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Choose ONLY “NMC &amp; WHO Eligible” programmes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Family access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Same country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Flight distance; visit feasibility varies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PG options</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NEET-PG route</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NEET-PG after FMGE; foreign PG rules vary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713232">
                <a:tc>
                  <a:txBody>
                    <a:bodyPr/>
                    <a:lstStyle/>
                    <a:p>
                      <a:pPr indent="0" marL="0">
                        <a:buNone/>
                      </a:pPr>
                      <a:r>
                        <a:rPr lang="en-US" sz="1150" b="1" dirty="0">
                          <a:solidFill>
                            <a:srgbClr val="22304A"/>
                          </a:solidFill>
                          <a:latin typeface="Manrope" pitchFamily="34" charset="0"/>
                          <a:ea typeface="Manrope" pitchFamily="34" charset="-122"/>
                          <a:cs typeface="Manrope" pitchFamily="34" charset="-120"/>
                        </a:rPr>
                        <a:t>Safety net</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Family nearby</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1150" dirty="0">
                          <a:solidFill>
                            <a:srgbClr val="22304A"/>
                          </a:solidFill>
                          <a:latin typeface="Manrope" pitchFamily="34" charset="0"/>
                          <a:ea typeface="Manrope" pitchFamily="34" charset="-122"/>
                          <a:cs typeface="Manrope" pitchFamily="34" charset="-120"/>
                        </a:rPr>
                        <a:t>Depends entirely on service infrastructure</a:t>
                      </a:r>
                      <a:endParaRPr lang="en-US" sz="11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Text 4"/>
          <p:cNvSpPr/>
          <p:nvPr/>
        </p:nvSpPr>
        <p:spPr>
          <a:xfrm>
            <a:off x="566928" y="5943600"/>
            <a:ext cx="5486400" cy="320040"/>
          </a:xfrm>
          <a:prstGeom prst="rect">
            <a:avLst/>
          </a:prstGeom>
          <a:noFill/>
          <a:ln/>
        </p:spPr>
        <p:txBody>
          <a:bodyPr wrap="square" lIns="0" tIns="0" rIns="0" bIns="0" rtlCol="0" anchor="ctr"/>
          <a:lstStyle/>
          <a:p>
            <a:pPr indent="0" marL="0">
              <a:buNone/>
            </a:pPr>
            <a:r>
              <a:rPr lang="en-US" sz="1100" i="1" dirty="0">
                <a:solidFill>
                  <a:srgbClr val="5A6B85"/>
                </a:solidFill>
                <a:latin typeface="Manrope" pitchFamily="34" charset="0"/>
                <a:ea typeface="Manrope" pitchFamily="34" charset="-122"/>
                <a:cs typeface="Manrope" pitchFamily="34" charset="-120"/>
              </a:rPr>
              <a:t>FMGE detail — agli slide.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21</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6 · INDIA VS ABROAD</a:t>
            </a:r>
            <a:endParaRPr lang="en-US" sz="900" dirty="0"/>
          </a:p>
        </p:txBody>
      </p:sp>
      <p:sp>
        <p:nvSpPr>
          <p:cNvPr id="5" name="Text 2"/>
          <p:cNvSpPr/>
          <p:nvPr/>
        </p:nvSpPr>
        <p:spPr>
          <a:xfrm>
            <a:off x="0" y="777240"/>
            <a:ext cx="12188952" cy="502920"/>
          </a:xfrm>
          <a:prstGeom prst="rect">
            <a:avLst/>
          </a:prstGeom>
          <a:noFill/>
          <a:ln/>
        </p:spPr>
        <p:txBody>
          <a:bodyPr wrap="square" lIns="0" tIns="0" rIns="0" bIns="0" rtlCol="0" anchor="ctr"/>
          <a:lstStyle/>
          <a:p>
            <a:pPr algn="ctr" indent="0" marL="0">
              <a:buNone/>
            </a:pPr>
            <a:r>
              <a:rPr lang="en-US" sz="1500" b="1" spc="300" kern="0" dirty="0">
                <a:solidFill>
                  <a:srgbClr val="F5E6C4"/>
                </a:solidFill>
                <a:latin typeface="Manrope" pitchFamily="34" charset="0"/>
                <a:ea typeface="Manrope" pitchFamily="34" charset="-122"/>
                <a:cs typeface="Manrope" pitchFamily="34" charset="-120"/>
              </a:rPr>
              <a:t>FMGE Ka Sach — Seedha Seedha</a:t>
            </a:r>
            <a:endParaRPr lang="en-US" sz="1500" dirty="0"/>
          </a:p>
        </p:txBody>
      </p:sp>
      <p:sp>
        <p:nvSpPr>
          <p:cNvPr id="6" name="Text 3"/>
          <p:cNvSpPr/>
          <p:nvPr/>
        </p:nvSpPr>
        <p:spPr>
          <a:xfrm>
            <a:off x="731520" y="1691640"/>
            <a:ext cx="10725912" cy="2103120"/>
          </a:xfrm>
          <a:prstGeom prst="rect">
            <a:avLst/>
          </a:prstGeom>
          <a:noFill/>
          <a:ln/>
        </p:spPr>
        <p:txBody>
          <a:bodyPr wrap="square" lIns="0" tIns="0" rIns="0" bIns="0" rtlCol="0" anchor="ctr"/>
          <a:lstStyle/>
          <a:p>
            <a:pPr algn="ctr" indent="0" marL="0">
              <a:buNone/>
            </a:pPr>
            <a:r>
              <a:rPr lang="en-US" sz="4800" b="1" dirty="0">
                <a:solidFill>
                  <a:srgbClr val="C6962E"/>
                </a:solidFill>
                <a:latin typeface="Cormorant Garamond" pitchFamily="34" charset="0"/>
                <a:ea typeface="Cormorant Garamond" pitchFamily="34" charset="-122"/>
                <a:cs typeface="Cormorant Garamond" pitchFamily="34" charset="-120"/>
              </a:rPr>
              <a:t>FMGE is MANDATORY.</a:t>
            </a:r>
            <a:endParaRPr lang="en-US" sz="4800" dirty="0"/>
          </a:p>
          <a:p>
            <a:pPr algn="ctr" indent="0" marL="0">
              <a:buNone/>
            </a:pPr>
            <a:r>
              <a:rPr lang="en-US" sz="4800" b="1" dirty="0">
                <a:solidFill>
                  <a:srgbClr val="C6962E"/>
                </a:solidFill>
                <a:latin typeface="Cormorant Garamond" pitchFamily="34" charset="0"/>
                <a:ea typeface="Cormorant Garamond" pitchFamily="34" charset="-122"/>
                <a:cs typeface="Cormorant Garamond" pitchFamily="34" charset="-120"/>
              </a:rPr>
              <a:t>NExT has NOT replaced it.</a:t>
            </a:r>
            <a:endParaRPr lang="en-US" sz="4800" dirty="0"/>
          </a:p>
        </p:txBody>
      </p:sp>
      <p:sp>
        <p:nvSpPr>
          <p:cNvPr id="7" name="Text 4"/>
          <p:cNvSpPr/>
          <p:nvPr/>
        </p:nvSpPr>
        <p:spPr>
          <a:xfrm>
            <a:off x="0" y="4160520"/>
            <a:ext cx="12188952" cy="1737360"/>
          </a:xfrm>
          <a:prstGeom prst="rect">
            <a:avLst/>
          </a:prstGeom>
          <a:noFill/>
          <a:ln/>
        </p:spPr>
        <p:txBody>
          <a:bodyPr wrap="square" lIns="0" tIns="0" rIns="0" bIns="0" rtlCol="0" anchor="ctr"/>
          <a:lstStyle/>
          <a:p>
            <a:pPr algn="ctr" indent="0" marL="0">
              <a:lnSpc>
                <a:spcPts val="2700"/>
              </a:lnSpc>
              <a:buNone/>
            </a:pPr>
            <a:r>
              <a:rPr lang="en-US" sz="1500" dirty="0">
                <a:solidFill>
                  <a:srgbClr val="FFFFFF"/>
                </a:solidFill>
                <a:latin typeface="Manrope" pitchFamily="34" charset="0"/>
                <a:ea typeface="Manrope" pitchFamily="34" charset="-122"/>
                <a:cs typeface="Manrope" pitchFamily="34" charset="-120"/>
              </a:rPr>
              <a:t>NExT stands deferred — approximately 2028–29</a:t>
            </a:r>
            <a:endParaRPr lang="en-US" sz="1500" dirty="0"/>
          </a:p>
          <a:p>
            <a:pPr algn="ctr" indent="0" marL="0">
              <a:lnSpc>
                <a:spcPts val="2700"/>
              </a:lnSpc>
              <a:buNone/>
            </a:pPr>
            <a:r>
              <a:rPr lang="en-US" sz="1500" dirty="0">
                <a:solidFill>
                  <a:srgbClr val="FFFFFF"/>
                </a:solidFill>
                <a:latin typeface="Manrope" pitchFamily="34" charset="0"/>
                <a:ea typeface="Manrope" pitchFamily="34" charset="-122"/>
                <a:cs typeface="Manrope" pitchFamily="34" charset="-120"/>
              </a:rPr>
              <a:t>Every foreign medical graduate must clear FMGE to practise in India</a:t>
            </a:r>
            <a:endParaRPr lang="en-US" sz="1500" dirty="0"/>
          </a:p>
          <a:p>
            <a:pPr algn="ctr" indent="0" marL="0">
              <a:lnSpc>
                <a:spcPts val="2700"/>
              </a:lnSpc>
              <a:buNone/>
            </a:pPr>
            <a:r>
              <a:rPr lang="en-US" sz="1500" dirty="0">
                <a:solidFill>
                  <a:srgbClr val="FFFFFF"/>
                </a:solidFill>
                <a:latin typeface="Manrope" pitchFamily="34" charset="0"/>
                <a:ea typeface="Manrope" pitchFamily="34" charset="-122"/>
                <a:cs typeface="Manrope" pitchFamily="34" charset="-120"/>
              </a:rPr>
              <a:t>Anyone telling you otherwise is misinforming you</a:t>
            </a:r>
            <a:endParaRPr lang="en-US" sz="1500" dirty="0"/>
          </a:p>
          <a:p>
            <a:pPr algn="ctr" indent="0" marL="0">
              <a:lnSpc>
                <a:spcPts val="2700"/>
              </a:lnSpc>
              <a:buNone/>
            </a:pPr>
            <a:r>
              <a:rPr lang="en-US" sz="1500" b="1" dirty="0">
                <a:solidFill>
                  <a:srgbClr val="E0B85C"/>
                </a:solidFill>
                <a:latin typeface="Manrope" pitchFamily="34" charset="0"/>
                <a:ea typeface="Manrope" pitchFamily="34" charset="-122"/>
                <a:cs typeface="Manrope" pitchFamily="34" charset="-120"/>
              </a:rPr>
              <a:t>Plan the degree WITH FMGE prep from Year 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22</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6 · INDIA VS ABROAD</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Abroad Aasaan Nahi — Alag Hai</a:t>
            </a:r>
            <a:endParaRPr lang="en-US" sz="3400" dirty="0"/>
          </a:p>
        </p:txBody>
      </p:sp>
      <p:sp>
        <p:nvSpPr>
          <p:cNvPr id="6" name="Shape 3"/>
          <p:cNvSpPr/>
          <p:nvPr/>
        </p:nvSpPr>
        <p:spPr>
          <a:xfrm>
            <a:off x="548640" y="1417320"/>
            <a:ext cx="502920" cy="502920"/>
          </a:xfrm>
          <a:prstGeom prst="ellipse">
            <a:avLst/>
          </a:prstGeom>
          <a:solidFill>
            <a:srgbClr val="F5E6C4"/>
          </a:solidFill>
          <a:ln/>
        </p:spPr>
      </p:sp>
      <p:pic>
        <p:nvPicPr>
          <p:cNvPr id="7" name="Image 0" descr="/tmp/claude-0/-home-user/22b099b3-5195-5dc8-9cf2-1c5020dc8f38/scratchpad/deck/icons/book.png">    </p:cNvPr>
          <p:cNvPicPr>
            <a:picLocks noChangeAspect="1"/>
          </p:cNvPicPr>
          <p:nvPr/>
        </p:nvPicPr>
        <p:blipFill>
          <a:blip r:embed="rId1"/>
          <a:stretch>
            <a:fillRect/>
          </a:stretch>
        </p:blipFill>
        <p:spPr>
          <a:xfrm>
            <a:off x="679399" y="1548079"/>
            <a:ext cx="241402" cy="241402"/>
          </a:xfrm>
          <a:prstGeom prst="rect">
            <a:avLst/>
          </a:prstGeom>
        </p:spPr>
      </p:pic>
      <p:sp>
        <p:nvSpPr>
          <p:cNvPr id="8" name="Text 4"/>
          <p:cNvSpPr/>
          <p:nvPr/>
        </p:nvSpPr>
        <p:spPr>
          <a:xfrm>
            <a:off x="1234440" y="1417320"/>
            <a:ext cx="4846320" cy="502920"/>
          </a:xfrm>
          <a:prstGeom prst="rect">
            <a:avLst/>
          </a:prstGeom>
          <a:noFill/>
          <a:ln/>
        </p:spPr>
        <p:txBody>
          <a:bodyPr wrap="square" lIns="0" tIns="0" rIns="0" bIns="0" rtlCol="0" anchor="ctr"/>
          <a:lstStyle/>
          <a:p>
            <a:pPr indent="0" marL="0">
              <a:buNone/>
            </a:pPr>
            <a:r>
              <a:rPr lang="en-US" sz="1250" dirty="0">
                <a:solidFill>
                  <a:srgbClr val="22304A"/>
                </a:solidFill>
                <a:latin typeface="Manrope" pitchFamily="34" charset="0"/>
                <a:ea typeface="Manrope" pitchFamily="34" charset="-122"/>
                <a:cs typeface="Manrope" pitchFamily="34" charset="-120"/>
              </a:rPr>
              <a:t>FMGE burden — a second national exam after the degree</a:t>
            </a:r>
            <a:endParaRPr lang="en-US" sz="1250" dirty="0"/>
          </a:p>
        </p:txBody>
      </p:sp>
      <p:sp>
        <p:nvSpPr>
          <p:cNvPr id="9" name="Shape 5"/>
          <p:cNvSpPr/>
          <p:nvPr/>
        </p:nvSpPr>
        <p:spPr>
          <a:xfrm>
            <a:off x="6217920" y="1417320"/>
            <a:ext cx="502920" cy="502920"/>
          </a:xfrm>
          <a:prstGeom prst="ellipse">
            <a:avLst/>
          </a:prstGeom>
          <a:solidFill>
            <a:srgbClr val="F5E6C4"/>
          </a:solidFill>
          <a:ln/>
        </p:spPr>
      </p:sp>
      <p:pic>
        <p:nvPicPr>
          <p:cNvPr id="10" name="Image 1" descr="/tmp/claude-0/-home-user/22b099b3-5195-5dc8-9cf2-1c5020dc8f38/scratchpad/deck/icons/child.png">    </p:cNvPr>
          <p:cNvPicPr>
            <a:picLocks noChangeAspect="1"/>
          </p:cNvPicPr>
          <p:nvPr/>
        </p:nvPicPr>
        <p:blipFill>
          <a:blip r:embed="rId2"/>
          <a:stretch>
            <a:fillRect/>
          </a:stretch>
        </p:blipFill>
        <p:spPr>
          <a:xfrm>
            <a:off x="6348679" y="1548079"/>
            <a:ext cx="241402" cy="241402"/>
          </a:xfrm>
          <a:prstGeom prst="rect">
            <a:avLst/>
          </a:prstGeom>
        </p:spPr>
      </p:pic>
      <p:sp>
        <p:nvSpPr>
          <p:cNvPr id="11" name="Text 6"/>
          <p:cNvSpPr/>
          <p:nvPr/>
        </p:nvSpPr>
        <p:spPr>
          <a:xfrm>
            <a:off x="6903720" y="1417320"/>
            <a:ext cx="4846320" cy="502920"/>
          </a:xfrm>
          <a:prstGeom prst="rect">
            <a:avLst/>
          </a:prstGeom>
          <a:noFill/>
          <a:ln/>
        </p:spPr>
        <p:txBody>
          <a:bodyPr wrap="square" lIns="0" tIns="0" rIns="0" bIns="0" rtlCol="0" anchor="ctr"/>
          <a:lstStyle/>
          <a:p>
            <a:pPr indent="0" marL="0">
              <a:buNone/>
            </a:pPr>
            <a:r>
              <a:rPr lang="en-US" sz="1250" dirty="0">
                <a:solidFill>
                  <a:srgbClr val="22304A"/>
                </a:solidFill>
                <a:latin typeface="Manrope" pitchFamily="34" charset="0"/>
                <a:ea typeface="Manrope" pitchFamily="34" charset="-122"/>
                <a:cs typeface="Manrope" pitchFamily="34" charset="-120"/>
              </a:rPr>
              <a:t>Self-discipline — no one wakes you up abroad</a:t>
            </a:r>
            <a:endParaRPr lang="en-US" sz="1250" dirty="0"/>
          </a:p>
        </p:txBody>
      </p:sp>
      <p:sp>
        <p:nvSpPr>
          <p:cNvPr id="12" name="Shape 7"/>
          <p:cNvSpPr/>
          <p:nvPr/>
        </p:nvSpPr>
        <p:spPr>
          <a:xfrm>
            <a:off x="548640" y="2286000"/>
            <a:ext cx="502920" cy="502920"/>
          </a:xfrm>
          <a:prstGeom prst="ellipse">
            <a:avLst/>
          </a:prstGeom>
          <a:solidFill>
            <a:srgbClr val="F5E6C4"/>
          </a:solidFill>
          <a:ln/>
        </p:spPr>
      </p:sp>
      <p:pic>
        <p:nvPicPr>
          <p:cNvPr id="13" name="Image 2" descr="/tmp/claude-0/-home-user/22b099b3-5195-5dc8-9cf2-1c5020dc8f38/scratchpad/deck/icons/family.png">    </p:cNvPr>
          <p:cNvPicPr>
            <a:picLocks noChangeAspect="1"/>
          </p:cNvPicPr>
          <p:nvPr/>
        </p:nvPicPr>
        <p:blipFill>
          <a:blip r:embed="rId3"/>
          <a:stretch>
            <a:fillRect/>
          </a:stretch>
        </p:blipFill>
        <p:spPr>
          <a:xfrm>
            <a:off x="679399" y="2416759"/>
            <a:ext cx="241402" cy="241402"/>
          </a:xfrm>
          <a:prstGeom prst="rect">
            <a:avLst/>
          </a:prstGeom>
        </p:spPr>
      </p:pic>
      <p:sp>
        <p:nvSpPr>
          <p:cNvPr id="14" name="Text 8"/>
          <p:cNvSpPr/>
          <p:nvPr/>
        </p:nvSpPr>
        <p:spPr>
          <a:xfrm>
            <a:off x="1234440" y="2286000"/>
            <a:ext cx="4846320" cy="502920"/>
          </a:xfrm>
          <a:prstGeom prst="rect">
            <a:avLst/>
          </a:prstGeom>
          <a:noFill/>
          <a:ln/>
        </p:spPr>
        <p:txBody>
          <a:bodyPr wrap="square" lIns="0" tIns="0" rIns="0" bIns="0" rtlCol="0" anchor="ctr"/>
          <a:lstStyle/>
          <a:p>
            <a:pPr indent="0" marL="0">
              <a:buNone/>
            </a:pPr>
            <a:r>
              <a:rPr lang="en-US" sz="1250" dirty="0">
                <a:solidFill>
                  <a:srgbClr val="22304A"/>
                </a:solidFill>
                <a:latin typeface="Manrope" pitchFamily="34" charset="0"/>
                <a:ea typeface="Manrope" pitchFamily="34" charset="-122"/>
                <a:cs typeface="Manrope" pitchFamily="34" charset="-120"/>
              </a:rPr>
              <a:t>Distance — illness and festivals are a flight away</a:t>
            </a:r>
            <a:endParaRPr lang="en-US" sz="1250" dirty="0"/>
          </a:p>
        </p:txBody>
      </p:sp>
      <p:sp>
        <p:nvSpPr>
          <p:cNvPr id="15" name="Shape 9"/>
          <p:cNvSpPr/>
          <p:nvPr/>
        </p:nvSpPr>
        <p:spPr>
          <a:xfrm>
            <a:off x="6217920" y="2286000"/>
            <a:ext cx="502920" cy="502920"/>
          </a:xfrm>
          <a:prstGeom prst="ellipse">
            <a:avLst/>
          </a:prstGeom>
          <a:solidFill>
            <a:srgbClr val="F5E6C4"/>
          </a:solidFill>
          <a:ln/>
        </p:spPr>
      </p:sp>
      <p:pic>
        <p:nvPicPr>
          <p:cNvPr id="16" name="Image 3" descr="/tmp/claude-0/-home-user/22b099b3-5195-5dc8-9cf2-1c5020dc8f38/scratchpad/deck/icons/usershield.png">    </p:cNvPr>
          <p:cNvPicPr>
            <a:picLocks noChangeAspect="1"/>
          </p:cNvPicPr>
          <p:nvPr/>
        </p:nvPicPr>
        <p:blipFill>
          <a:blip r:embed="rId4"/>
          <a:stretch>
            <a:fillRect/>
          </a:stretch>
        </p:blipFill>
        <p:spPr>
          <a:xfrm>
            <a:off x="6348679" y="2416759"/>
            <a:ext cx="241402" cy="241402"/>
          </a:xfrm>
          <a:prstGeom prst="rect">
            <a:avLst/>
          </a:prstGeom>
        </p:spPr>
      </p:pic>
      <p:sp>
        <p:nvSpPr>
          <p:cNvPr id="17" name="Text 10"/>
          <p:cNvSpPr/>
          <p:nvPr/>
        </p:nvSpPr>
        <p:spPr>
          <a:xfrm>
            <a:off x="6903720" y="2286000"/>
            <a:ext cx="4846320" cy="502920"/>
          </a:xfrm>
          <a:prstGeom prst="rect">
            <a:avLst/>
          </a:prstGeom>
          <a:noFill/>
          <a:ln/>
        </p:spPr>
        <p:txBody>
          <a:bodyPr wrap="square" lIns="0" tIns="0" rIns="0" bIns="0" rtlCol="0" anchor="ctr"/>
          <a:lstStyle/>
          <a:p>
            <a:pPr indent="0" marL="0">
              <a:buNone/>
            </a:pPr>
            <a:r>
              <a:rPr lang="en-US" sz="1250" dirty="0">
                <a:solidFill>
                  <a:srgbClr val="22304A"/>
                </a:solidFill>
                <a:latin typeface="Manrope" pitchFamily="34" charset="0"/>
                <a:ea typeface="Manrope" pitchFamily="34" charset="-122"/>
                <a:cs typeface="Manrope" pitchFamily="34" charset="-120"/>
              </a:rPr>
              <a:t>No safety net — unless someone builds one on the ground</a:t>
            </a:r>
            <a:endParaRPr lang="en-US" sz="1250" dirty="0"/>
          </a:p>
        </p:txBody>
      </p:sp>
      <p:sp>
        <p:nvSpPr>
          <p:cNvPr id="18" name="Shape 11"/>
          <p:cNvSpPr/>
          <p:nvPr/>
        </p:nvSpPr>
        <p:spPr>
          <a:xfrm>
            <a:off x="548640" y="3520440"/>
            <a:ext cx="11091672" cy="2514600"/>
          </a:xfrm>
          <a:prstGeom prst="roundRect">
            <a:avLst>
              <a:gd name="adj" fmla="val 4364"/>
            </a:avLst>
          </a:prstGeom>
          <a:solidFill>
            <a:srgbClr val="0B1A35"/>
          </a:solidFill>
          <a:ln/>
        </p:spPr>
      </p:sp>
      <p:sp>
        <p:nvSpPr>
          <p:cNvPr id="19" name="Text 12"/>
          <p:cNvSpPr/>
          <p:nvPr/>
        </p:nvSpPr>
        <p:spPr>
          <a:xfrm>
            <a:off x="914400" y="3840480"/>
            <a:ext cx="10332720" cy="1600200"/>
          </a:xfrm>
          <a:prstGeom prst="rect">
            <a:avLst/>
          </a:prstGeom>
          <a:noFill/>
          <a:ln/>
        </p:spPr>
        <p:txBody>
          <a:bodyPr wrap="square" lIns="0" tIns="0" rIns="0" bIns="0" rtlCol="0" anchor="ctr"/>
          <a:lstStyle/>
          <a:p>
            <a:pPr algn="ctr" indent="0" marL="0">
              <a:buNone/>
            </a:pPr>
            <a:r>
              <a:rPr lang="en-US" sz="2600" b="1" i="1" dirty="0">
                <a:solidFill>
                  <a:srgbClr val="C6962E"/>
                </a:solidFill>
                <a:latin typeface="Cormorant Garamond" pitchFamily="34" charset="0"/>
                <a:ea typeface="Cormorant Garamond" pitchFamily="34" charset="-122"/>
                <a:cs typeface="Cormorant Garamond" pitchFamily="34" charset="-120"/>
              </a:rPr>
              <a:t>“India govt possible → take it. Full stop.</a:t>
            </a:r>
            <a:endParaRPr lang="en-US" sz="2600" dirty="0"/>
          </a:p>
          <a:p>
            <a:pPr algn="ctr" indent="0" marL="0">
              <a:buNone/>
            </a:pPr>
            <a:r>
              <a:rPr lang="en-US" sz="2600" b="1" i="1" dirty="0">
                <a:solidFill>
                  <a:srgbClr val="C6962E"/>
                </a:solidFill>
                <a:latin typeface="Cormorant Garamond" pitchFamily="34" charset="0"/>
                <a:ea typeface="Cormorant Garamond" pitchFamily="34" charset="-122"/>
                <a:cs typeface="Cormorant Garamond" pitchFamily="34" charset="-120"/>
              </a:rPr>
              <a:t>Abroad is for the family whose India door</a:t>
            </a:r>
            <a:endParaRPr lang="en-US" sz="2600" dirty="0"/>
          </a:p>
          <a:p>
            <a:pPr algn="ctr" indent="0" marL="0">
              <a:buNone/>
            </a:pPr>
            <a:r>
              <a:rPr lang="en-US" sz="2600" b="1" i="1" dirty="0">
                <a:solidFill>
                  <a:srgbClr val="C6962E"/>
                </a:solidFill>
                <a:latin typeface="Cormorant Garamond" pitchFamily="34" charset="0"/>
                <a:ea typeface="Cormorant Garamond" pitchFamily="34" charset="-122"/>
                <a:cs typeface="Cormorant Garamond" pitchFamily="34" charset="-120"/>
              </a:rPr>
              <a:t>is genuinely closed.”</a:t>
            </a:r>
            <a:endParaRPr lang="en-US" sz="2600" dirty="0"/>
          </a:p>
        </p:txBody>
      </p:sp>
      <p:sp>
        <p:nvSpPr>
          <p:cNvPr id="20" name="Text 13"/>
          <p:cNvSpPr/>
          <p:nvPr/>
        </p:nvSpPr>
        <p:spPr>
          <a:xfrm>
            <a:off x="914400" y="5532120"/>
            <a:ext cx="10332720" cy="365760"/>
          </a:xfrm>
          <a:prstGeom prst="rect">
            <a:avLst/>
          </a:prstGeom>
          <a:noFill/>
          <a:ln/>
        </p:spPr>
        <p:txBody>
          <a:bodyPr wrap="square" lIns="0" tIns="0" rIns="0" bIns="0" rtlCol="0" anchor="ctr"/>
          <a:lstStyle/>
          <a:p>
            <a:pPr algn="ctr" indent="0" marL="0">
              <a:buNone/>
            </a:pPr>
            <a:r>
              <a:rPr lang="en-US" sz="1100" dirty="0">
                <a:solidFill>
                  <a:srgbClr val="F5E6C4"/>
                </a:solidFill>
                <a:latin typeface="Manrope" pitchFamily="34" charset="0"/>
                <a:ea typeface="Manrope" pitchFamily="34" charset="-122"/>
                <a:cs typeface="Manrope" pitchFamily="34" charset="-120"/>
              </a:rPr>
              <a:t>— ABHA’s written counselling policy. Photo le lijiye.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23</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Shape 2"/>
          <p:cNvSpPr/>
          <p:nvPr/>
        </p:nvSpPr>
        <p:spPr>
          <a:xfrm>
            <a:off x="548640" y="502920"/>
            <a:ext cx="3246120" cy="5486400"/>
          </a:xfrm>
          <a:prstGeom prst="roundRect">
            <a:avLst>
              <a:gd name="adj" fmla="val 3380"/>
            </a:avLst>
          </a:prstGeom>
          <a:solidFill>
            <a:srgbClr val="0B1A35"/>
          </a:solidFill>
          <a:ln/>
        </p:spPr>
      </p:sp>
      <p:sp>
        <p:nvSpPr>
          <p:cNvPr id="6" name="Shape 3"/>
          <p:cNvSpPr/>
          <p:nvPr/>
        </p:nvSpPr>
        <p:spPr>
          <a:xfrm>
            <a:off x="1810512" y="1051560"/>
            <a:ext cx="731520" cy="731520"/>
          </a:xfrm>
          <a:prstGeom prst="ellipse">
            <a:avLst/>
          </a:prstGeom>
          <a:solidFill>
            <a:srgbClr val="17294F"/>
          </a:solidFill>
          <a:ln/>
        </p:spPr>
      </p:sp>
      <p:pic>
        <p:nvPicPr>
          <p:cNvPr id="7" name="Image 0" descr="/tmp/claude-0/-home-user/22b099b3-5195-5dc8-9cf2-1c5020dc8f38/scratchpad/deck/icons/snow.png">    </p:cNvPr>
          <p:cNvPicPr>
            <a:picLocks noChangeAspect="1"/>
          </p:cNvPicPr>
          <p:nvPr/>
        </p:nvPicPr>
        <p:blipFill>
          <a:blip r:embed="rId1"/>
          <a:stretch>
            <a:fillRect/>
          </a:stretch>
        </p:blipFill>
        <p:spPr>
          <a:xfrm>
            <a:off x="2000707" y="1241755"/>
            <a:ext cx="351130" cy="351130"/>
          </a:xfrm>
          <a:prstGeom prst="rect">
            <a:avLst/>
          </a:prstGeom>
        </p:spPr>
      </p:pic>
      <p:sp>
        <p:nvSpPr>
          <p:cNvPr id="8" name="Text 4"/>
          <p:cNvSpPr/>
          <p:nvPr/>
        </p:nvSpPr>
        <p:spPr>
          <a:xfrm>
            <a:off x="731520" y="2057400"/>
            <a:ext cx="2880360" cy="777240"/>
          </a:xfrm>
          <a:prstGeom prst="rect">
            <a:avLst/>
          </a:prstGeom>
          <a:noFill/>
          <a:ln/>
        </p:spPr>
        <p:txBody>
          <a:bodyPr wrap="square" lIns="0" tIns="0" rIns="0" bIns="0" rtlCol="0" anchor="ctr"/>
          <a:lstStyle/>
          <a:p>
            <a:pPr algn="ctr" indent="0" marL="0">
              <a:buNone/>
            </a:pPr>
            <a:r>
              <a:rPr lang="en-US" sz="3200" b="1" dirty="0">
                <a:solidFill>
                  <a:srgbClr val="C6962E"/>
                </a:solidFill>
                <a:latin typeface="Cormorant Garamond" pitchFamily="34" charset="0"/>
                <a:ea typeface="Cormorant Garamond" pitchFamily="34" charset="-122"/>
                <a:cs typeface="Cormorant Garamond" pitchFamily="34" charset="-120"/>
              </a:rPr>
              <a:t>Russia</a:t>
            </a:r>
            <a:endParaRPr lang="en-US" sz="3200" dirty="0"/>
          </a:p>
        </p:txBody>
      </p:sp>
      <p:sp>
        <p:nvSpPr>
          <p:cNvPr id="9" name="Text 5"/>
          <p:cNvSpPr/>
          <p:nvPr/>
        </p:nvSpPr>
        <p:spPr>
          <a:xfrm>
            <a:off x="777240" y="2880360"/>
            <a:ext cx="2788920" cy="914400"/>
          </a:xfrm>
          <a:prstGeom prst="rect">
            <a:avLst/>
          </a:prstGeom>
          <a:noFill/>
          <a:ln/>
        </p:spPr>
        <p:txBody>
          <a:bodyPr wrap="square" lIns="0" tIns="0" rIns="0" bIns="0" rtlCol="0" anchor="ctr"/>
          <a:lstStyle/>
          <a:p>
            <a:pPr algn="ctr" indent="0" marL="0">
              <a:buNone/>
            </a:pPr>
            <a:r>
              <a:rPr lang="en-US" sz="1150" dirty="0">
                <a:solidFill>
                  <a:srgbClr val="F5E6C4"/>
                </a:solidFill>
                <a:latin typeface="Manrope" pitchFamily="34" charset="0"/>
                <a:ea typeface="Manrope" pitchFamily="34" charset="-122"/>
                <a:cs typeface="Manrope" pitchFamily="34" charset="-120"/>
              </a:rPr>
              <a:t>Purana rasta, bade universities</a:t>
            </a:r>
            <a:endParaRPr lang="en-US" sz="1150" dirty="0"/>
          </a:p>
        </p:txBody>
      </p:sp>
      <p:sp>
        <p:nvSpPr>
          <p:cNvPr id="10" name="Text 6"/>
          <p:cNvSpPr/>
          <p:nvPr/>
        </p:nvSpPr>
        <p:spPr>
          <a:xfrm>
            <a:off x="777240" y="4709160"/>
            <a:ext cx="2788920" cy="1005840"/>
          </a:xfrm>
          <a:prstGeom prst="rect">
            <a:avLst/>
          </a:prstGeom>
          <a:noFill/>
          <a:ln/>
        </p:spPr>
        <p:txBody>
          <a:bodyPr wrap="square" lIns="0" tIns="0" rIns="0" bIns="0" rtlCol="0" anchor="ctr"/>
          <a:lstStyle/>
          <a:p>
            <a:pPr algn="ctr" indent="0" marL="0">
              <a:buNone/>
            </a:pPr>
            <a:r>
              <a:rPr lang="en-US" sz="950" i="1" dirty="0">
                <a:solidFill>
                  <a:srgbClr val="8FA0BC"/>
                </a:solidFill>
                <a:latin typeface="Manrope" pitchFamily="34" charset="0"/>
                <a:ea typeface="Manrope" pitchFamily="34" charset="-122"/>
                <a:cs typeface="Manrope" pitchFamily="34" charset="-120"/>
              </a:rPr>
              <a:t>Profile — same template,</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same parameters,</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for all four countries</a:t>
            </a:r>
            <a:endParaRPr lang="en-US" sz="950" dirty="0"/>
          </a:p>
        </p:txBody>
      </p:sp>
      <p:sp>
        <p:nvSpPr>
          <p:cNvPr id="11" name="Text 7"/>
          <p:cNvSpPr/>
          <p:nvPr/>
        </p:nvSpPr>
        <p:spPr>
          <a:xfrm>
            <a:off x="41148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LEGACY</a:t>
            </a:r>
            <a:endParaRPr lang="en-US" sz="950" dirty="0"/>
          </a:p>
        </p:txBody>
      </p:sp>
      <p:sp>
        <p:nvSpPr>
          <p:cNvPr id="12" name="Text 8"/>
          <p:cNvSpPr/>
          <p:nvPr/>
        </p:nvSpPr>
        <p:spPr>
          <a:xfrm>
            <a:off x="41148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Long MBBS tradition; large established universities</a:t>
            </a:r>
            <a:endParaRPr lang="en-US" sz="1150" dirty="0"/>
          </a:p>
        </p:txBody>
      </p:sp>
      <p:sp>
        <p:nvSpPr>
          <p:cNvPr id="13" name="Text 9"/>
          <p:cNvSpPr/>
          <p:nvPr/>
        </p:nvSpPr>
        <p:spPr>
          <a:xfrm>
            <a:off x="80010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DURATION</a:t>
            </a:r>
            <a:endParaRPr lang="en-US" sz="950" dirty="0"/>
          </a:p>
        </p:txBody>
      </p:sp>
      <p:sp>
        <p:nvSpPr>
          <p:cNvPr id="14" name="Text 10"/>
          <p:cNvSpPr/>
          <p:nvPr/>
        </p:nvSpPr>
        <p:spPr>
          <a:xfrm>
            <a:off x="80010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6-year course; strong govt-university system</a:t>
            </a:r>
            <a:endParaRPr lang="en-US" sz="1150" dirty="0"/>
          </a:p>
        </p:txBody>
      </p:sp>
      <p:sp>
        <p:nvSpPr>
          <p:cNvPr id="15" name="Text 11"/>
          <p:cNvSpPr/>
          <p:nvPr/>
        </p:nvSpPr>
        <p:spPr>
          <a:xfrm>
            <a:off x="41148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CLIMATE &amp; DISTANCE</a:t>
            </a:r>
            <a:endParaRPr lang="en-US" sz="950" dirty="0"/>
          </a:p>
        </p:txBody>
      </p:sp>
      <p:sp>
        <p:nvSpPr>
          <p:cNvPr id="16" name="Text 12"/>
          <p:cNvSpPr/>
          <p:nvPr/>
        </p:nvSpPr>
        <p:spPr>
          <a:xfrm>
            <a:off x="41148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Very cold; long travel from Maharashtra</a:t>
            </a:r>
            <a:endParaRPr lang="en-US" sz="1150" dirty="0"/>
          </a:p>
        </p:txBody>
      </p:sp>
      <p:sp>
        <p:nvSpPr>
          <p:cNvPr id="17" name="Text 13"/>
          <p:cNvSpPr/>
          <p:nvPr/>
        </p:nvSpPr>
        <p:spPr>
          <a:xfrm>
            <a:off x="80010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COMMUNITY</a:t>
            </a:r>
            <a:endParaRPr lang="en-US" sz="950" dirty="0"/>
          </a:p>
        </p:txBody>
      </p:sp>
      <p:sp>
        <p:nvSpPr>
          <p:cNvPr id="18" name="Text 14"/>
          <p:cNvSpPr/>
          <p:nvPr/>
        </p:nvSpPr>
        <p:spPr>
          <a:xfrm>
            <a:off x="80010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Large Indian student population</a:t>
            </a:r>
            <a:endParaRPr lang="en-US" sz="1150" dirty="0"/>
          </a:p>
        </p:txBody>
      </p:sp>
      <p:sp>
        <p:nvSpPr>
          <p:cNvPr id="19" name="Text 15"/>
          <p:cNvSpPr/>
          <p:nvPr/>
        </p:nvSpPr>
        <p:spPr>
          <a:xfrm>
            <a:off x="41148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COST BAND</a:t>
            </a:r>
            <a:endParaRPr lang="en-US" sz="950" dirty="0"/>
          </a:p>
        </p:txBody>
      </p:sp>
      <p:sp>
        <p:nvSpPr>
          <p:cNvPr id="20" name="Text 16"/>
          <p:cNvSpPr/>
          <p:nvPr/>
        </p:nvSpPr>
        <p:spPr>
          <a:xfrm>
            <a:off x="41148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[VERIFY: ABHA published Russia positioning]</a:t>
            </a:r>
            <a:endParaRPr lang="en-US" sz="1150" dirty="0"/>
          </a:p>
        </p:txBody>
      </p:sp>
      <p:sp>
        <p:nvSpPr>
          <p:cNvPr id="21" name="Text 17"/>
          <p:cNvSpPr/>
          <p:nvPr/>
        </p:nvSpPr>
        <p:spPr>
          <a:xfrm>
            <a:off x="80010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LANGUAGE</a:t>
            </a:r>
            <a:endParaRPr lang="en-US" sz="950" dirty="0"/>
          </a:p>
        </p:txBody>
      </p:sp>
      <p:sp>
        <p:nvSpPr>
          <p:cNvPr id="22" name="Text 18"/>
          <p:cNvSpPr/>
          <p:nvPr/>
        </p:nvSpPr>
        <p:spPr>
          <a:xfrm>
            <a:off x="80010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English programmes; Russian for patients</a:t>
            </a:r>
            <a:endParaRPr lang="en-US" sz="1150" dirty="0"/>
          </a:p>
        </p:txBody>
      </p:sp>
      <p:sp>
        <p:nvSpPr>
          <p:cNvPr id="23" name="Shape 19"/>
          <p:cNvSpPr/>
          <p:nvPr/>
        </p:nvSpPr>
        <p:spPr>
          <a:xfrm>
            <a:off x="4114800" y="5257800"/>
            <a:ext cx="7525512" cy="777240"/>
          </a:xfrm>
          <a:prstGeom prst="roundRect">
            <a:avLst>
              <a:gd name="adj" fmla="val 10588"/>
            </a:avLst>
          </a:prstGeom>
          <a:solidFill>
            <a:srgbClr val="F5E6C4"/>
          </a:solidFill>
          <a:ln/>
        </p:spPr>
      </p:sp>
      <p:sp>
        <p:nvSpPr>
          <p:cNvPr id="24" name="Text 20"/>
          <p:cNvSpPr/>
          <p:nvPr/>
        </p:nvSpPr>
        <p:spPr>
          <a:xfrm>
            <a:off x="4389120" y="5257800"/>
            <a:ext cx="7040880" cy="777240"/>
          </a:xfrm>
          <a:prstGeom prst="rect">
            <a:avLst/>
          </a:prstGeom>
          <a:noFill/>
          <a:ln/>
        </p:spPr>
        <p:txBody>
          <a:bodyPr wrap="square" lIns="0" tIns="0" rIns="0" bIns="0" rtlCol="0" anchor="ctr"/>
          <a:lstStyle/>
          <a:p>
            <a:pPr indent="0" marL="0">
              <a:buNone/>
            </a:pPr>
            <a:r>
              <a:rPr lang="en-US" sz="1100" b="1" dirty="0">
                <a:solidFill>
                  <a:srgbClr val="6B5518"/>
                </a:solidFill>
                <a:latin typeface="Manrope" pitchFamily="34" charset="0"/>
                <a:ea typeface="Manrope" pitchFamily="34" charset="-122"/>
                <a:cs typeface="Manrope" pitchFamily="34" charset="-120"/>
              </a:rPr>
              <a:t>RISK · </a:t>
            </a:r>
            <a:pPr indent="0" marL="0">
              <a:buNone/>
            </a:pPr>
            <a:r>
              <a:rPr lang="en-US" sz="1100" dirty="0">
                <a:solidFill>
                  <a:srgbClr val="0B1A35"/>
                </a:solidFill>
                <a:latin typeface="Manrope" pitchFamily="34" charset="0"/>
                <a:ea typeface="Manrope" pitchFamily="34" charset="-122"/>
                <a:cs typeface="Manrope" pitchFamily="34" charset="-120"/>
              </a:rPr>
              <a:t>Distance, patient-language, geopolitics — [VERIFY: current advisory status] · FMGE context [VERIFY: NBE data]</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24</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Shape 2"/>
          <p:cNvSpPr/>
          <p:nvPr/>
        </p:nvSpPr>
        <p:spPr>
          <a:xfrm>
            <a:off x="548640" y="502920"/>
            <a:ext cx="3246120" cy="5486400"/>
          </a:xfrm>
          <a:prstGeom prst="roundRect">
            <a:avLst>
              <a:gd name="adj" fmla="val 3380"/>
            </a:avLst>
          </a:prstGeom>
          <a:solidFill>
            <a:srgbClr val="0B1A35"/>
          </a:solidFill>
          <a:ln/>
        </p:spPr>
      </p:sp>
      <p:sp>
        <p:nvSpPr>
          <p:cNvPr id="6" name="Shape 3"/>
          <p:cNvSpPr/>
          <p:nvPr/>
        </p:nvSpPr>
        <p:spPr>
          <a:xfrm>
            <a:off x="1810512" y="1051560"/>
            <a:ext cx="731520" cy="731520"/>
          </a:xfrm>
          <a:prstGeom prst="ellipse">
            <a:avLst/>
          </a:prstGeom>
          <a:solidFill>
            <a:srgbClr val="17294F"/>
          </a:solidFill>
          <a:ln/>
        </p:spPr>
      </p:sp>
      <p:pic>
        <p:nvPicPr>
          <p:cNvPr id="7" name="Image 0" descr="/tmp/claude-0/-home-user/22b099b3-5195-5dc8-9cf2-1c5020dc8f38/scratchpad/deck/icons/globe.png">    </p:cNvPr>
          <p:cNvPicPr>
            <a:picLocks noChangeAspect="1"/>
          </p:cNvPicPr>
          <p:nvPr/>
        </p:nvPicPr>
        <p:blipFill>
          <a:blip r:embed="rId1"/>
          <a:stretch>
            <a:fillRect/>
          </a:stretch>
        </p:blipFill>
        <p:spPr>
          <a:xfrm>
            <a:off x="2000707" y="1241755"/>
            <a:ext cx="351130" cy="351130"/>
          </a:xfrm>
          <a:prstGeom prst="rect">
            <a:avLst/>
          </a:prstGeom>
        </p:spPr>
      </p:pic>
      <p:sp>
        <p:nvSpPr>
          <p:cNvPr id="8" name="Text 4"/>
          <p:cNvSpPr/>
          <p:nvPr/>
        </p:nvSpPr>
        <p:spPr>
          <a:xfrm>
            <a:off x="731520" y="2057400"/>
            <a:ext cx="2880360" cy="777240"/>
          </a:xfrm>
          <a:prstGeom prst="rect">
            <a:avLst/>
          </a:prstGeom>
          <a:noFill/>
          <a:ln/>
        </p:spPr>
        <p:txBody>
          <a:bodyPr wrap="square" lIns="0" tIns="0" rIns="0" bIns="0" rtlCol="0" anchor="ctr"/>
          <a:lstStyle/>
          <a:p>
            <a:pPr algn="ctr" indent="0" marL="0">
              <a:buNone/>
            </a:pPr>
            <a:r>
              <a:rPr lang="en-US" sz="3200" b="1" dirty="0">
                <a:solidFill>
                  <a:srgbClr val="C6962E"/>
                </a:solidFill>
                <a:latin typeface="Cormorant Garamond" pitchFamily="34" charset="0"/>
                <a:ea typeface="Cormorant Garamond" pitchFamily="34" charset="-122"/>
                <a:cs typeface="Cormorant Garamond" pitchFamily="34" charset="-120"/>
              </a:rPr>
              <a:t>Georgia</a:t>
            </a:r>
            <a:endParaRPr lang="en-US" sz="3200" dirty="0"/>
          </a:p>
        </p:txBody>
      </p:sp>
      <p:sp>
        <p:nvSpPr>
          <p:cNvPr id="9" name="Text 5"/>
          <p:cNvSpPr/>
          <p:nvPr/>
        </p:nvSpPr>
        <p:spPr>
          <a:xfrm>
            <a:off x="777240" y="2880360"/>
            <a:ext cx="2788920" cy="914400"/>
          </a:xfrm>
          <a:prstGeom prst="rect">
            <a:avLst/>
          </a:prstGeom>
          <a:noFill/>
          <a:ln/>
        </p:spPr>
        <p:txBody>
          <a:bodyPr wrap="square" lIns="0" tIns="0" rIns="0" bIns="0" rtlCol="0" anchor="ctr"/>
          <a:lstStyle/>
          <a:p>
            <a:pPr algn="ctr" indent="0" marL="0">
              <a:buNone/>
            </a:pPr>
            <a:r>
              <a:rPr lang="en-US" sz="1150" dirty="0">
                <a:solidFill>
                  <a:srgbClr val="F5E6C4"/>
                </a:solidFill>
                <a:latin typeface="Manrope" pitchFamily="34" charset="0"/>
                <a:ea typeface="Manrope" pitchFamily="34" charset="-122"/>
                <a:cs typeface="Manrope" pitchFamily="34" charset="-120"/>
              </a:rPr>
              <a:t>Europe ka darwaza — chota desh, seedhi flight</a:t>
            </a:r>
            <a:endParaRPr lang="en-US" sz="1150" dirty="0"/>
          </a:p>
        </p:txBody>
      </p:sp>
      <p:sp>
        <p:nvSpPr>
          <p:cNvPr id="10" name="Text 6"/>
          <p:cNvSpPr/>
          <p:nvPr/>
        </p:nvSpPr>
        <p:spPr>
          <a:xfrm>
            <a:off x="777240" y="4709160"/>
            <a:ext cx="2788920" cy="1005840"/>
          </a:xfrm>
          <a:prstGeom prst="rect">
            <a:avLst/>
          </a:prstGeom>
          <a:noFill/>
          <a:ln/>
        </p:spPr>
        <p:txBody>
          <a:bodyPr wrap="square" lIns="0" tIns="0" rIns="0" bIns="0" rtlCol="0" anchor="ctr"/>
          <a:lstStyle/>
          <a:p>
            <a:pPr algn="ctr" indent="0" marL="0">
              <a:buNone/>
            </a:pPr>
            <a:r>
              <a:rPr lang="en-US" sz="950" i="1" dirty="0">
                <a:solidFill>
                  <a:srgbClr val="8FA0BC"/>
                </a:solidFill>
                <a:latin typeface="Manrope" pitchFamily="34" charset="0"/>
                <a:ea typeface="Manrope" pitchFamily="34" charset="-122"/>
                <a:cs typeface="Manrope" pitchFamily="34" charset="-120"/>
              </a:rPr>
              <a:t>Profile — same template,</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same parameters,</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for all four countries</a:t>
            </a:r>
            <a:endParaRPr lang="en-US" sz="950" dirty="0"/>
          </a:p>
        </p:txBody>
      </p:sp>
      <p:sp>
        <p:nvSpPr>
          <p:cNvPr id="11" name="Text 7"/>
          <p:cNvSpPr/>
          <p:nvPr/>
        </p:nvSpPr>
        <p:spPr>
          <a:xfrm>
            <a:off x="41148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PROGRAMMES</a:t>
            </a:r>
            <a:endParaRPr lang="en-US" sz="950" dirty="0"/>
          </a:p>
        </p:txBody>
      </p:sp>
      <p:sp>
        <p:nvSpPr>
          <p:cNvPr id="12" name="Text 8"/>
          <p:cNvSpPr/>
          <p:nvPr/>
        </p:nvSpPr>
        <p:spPr>
          <a:xfrm>
            <a:off x="41148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English-medium; 6-year structure (varies by university)</a:t>
            </a:r>
            <a:endParaRPr lang="en-US" sz="1150" dirty="0"/>
          </a:p>
        </p:txBody>
      </p:sp>
      <p:sp>
        <p:nvSpPr>
          <p:cNvPr id="13" name="Text 9"/>
          <p:cNvSpPr/>
          <p:nvPr/>
        </p:nvSpPr>
        <p:spPr>
          <a:xfrm>
            <a:off x="80010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SAFETY &amp; TRAVEL</a:t>
            </a:r>
            <a:endParaRPr lang="en-US" sz="950" dirty="0"/>
          </a:p>
        </p:txBody>
      </p:sp>
      <p:sp>
        <p:nvSpPr>
          <p:cNvPr id="14" name="Text 10"/>
          <p:cNvSpPr/>
          <p:nvPr/>
        </p:nvSpPr>
        <p:spPr>
          <a:xfrm>
            <a:off x="80010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Safe, small country; short direct flight [VERIFY: route]</a:t>
            </a:r>
            <a:endParaRPr lang="en-US" sz="1150" dirty="0"/>
          </a:p>
        </p:txBody>
      </p:sp>
      <p:sp>
        <p:nvSpPr>
          <p:cNvPr id="15" name="Text 11"/>
          <p:cNvSpPr/>
          <p:nvPr/>
        </p:nvSpPr>
        <p:spPr>
          <a:xfrm>
            <a:off x="41148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TUITION BAND</a:t>
            </a:r>
            <a:endParaRPr lang="en-US" sz="950" dirty="0"/>
          </a:p>
        </p:txBody>
      </p:sp>
      <p:sp>
        <p:nvSpPr>
          <p:cNvPr id="16" name="Text 12"/>
          <p:cNvSpPr/>
          <p:nvPr/>
        </p:nvSpPr>
        <p:spPr>
          <a:xfrm>
            <a:off x="41148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 $24,500–$39,000 total — universities where ABHA assists admissions · indicative, subject to change</a:t>
            </a:r>
            <a:endParaRPr lang="en-US" sz="1150" dirty="0"/>
          </a:p>
        </p:txBody>
      </p:sp>
      <p:sp>
        <p:nvSpPr>
          <p:cNvPr id="17" name="Text 13"/>
          <p:cNvSpPr/>
          <p:nvPr/>
        </p:nvSpPr>
        <p:spPr>
          <a:xfrm>
            <a:off x="80010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COMMUNITY</a:t>
            </a:r>
            <a:endParaRPr lang="en-US" sz="950" dirty="0"/>
          </a:p>
        </p:txBody>
      </p:sp>
      <p:sp>
        <p:nvSpPr>
          <p:cNvPr id="18" name="Text 14"/>
          <p:cNvSpPr/>
          <p:nvPr/>
        </p:nvSpPr>
        <p:spPr>
          <a:xfrm>
            <a:off x="80010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Growing Indian community; European lifestyle</a:t>
            </a:r>
            <a:endParaRPr lang="en-US" sz="1150" dirty="0"/>
          </a:p>
        </p:txBody>
      </p:sp>
      <p:sp>
        <p:nvSpPr>
          <p:cNvPr id="19" name="Text 15"/>
          <p:cNvSpPr/>
          <p:nvPr/>
        </p:nvSpPr>
        <p:spPr>
          <a:xfrm>
            <a:off x="41148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LANGUAGE</a:t>
            </a:r>
            <a:endParaRPr lang="en-US" sz="950" dirty="0"/>
          </a:p>
        </p:txBody>
      </p:sp>
      <p:sp>
        <p:nvSpPr>
          <p:cNvPr id="20" name="Text 16"/>
          <p:cNvSpPr/>
          <p:nvPr/>
        </p:nvSpPr>
        <p:spPr>
          <a:xfrm>
            <a:off x="41148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English programmes; Georgian for patients</a:t>
            </a:r>
            <a:endParaRPr lang="en-US" sz="1150" dirty="0"/>
          </a:p>
        </p:txBody>
      </p:sp>
      <p:sp>
        <p:nvSpPr>
          <p:cNvPr id="21" name="Text 17"/>
          <p:cNvSpPr/>
          <p:nvPr/>
        </p:nvSpPr>
        <p:spPr>
          <a:xfrm>
            <a:off x="80010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ON-GROUND</a:t>
            </a:r>
            <a:endParaRPr lang="en-US" sz="950" dirty="0"/>
          </a:p>
        </p:txBody>
      </p:sp>
      <p:sp>
        <p:nvSpPr>
          <p:cNvPr id="22" name="Text 18"/>
          <p:cNvSpPr/>
          <p:nvPr/>
        </p:nvSpPr>
        <p:spPr>
          <a:xfrm>
            <a:off x="80010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ABHA’s own entity, hostel &amp; team in Tbilisi (Act 8)</a:t>
            </a:r>
            <a:endParaRPr lang="en-US" sz="1150" dirty="0"/>
          </a:p>
        </p:txBody>
      </p:sp>
      <p:sp>
        <p:nvSpPr>
          <p:cNvPr id="23" name="Shape 19"/>
          <p:cNvSpPr/>
          <p:nvPr/>
        </p:nvSpPr>
        <p:spPr>
          <a:xfrm>
            <a:off x="4114800" y="5257800"/>
            <a:ext cx="7525512" cy="777240"/>
          </a:xfrm>
          <a:prstGeom prst="roundRect">
            <a:avLst>
              <a:gd name="adj" fmla="val 10588"/>
            </a:avLst>
          </a:prstGeom>
          <a:solidFill>
            <a:srgbClr val="F5E6C4"/>
          </a:solidFill>
          <a:ln/>
        </p:spPr>
      </p:sp>
      <p:sp>
        <p:nvSpPr>
          <p:cNvPr id="24" name="Text 20"/>
          <p:cNvSpPr/>
          <p:nvPr/>
        </p:nvSpPr>
        <p:spPr>
          <a:xfrm>
            <a:off x="4389120" y="5257800"/>
            <a:ext cx="7040880" cy="777240"/>
          </a:xfrm>
          <a:prstGeom prst="rect">
            <a:avLst/>
          </a:prstGeom>
          <a:noFill/>
          <a:ln/>
        </p:spPr>
        <p:txBody>
          <a:bodyPr wrap="square" lIns="0" tIns="0" rIns="0" bIns="0" rtlCol="0" anchor="ctr"/>
          <a:lstStyle/>
          <a:p>
            <a:pPr indent="0" marL="0">
              <a:buNone/>
            </a:pPr>
            <a:r>
              <a:rPr lang="en-US" sz="1100" b="1" dirty="0">
                <a:solidFill>
                  <a:srgbClr val="6B5518"/>
                </a:solidFill>
                <a:latin typeface="Manrope" pitchFamily="34" charset="0"/>
                <a:ea typeface="Manrope" pitchFamily="34" charset="-122"/>
                <a:cs typeface="Manrope" pitchFamily="34" charset="-120"/>
              </a:rPr>
              <a:t>RISK · </a:t>
            </a:r>
            <a:pPr indent="0" marL="0">
              <a:buNone/>
            </a:pPr>
            <a:r>
              <a:rPr lang="en-US" sz="1100" dirty="0">
                <a:solidFill>
                  <a:srgbClr val="0B1A35"/>
                </a:solidFill>
                <a:latin typeface="Manrope" pitchFamily="34" charset="0"/>
                <a:ea typeface="Manrope" pitchFamily="34" charset="-122"/>
                <a:cs typeface="Manrope" pitchFamily="34" charset="-120"/>
              </a:rPr>
              <a:t>State (govt) universities may close to foreign admissions from 2026 — full disclosure ahead (Slide 29)</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25</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Shape 2"/>
          <p:cNvSpPr/>
          <p:nvPr/>
        </p:nvSpPr>
        <p:spPr>
          <a:xfrm>
            <a:off x="548640" y="502920"/>
            <a:ext cx="3246120" cy="5486400"/>
          </a:xfrm>
          <a:prstGeom prst="roundRect">
            <a:avLst>
              <a:gd name="adj" fmla="val 3380"/>
            </a:avLst>
          </a:prstGeom>
          <a:solidFill>
            <a:srgbClr val="0B1A35"/>
          </a:solidFill>
          <a:ln/>
        </p:spPr>
      </p:sp>
      <p:sp>
        <p:nvSpPr>
          <p:cNvPr id="6" name="Shape 3"/>
          <p:cNvSpPr/>
          <p:nvPr/>
        </p:nvSpPr>
        <p:spPr>
          <a:xfrm>
            <a:off x="1810512" y="1051560"/>
            <a:ext cx="731520" cy="731520"/>
          </a:xfrm>
          <a:prstGeom prst="ellipse">
            <a:avLst/>
          </a:prstGeom>
          <a:solidFill>
            <a:srgbClr val="17294F"/>
          </a:solidFill>
          <a:ln/>
        </p:spPr>
      </p:sp>
      <p:pic>
        <p:nvPicPr>
          <p:cNvPr id="7" name="Image 0" descr="/tmp/claude-0/-home-user/22b099b3-5195-5dc8-9cf2-1c5020dc8f38/scratchpad/deck/icons/snow.png">    </p:cNvPr>
          <p:cNvPicPr>
            <a:picLocks noChangeAspect="1"/>
          </p:cNvPicPr>
          <p:nvPr/>
        </p:nvPicPr>
        <p:blipFill>
          <a:blip r:embed="rId1"/>
          <a:stretch>
            <a:fillRect/>
          </a:stretch>
        </p:blipFill>
        <p:spPr>
          <a:xfrm>
            <a:off x="2000707" y="1241755"/>
            <a:ext cx="351130" cy="351130"/>
          </a:xfrm>
          <a:prstGeom prst="rect">
            <a:avLst/>
          </a:prstGeom>
        </p:spPr>
      </p:pic>
      <p:sp>
        <p:nvSpPr>
          <p:cNvPr id="8" name="Text 4"/>
          <p:cNvSpPr/>
          <p:nvPr/>
        </p:nvSpPr>
        <p:spPr>
          <a:xfrm>
            <a:off x="731520" y="2057400"/>
            <a:ext cx="2880360" cy="777240"/>
          </a:xfrm>
          <a:prstGeom prst="rect">
            <a:avLst/>
          </a:prstGeom>
          <a:noFill/>
          <a:ln/>
        </p:spPr>
        <p:txBody>
          <a:bodyPr wrap="square" lIns="0" tIns="0" rIns="0" bIns="0" rtlCol="0" anchor="ctr"/>
          <a:lstStyle/>
          <a:p>
            <a:pPr algn="ctr" indent="0" marL="0">
              <a:buNone/>
            </a:pPr>
            <a:r>
              <a:rPr lang="en-US" sz="3200" b="1" dirty="0">
                <a:solidFill>
                  <a:srgbClr val="C6962E"/>
                </a:solidFill>
                <a:latin typeface="Cormorant Garamond" pitchFamily="34" charset="0"/>
                <a:ea typeface="Cormorant Garamond" pitchFamily="34" charset="-122"/>
                <a:cs typeface="Cormorant Garamond" pitchFamily="34" charset="-120"/>
              </a:rPr>
              <a:t>Kazakhstan</a:t>
            </a:r>
            <a:endParaRPr lang="en-US" sz="3200" dirty="0"/>
          </a:p>
        </p:txBody>
      </p:sp>
      <p:sp>
        <p:nvSpPr>
          <p:cNvPr id="9" name="Text 5"/>
          <p:cNvSpPr/>
          <p:nvPr/>
        </p:nvSpPr>
        <p:spPr>
          <a:xfrm>
            <a:off x="777240" y="2880360"/>
            <a:ext cx="2788920" cy="914400"/>
          </a:xfrm>
          <a:prstGeom prst="rect">
            <a:avLst/>
          </a:prstGeom>
          <a:noFill/>
          <a:ln/>
        </p:spPr>
        <p:txBody>
          <a:bodyPr wrap="square" lIns="0" tIns="0" rIns="0" bIns="0" rtlCol="0" anchor="ctr"/>
          <a:lstStyle/>
          <a:p>
            <a:pPr algn="ctr" indent="0" marL="0">
              <a:buNone/>
            </a:pPr>
            <a:r>
              <a:rPr lang="en-US" sz="1150" dirty="0">
                <a:solidFill>
                  <a:srgbClr val="F5E6C4"/>
                </a:solidFill>
                <a:latin typeface="Manrope" pitchFamily="34" charset="0"/>
                <a:ea typeface="Manrope" pitchFamily="34" charset="-122"/>
                <a:cs typeface="Manrope" pitchFamily="34" charset="-120"/>
              </a:rPr>
              <a:t>Kam kharcha, bada desh, thanda climate</a:t>
            </a:r>
            <a:endParaRPr lang="en-US" sz="1150" dirty="0"/>
          </a:p>
        </p:txBody>
      </p:sp>
      <p:sp>
        <p:nvSpPr>
          <p:cNvPr id="10" name="Text 6"/>
          <p:cNvSpPr/>
          <p:nvPr/>
        </p:nvSpPr>
        <p:spPr>
          <a:xfrm>
            <a:off x="777240" y="4709160"/>
            <a:ext cx="2788920" cy="1005840"/>
          </a:xfrm>
          <a:prstGeom prst="rect">
            <a:avLst/>
          </a:prstGeom>
          <a:noFill/>
          <a:ln/>
        </p:spPr>
        <p:txBody>
          <a:bodyPr wrap="square" lIns="0" tIns="0" rIns="0" bIns="0" rtlCol="0" anchor="ctr"/>
          <a:lstStyle/>
          <a:p>
            <a:pPr algn="ctr" indent="0" marL="0">
              <a:buNone/>
            </a:pPr>
            <a:r>
              <a:rPr lang="en-US" sz="950" i="1" dirty="0">
                <a:solidFill>
                  <a:srgbClr val="8FA0BC"/>
                </a:solidFill>
                <a:latin typeface="Manrope" pitchFamily="34" charset="0"/>
                <a:ea typeface="Manrope" pitchFamily="34" charset="-122"/>
                <a:cs typeface="Manrope" pitchFamily="34" charset="-120"/>
              </a:rPr>
              <a:t>Profile — same template,</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same parameters,</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for all four countries</a:t>
            </a:r>
            <a:endParaRPr lang="en-US" sz="950" dirty="0"/>
          </a:p>
        </p:txBody>
      </p:sp>
      <p:sp>
        <p:nvSpPr>
          <p:cNvPr id="11" name="Text 7"/>
          <p:cNvSpPr/>
          <p:nvPr/>
        </p:nvSpPr>
        <p:spPr>
          <a:xfrm>
            <a:off x="41148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COST</a:t>
            </a:r>
            <a:endParaRPr lang="en-US" sz="950" dirty="0"/>
          </a:p>
        </p:txBody>
      </p:sp>
      <p:sp>
        <p:nvSpPr>
          <p:cNvPr id="12" name="Text 8"/>
          <p:cNvSpPr/>
          <p:nvPr/>
        </p:nvSpPr>
        <p:spPr>
          <a:xfrm>
            <a:off x="41148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Genuinely lower cost band [VERIFY: current band]</a:t>
            </a:r>
            <a:endParaRPr lang="en-US" sz="1150" dirty="0"/>
          </a:p>
        </p:txBody>
      </p:sp>
      <p:sp>
        <p:nvSpPr>
          <p:cNvPr id="13" name="Text 9"/>
          <p:cNvSpPr/>
          <p:nvPr/>
        </p:nvSpPr>
        <p:spPr>
          <a:xfrm>
            <a:off x="80010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SCALE</a:t>
            </a:r>
            <a:endParaRPr lang="en-US" sz="950" dirty="0"/>
          </a:p>
        </p:txBody>
      </p:sp>
      <p:sp>
        <p:nvSpPr>
          <p:cNvPr id="14" name="Text 10"/>
          <p:cNvSpPr/>
          <p:nvPr/>
        </p:nvSpPr>
        <p:spPr>
          <a:xfrm>
            <a:off x="80010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Large universities; sizeable Indian presence</a:t>
            </a:r>
            <a:endParaRPr lang="en-US" sz="1150" dirty="0"/>
          </a:p>
        </p:txBody>
      </p:sp>
      <p:sp>
        <p:nvSpPr>
          <p:cNvPr id="15" name="Text 11"/>
          <p:cNvSpPr/>
          <p:nvPr/>
        </p:nvSpPr>
        <p:spPr>
          <a:xfrm>
            <a:off x="41148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CLIMATE</a:t>
            </a:r>
            <a:endParaRPr lang="en-US" sz="950" dirty="0"/>
          </a:p>
        </p:txBody>
      </p:sp>
      <p:sp>
        <p:nvSpPr>
          <p:cNvPr id="16" name="Text 12"/>
          <p:cNvSpPr/>
          <p:nvPr/>
        </p:nvSpPr>
        <p:spPr>
          <a:xfrm>
            <a:off x="41148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Harsh winters; large in-country distances</a:t>
            </a:r>
            <a:endParaRPr lang="en-US" sz="1150" dirty="0"/>
          </a:p>
        </p:txBody>
      </p:sp>
      <p:sp>
        <p:nvSpPr>
          <p:cNvPr id="17" name="Text 13"/>
          <p:cNvSpPr/>
          <p:nvPr/>
        </p:nvSpPr>
        <p:spPr>
          <a:xfrm>
            <a:off x="80010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LANGUAGE</a:t>
            </a:r>
            <a:endParaRPr lang="en-US" sz="950" dirty="0"/>
          </a:p>
        </p:txBody>
      </p:sp>
      <p:sp>
        <p:nvSpPr>
          <p:cNvPr id="18" name="Text 14"/>
          <p:cNvSpPr/>
          <p:nvPr/>
        </p:nvSpPr>
        <p:spPr>
          <a:xfrm>
            <a:off x="80010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English programmes; Russian/Kazakh for patients</a:t>
            </a:r>
            <a:endParaRPr lang="en-US" sz="1150" dirty="0"/>
          </a:p>
        </p:txBody>
      </p:sp>
      <p:sp>
        <p:nvSpPr>
          <p:cNvPr id="19" name="Text 15"/>
          <p:cNvSpPr/>
          <p:nvPr/>
        </p:nvSpPr>
        <p:spPr>
          <a:xfrm>
            <a:off x="41148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QUALITY</a:t>
            </a:r>
            <a:endParaRPr lang="en-US" sz="950" dirty="0"/>
          </a:p>
        </p:txBody>
      </p:sp>
      <p:sp>
        <p:nvSpPr>
          <p:cNvPr id="20" name="Text 16"/>
          <p:cNvSpPr/>
          <p:nvPr/>
        </p:nvSpPr>
        <p:spPr>
          <a:xfrm>
            <a:off x="41148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Varies university to university — choose carefully</a:t>
            </a:r>
            <a:endParaRPr lang="en-US" sz="1150" dirty="0"/>
          </a:p>
        </p:txBody>
      </p:sp>
      <p:sp>
        <p:nvSpPr>
          <p:cNvPr id="21" name="Text 17"/>
          <p:cNvSpPr/>
          <p:nvPr/>
        </p:nvSpPr>
        <p:spPr>
          <a:xfrm>
            <a:off x="80010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FMGE CONTEXT</a:t>
            </a:r>
            <a:endParaRPr lang="en-US" sz="950" dirty="0"/>
          </a:p>
        </p:txBody>
      </p:sp>
      <p:sp>
        <p:nvSpPr>
          <p:cNvPr id="22" name="Text 18"/>
          <p:cNvSpPr/>
          <p:nvPr/>
        </p:nvSpPr>
        <p:spPr>
          <a:xfrm>
            <a:off x="80010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[VERIFY: NBE data]</a:t>
            </a:r>
            <a:endParaRPr lang="en-US" sz="1150" dirty="0"/>
          </a:p>
        </p:txBody>
      </p:sp>
      <p:sp>
        <p:nvSpPr>
          <p:cNvPr id="23" name="Shape 19"/>
          <p:cNvSpPr/>
          <p:nvPr/>
        </p:nvSpPr>
        <p:spPr>
          <a:xfrm>
            <a:off x="4114800" y="5257800"/>
            <a:ext cx="7525512" cy="777240"/>
          </a:xfrm>
          <a:prstGeom prst="roundRect">
            <a:avLst>
              <a:gd name="adj" fmla="val 10588"/>
            </a:avLst>
          </a:prstGeom>
          <a:solidFill>
            <a:srgbClr val="F5E6C4"/>
          </a:solidFill>
          <a:ln/>
        </p:spPr>
      </p:sp>
      <p:sp>
        <p:nvSpPr>
          <p:cNvPr id="24" name="Text 20"/>
          <p:cNvSpPr/>
          <p:nvPr/>
        </p:nvSpPr>
        <p:spPr>
          <a:xfrm>
            <a:off x="4389120" y="5257800"/>
            <a:ext cx="7040880" cy="777240"/>
          </a:xfrm>
          <a:prstGeom prst="rect">
            <a:avLst/>
          </a:prstGeom>
          <a:noFill/>
          <a:ln/>
        </p:spPr>
        <p:txBody>
          <a:bodyPr wrap="square" lIns="0" tIns="0" rIns="0" bIns="0" rtlCol="0" anchor="ctr"/>
          <a:lstStyle/>
          <a:p>
            <a:pPr indent="0" marL="0">
              <a:buNone/>
            </a:pPr>
            <a:r>
              <a:rPr lang="en-US" sz="1100" b="1" dirty="0">
                <a:solidFill>
                  <a:srgbClr val="6B5518"/>
                </a:solidFill>
                <a:latin typeface="Manrope" pitchFamily="34" charset="0"/>
                <a:ea typeface="Manrope" pitchFamily="34" charset="-122"/>
                <a:cs typeface="Manrope" pitchFamily="34" charset="-120"/>
              </a:rPr>
              <a:t>RISK · </a:t>
            </a:r>
            <a:pPr indent="0" marL="0">
              <a:buNone/>
            </a:pPr>
            <a:r>
              <a:rPr lang="en-US" sz="1100" dirty="0">
                <a:solidFill>
                  <a:srgbClr val="0B1A35"/>
                </a:solidFill>
                <a:latin typeface="Manrope" pitchFamily="34" charset="0"/>
                <a:ea typeface="Manrope" pitchFamily="34" charset="-122"/>
                <a:cs typeface="Manrope" pitchFamily="34" charset="-120"/>
              </a:rPr>
              <a:t>Regulatory / quality variance across universities [VERIFY: official sources] — university selection is decisive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26</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Shape 2"/>
          <p:cNvSpPr/>
          <p:nvPr/>
        </p:nvSpPr>
        <p:spPr>
          <a:xfrm>
            <a:off x="548640" y="502920"/>
            <a:ext cx="3246120" cy="5486400"/>
          </a:xfrm>
          <a:prstGeom prst="roundRect">
            <a:avLst>
              <a:gd name="adj" fmla="val 3380"/>
            </a:avLst>
          </a:prstGeom>
          <a:solidFill>
            <a:srgbClr val="0B1A35"/>
          </a:solidFill>
          <a:ln/>
        </p:spPr>
      </p:sp>
      <p:sp>
        <p:nvSpPr>
          <p:cNvPr id="6" name="Shape 3"/>
          <p:cNvSpPr/>
          <p:nvPr/>
        </p:nvSpPr>
        <p:spPr>
          <a:xfrm>
            <a:off x="1810512" y="1051560"/>
            <a:ext cx="731520" cy="731520"/>
          </a:xfrm>
          <a:prstGeom prst="ellipse">
            <a:avLst/>
          </a:prstGeom>
          <a:solidFill>
            <a:srgbClr val="17294F"/>
          </a:solidFill>
          <a:ln/>
        </p:spPr>
      </p:sp>
      <p:pic>
        <p:nvPicPr>
          <p:cNvPr id="7" name="Image 0" descr="/tmp/claude-0/-home-user/22b099b3-5195-5dc8-9cf2-1c5020dc8f38/scratchpad/deck/icons/sun.png">    </p:cNvPr>
          <p:cNvPicPr>
            <a:picLocks noChangeAspect="1"/>
          </p:cNvPicPr>
          <p:nvPr/>
        </p:nvPicPr>
        <p:blipFill>
          <a:blip r:embed="rId1"/>
          <a:stretch>
            <a:fillRect/>
          </a:stretch>
        </p:blipFill>
        <p:spPr>
          <a:xfrm>
            <a:off x="2000707" y="1241755"/>
            <a:ext cx="351130" cy="351130"/>
          </a:xfrm>
          <a:prstGeom prst="rect">
            <a:avLst/>
          </a:prstGeom>
        </p:spPr>
      </p:pic>
      <p:sp>
        <p:nvSpPr>
          <p:cNvPr id="8" name="Text 4"/>
          <p:cNvSpPr/>
          <p:nvPr/>
        </p:nvSpPr>
        <p:spPr>
          <a:xfrm>
            <a:off x="731520" y="2057400"/>
            <a:ext cx="2880360" cy="777240"/>
          </a:xfrm>
          <a:prstGeom prst="rect">
            <a:avLst/>
          </a:prstGeom>
          <a:noFill/>
          <a:ln/>
        </p:spPr>
        <p:txBody>
          <a:bodyPr wrap="square" lIns="0" tIns="0" rIns="0" bIns="0" rtlCol="0" anchor="ctr"/>
          <a:lstStyle/>
          <a:p>
            <a:pPr algn="ctr" indent="0" marL="0">
              <a:buNone/>
            </a:pPr>
            <a:r>
              <a:rPr lang="en-US" sz="3200" b="1" dirty="0">
                <a:solidFill>
                  <a:srgbClr val="C6962E"/>
                </a:solidFill>
                <a:latin typeface="Cormorant Garamond" pitchFamily="34" charset="0"/>
                <a:ea typeface="Cormorant Garamond" pitchFamily="34" charset="-122"/>
                <a:cs typeface="Cormorant Garamond" pitchFamily="34" charset="-120"/>
              </a:rPr>
              <a:t>Timor-Leste</a:t>
            </a:r>
            <a:endParaRPr lang="en-US" sz="3200" dirty="0"/>
          </a:p>
        </p:txBody>
      </p:sp>
      <p:sp>
        <p:nvSpPr>
          <p:cNvPr id="9" name="Text 5"/>
          <p:cNvSpPr/>
          <p:nvPr/>
        </p:nvSpPr>
        <p:spPr>
          <a:xfrm>
            <a:off x="777240" y="2880360"/>
            <a:ext cx="2788920" cy="914400"/>
          </a:xfrm>
          <a:prstGeom prst="rect">
            <a:avLst/>
          </a:prstGeom>
          <a:noFill/>
          <a:ln/>
        </p:spPr>
        <p:txBody>
          <a:bodyPr wrap="square" lIns="0" tIns="0" rIns="0" bIns="0" rtlCol="0" anchor="ctr"/>
          <a:lstStyle/>
          <a:p>
            <a:pPr algn="ctr" indent="0" marL="0">
              <a:buNone/>
            </a:pPr>
            <a:r>
              <a:rPr lang="en-US" sz="1150" dirty="0">
                <a:solidFill>
                  <a:srgbClr val="F5E6C4"/>
                </a:solidFill>
                <a:latin typeface="Manrope" pitchFamily="34" charset="0"/>
                <a:ea typeface="Manrope" pitchFamily="34" charset="-122"/>
                <a:cs typeface="Manrope" pitchFamily="34" charset="-120"/>
              </a:rPr>
              <a:t>Naya rasta, kam kharcha, garm climate</a:t>
            </a:r>
            <a:endParaRPr lang="en-US" sz="1150" dirty="0"/>
          </a:p>
        </p:txBody>
      </p:sp>
      <p:sp>
        <p:nvSpPr>
          <p:cNvPr id="10" name="Text 6"/>
          <p:cNvSpPr/>
          <p:nvPr/>
        </p:nvSpPr>
        <p:spPr>
          <a:xfrm>
            <a:off x="777240" y="4709160"/>
            <a:ext cx="2788920" cy="1005840"/>
          </a:xfrm>
          <a:prstGeom prst="rect">
            <a:avLst/>
          </a:prstGeom>
          <a:noFill/>
          <a:ln/>
        </p:spPr>
        <p:txBody>
          <a:bodyPr wrap="square" lIns="0" tIns="0" rIns="0" bIns="0" rtlCol="0" anchor="ctr"/>
          <a:lstStyle/>
          <a:p>
            <a:pPr algn="ctr" indent="0" marL="0">
              <a:buNone/>
            </a:pPr>
            <a:r>
              <a:rPr lang="en-US" sz="950" i="1" dirty="0">
                <a:solidFill>
                  <a:srgbClr val="8FA0BC"/>
                </a:solidFill>
                <a:latin typeface="Manrope" pitchFamily="34" charset="0"/>
                <a:ea typeface="Manrope" pitchFamily="34" charset="-122"/>
                <a:cs typeface="Manrope" pitchFamily="34" charset="-120"/>
              </a:rPr>
              <a:t>Profile — same template,</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same parameters,</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for all four countries</a:t>
            </a:r>
            <a:endParaRPr lang="en-US" sz="950" dirty="0"/>
          </a:p>
        </p:txBody>
      </p:sp>
      <p:sp>
        <p:nvSpPr>
          <p:cNvPr id="11" name="Text 7"/>
          <p:cNvSpPr/>
          <p:nvPr/>
        </p:nvSpPr>
        <p:spPr>
          <a:xfrm>
            <a:off x="41148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COST</a:t>
            </a:r>
            <a:endParaRPr lang="en-US" sz="950" dirty="0"/>
          </a:p>
        </p:txBody>
      </p:sp>
      <p:sp>
        <p:nvSpPr>
          <p:cNvPr id="12" name="Text 8"/>
          <p:cNvSpPr/>
          <p:nvPr/>
        </p:nvSpPr>
        <p:spPr>
          <a:xfrm>
            <a:off x="41148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 $20,400 total tuition (Dili) — indicative, subject to change</a:t>
            </a:r>
            <a:endParaRPr lang="en-US" sz="1150" dirty="0"/>
          </a:p>
        </p:txBody>
      </p:sp>
      <p:sp>
        <p:nvSpPr>
          <p:cNvPr id="13" name="Text 9"/>
          <p:cNvSpPr/>
          <p:nvPr/>
        </p:nvSpPr>
        <p:spPr>
          <a:xfrm>
            <a:off x="8001000" y="658368"/>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CLIMATE</a:t>
            </a:r>
            <a:endParaRPr lang="en-US" sz="950" dirty="0"/>
          </a:p>
        </p:txBody>
      </p:sp>
      <p:sp>
        <p:nvSpPr>
          <p:cNvPr id="14" name="Text 10"/>
          <p:cNvSpPr/>
          <p:nvPr/>
        </p:nvSpPr>
        <p:spPr>
          <a:xfrm>
            <a:off x="8001000" y="932688"/>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Warm, tropical — no harsh winter</a:t>
            </a:r>
            <a:endParaRPr lang="en-US" sz="1150" dirty="0"/>
          </a:p>
        </p:txBody>
      </p:sp>
      <p:sp>
        <p:nvSpPr>
          <p:cNvPr id="15" name="Text 11"/>
          <p:cNvSpPr/>
          <p:nvPr/>
        </p:nvSpPr>
        <p:spPr>
          <a:xfrm>
            <a:off x="41148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SCALE</a:t>
            </a:r>
            <a:endParaRPr lang="en-US" sz="950" dirty="0"/>
          </a:p>
        </p:txBody>
      </p:sp>
      <p:sp>
        <p:nvSpPr>
          <p:cNvPr id="16" name="Text 12"/>
          <p:cNvSpPr/>
          <p:nvPr/>
        </p:nvSpPr>
        <p:spPr>
          <a:xfrm>
            <a:off x="41148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Small, young destination; smaller Indian community</a:t>
            </a:r>
            <a:endParaRPr lang="en-US" sz="1150" dirty="0"/>
          </a:p>
        </p:txBody>
      </p:sp>
      <p:sp>
        <p:nvSpPr>
          <p:cNvPr id="17" name="Text 13"/>
          <p:cNvSpPr/>
          <p:nvPr/>
        </p:nvSpPr>
        <p:spPr>
          <a:xfrm>
            <a:off x="8001000" y="1828800"/>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TRACK RECORD</a:t>
            </a:r>
            <a:endParaRPr lang="en-US" sz="950" dirty="0"/>
          </a:p>
        </p:txBody>
      </p:sp>
      <p:sp>
        <p:nvSpPr>
          <p:cNvPr id="18" name="Text 14"/>
          <p:cNvSpPr/>
          <p:nvPr/>
        </p:nvSpPr>
        <p:spPr>
          <a:xfrm>
            <a:off x="8001000" y="2103120"/>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Newer — fewer FMGE-history years [VERIFY: NBE data]</a:t>
            </a:r>
            <a:endParaRPr lang="en-US" sz="1150" dirty="0"/>
          </a:p>
        </p:txBody>
      </p:sp>
      <p:sp>
        <p:nvSpPr>
          <p:cNvPr id="19" name="Text 15"/>
          <p:cNvSpPr/>
          <p:nvPr/>
        </p:nvSpPr>
        <p:spPr>
          <a:xfrm>
            <a:off x="41148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UNIVERSITIES</a:t>
            </a:r>
            <a:endParaRPr lang="en-US" sz="950" dirty="0"/>
          </a:p>
        </p:txBody>
      </p:sp>
      <p:sp>
        <p:nvSpPr>
          <p:cNvPr id="20" name="Text 16"/>
          <p:cNvSpPr/>
          <p:nvPr/>
        </p:nvSpPr>
        <p:spPr>
          <a:xfrm>
            <a:off x="41148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Where ABHA assists admissions, incl. Dili [VERIFY: list]</a:t>
            </a:r>
            <a:endParaRPr lang="en-US" sz="1150" dirty="0"/>
          </a:p>
        </p:txBody>
      </p:sp>
      <p:sp>
        <p:nvSpPr>
          <p:cNvPr id="21" name="Text 17"/>
          <p:cNvSpPr/>
          <p:nvPr/>
        </p:nvSpPr>
        <p:spPr>
          <a:xfrm>
            <a:off x="8001000" y="2999232"/>
            <a:ext cx="3703320" cy="274320"/>
          </a:xfrm>
          <a:prstGeom prst="rect">
            <a:avLst/>
          </a:prstGeom>
          <a:noFill/>
          <a:ln/>
        </p:spPr>
        <p:txBody>
          <a:bodyPr wrap="square" lIns="0" tIns="0" rIns="0" bIns="0" rtlCol="0" anchor="ctr"/>
          <a:lstStyle/>
          <a:p>
            <a:pPr indent="0" marL="0">
              <a:buNone/>
            </a:pPr>
            <a:r>
              <a:rPr lang="en-US" sz="950" b="1" spc="150" kern="0" dirty="0">
                <a:solidFill>
                  <a:srgbClr val="C6962E"/>
                </a:solidFill>
                <a:latin typeface="Manrope" pitchFamily="34" charset="0"/>
                <a:ea typeface="Manrope" pitchFamily="34" charset="-122"/>
                <a:cs typeface="Manrope" pitchFamily="34" charset="-120"/>
              </a:rPr>
              <a:t>PIONEER FACTOR</a:t>
            </a:r>
            <a:endParaRPr lang="en-US" sz="950" dirty="0"/>
          </a:p>
        </p:txBody>
      </p:sp>
      <p:sp>
        <p:nvSpPr>
          <p:cNvPr id="22" name="Text 18"/>
          <p:cNvSpPr/>
          <p:nvPr/>
        </p:nvSpPr>
        <p:spPr>
          <a:xfrm>
            <a:off x="8001000" y="3273552"/>
            <a:ext cx="3703320" cy="77724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First-mover advantage AND first-mover risk — both real</a:t>
            </a:r>
            <a:endParaRPr lang="en-US" sz="1150" dirty="0"/>
          </a:p>
        </p:txBody>
      </p:sp>
      <p:sp>
        <p:nvSpPr>
          <p:cNvPr id="23" name="Shape 19"/>
          <p:cNvSpPr/>
          <p:nvPr/>
        </p:nvSpPr>
        <p:spPr>
          <a:xfrm>
            <a:off x="4114800" y="5257800"/>
            <a:ext cx="7525512" cy="777240"/>
          </a:xfrm>
          <a:prstGeom prst="roundRect">
            <a:avLst>
              <a:gd name="adj" fmla="val 10588"/>
            </a:avLst>
          </a:prstGeom>
          <a:solidFill>
            <a:srgbClr val="F5E6C4"/>
          </a:solidFill>
          <a:ln/>
        </p:spPr>
      </p:sp>
      <p:sp>
        <p:nvSpPr>
          <p:cNvPr id="24" name="Text 20"/>
          <p:cNvSpPr/>
          <p:nvPr/>
        </p:nvSpPr>
        <p:spPr>
          <a:xfrm>
            <a:off x="4389120" y="5257800"/>
            <a:ext cx="7040880" cy="777240"/>
          </a:xfrm>
          <a:prstGeom prst="rect">
            <a:avLst/>
          </a:prstGeom>
          <a:noFill/>
          <a:ln/>
        </p:spPr>
        <p:txBody>
          <a:bodyPr wrap="square" lIns="0" tIns="0" rIns="0" bIns="0" rtlCol="0" anchor="ctr"/>
          <a:lstStyle/>
          <a:p>
            <a:pPr indent="0" marL="0">
              <a:buNone/>
            </a:pPr>
            <a:r>
              <a:rPr lang="en-US" sz="1100" b="1" dirty="0">
                <a:solidFill>
                  <a:srgbClr val="6B5518"/>
                </a:solidFill>
                <a:latin typeface="Manrope" pitchFamily="34" charset="0"/>
                <a:ea typeface="Manrope" pitchFamily="34" charset="-122"/>
                <a:cs typeface="Manrope" pitchFamily="34" charset="-120"/>
              </a:rPr>
              <a:t>RISK · </a:t>
            </a:r>
            <a:pPr indent="0" marL="0">
              <a:buNone/>
            </a:pPr>
            <a:r>
              <a:rPr lang="en-US" sz="1100" dirty="0">
                <a:solidFill>
                  <a:srgbClr val="0B1A35"/>
                </a:solidFill>
                <a:latin typeface="Manrope" pitchFamily="34" charset="0"/>
                <a:ea typeface="Manrope" pitchFamily="34" charset="-122"/>
                <a:cs typeface="Manrope" pitchFamily="34" charset="-120"/>
              </a:rPr>
              <a:t>New destination: shorter institutional track record — weigh the pioneer trade-off honestly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27</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000" b="1" dirty="0">
                <a:solidFill>
                  <a:srgbClr val="0B1A35"/>
                </a:solidFill>
                <a:latin typeface="Cormorant Garamond" pitchFamily="34" charset="0"/>
                <a:ea typeface="Cormorant Garamond" pitchFamily="34" charset="-122"/>
                <a:cs typeface="Cormorant Garamond" pitchFamily="34" charset="-120"/>
              </a:rPr>
              <a:t>Char Desh, Ek Table</a:t>
            </a:r>
            <a:endParaRPr lang="en-US" sz="3000" dirty="0"/>
          </a:p>
        </p:txBody>
      </p:sp>
      <p:sp>
        <p:nvSpPr>
          <p:cNvPr id="6" name="Text 3"/>
          <p:cNvSpPr/>
          <p:nvPr/>
        </p:nvSpPr>
        <p:spPr>
          <a:xfrm>
            <a:off x="566928" y="102412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Identical parameters — aap khud tulna kijiye. No column is highlighted.</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86000"/>
                <a:gridCol w="2194560"/>
                <a:gridCol w="2231136"/>
                <a:gridCol w="2194560"/>
                <a:gridCol w="2194560"/>
              </a:tblGrid>
              <a:tr h="457200">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Parameter</a:t>
                      </a:r>
                      <a:endParaRPr lang="en-US" sz="100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Russia</a:t>
                      </a:r>
                      <a:endParaRPr lang="en-US" sz="100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Georgia</a:t>
                      </a:r>
                      <a:endParaRPr lang="en-US" sz="100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Kazakhstan</a:t>
                      </a:r>
                      <a:endParaRPr lang="en-US" sz="100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Timor-Leste</a:t>
                      </a:r>
                      <a:endParaRPr lang="en-US" sz="100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0B1A35"/>
                    </a:solidFill>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Medium</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English prog.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English prog.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English prog.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English prog. [VERIFY]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Duration</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6 yr</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6 yr (varies)</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5–6 yr [VERIFY]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Climate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Very cold</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Moderate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Very cold</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Tropical</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Cost band</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≈$24.5–39k total*</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≈$20.4k total*</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Flight from India</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Long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Short–medium</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Medium</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Long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Indian community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Large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Growing</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Large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Small</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FMGE context</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 NBE]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 NBE]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 NBE]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[VERIFY: NBE]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tcPr>
                </a:tc>
              </a:tr>
              <a:tr h="457200">
                <a:tc>
                  <a:txBody>
                    <a:bodyPr/>
                    <a:lstStyle/>
                    <a:p>
                      <a:pPr indent="0" marL="0">
                        <a:buNone/>
                      </a:pPr>
                      <a:r>
                        <a:rPr lang="en-US" sz="950" b="1" dirty="0">
                          <a:solidFill>
                            <a:srgbClr val="22304A"/>
                          </a:solidFill>
                          <a:latin typeface="Manrope" pitchFamily="34" charset="0"/>
                          <a:ea typeface="Manrope" pitchFamily="34" charset="-122"/>
                          <a:cs typeface="Manrope" pitchFamily="34" charset="-120"/>
                        </a:rPr>
                        <a:t>Key risk</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Distance / geopolitics [VERIFY]</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State-univ 2026 (S.29)</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Winter / variance</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c>
                  <a:txBody>
                    <a:bodyPr/>
                    <a:lstStyle/>
                    <a:p>
                      <a:pPr indent="0" marL="0">
                        <a:buNone/>
                      </a:pPr>
                      <a:r>
                        <a:rPr lang="en-US" sz="950" dirty="0">
                          <a:solidFill>
                            <a:srgbClr val="22304A"/>
                          </a:solidFill>
                          <a:latin typeface="Manrope" pitchFamily="34" charset="0"/>
                          <a:ea typeface="Manrope" pitchFamily="34" charset="-122"/>
                          <a:cs typeface="Manrope" pitchFamily="34" charset="-120"/>
                        </a:rPr>
                        <a:t>New track record</a:t>
                      </a:r>
                      <a:endParaRPr lang="en-US" sz="950" dirty="0">
                        <a:latin typeface="Manrope" charset="0"/>
                        <a:ea typeface="Manrope" charset="0"/>
                        <a:cs typeface="Manrope" charset="0"/>
                      </a:endParaRPr>
                    </a:p>
                  </a:txBody>
                  <a:tcPr marL="54864" marR="54864" marT="54864" marB="54864" anchor="ctr">
                    <a:lnL w="9525" cap="flat" cmpd="sng" algn="ctr">
                      <a:solidFill>
                        <a:srgbClr val="E3DCC8"/>
                      </a:solidFill>
                      <a:prstDash val="solid"/>
                      <a:round/>
                      <a:headEnd type="none" w="med" len="med"/>
                      <a:tailEnd type="none" w="med" len="med"/>
                    </a:lnL>
                    <a:lnR w="9525" cap="flat" cmpd="sng" algn="ctr">
                      <a:solidFill>
                        <a:srgbClr val="E3DCC8"/>
                      </a:solidFill>
                      <a:prstDash val="solid"/>
                      <a:round/>
                      <a:headEnd type="none" w="med" len="med"/>
                      <a:tailEnd type="none" w="med" len="med"/>
                    </a:lnR>
                    <a:lnT w="9525" cap="flat" cmpd="sng" algn="ctr">
                      <a:solidFill>
                        <a:srgbClr val="E3DCC8"/>
                      </a:solidFill>
                      <a:prstDash val="solid"/>
                      <a:round/>
                      <a:headEnd type="none" w="med" len="med"/>
                      <a:tailEnd type="none" w="med" len="med"/>
                    </a:lnT>
                    <a:lnB w="9525" cap="flat" cmpd="sng" algn="ctr">
                      <a:solidFill>
                        <a:srgbClr val="E3DCC8"/>
                      </a:solidFill>
                      <a:prstDash val="solid"/>
                      <a:round/>
                      <a:headEnd type="none" w="med" len="med"/>
                      <a:tailEnd type="none" w="med" len="med"/>
                    </a:lnB>
                    <a:solidFill>
                      <a:srgbClr val="FAF4E3"/>
                    </a:solidFill>
                  </a:tcPr>
                </a:tc>
              </a:tr>
            </a:tbl>
          </a:graphicData>
        </a:graphic>
      </p:graphicFrame>
      <p:sp>
        <p:nvSpPr>
          <p:cNvPr id="8" name="Shape 4"/>
          <p:cNvSpPr/>
          <p:nvPr/>
        </p:nvSpPr>
        <p:spPr>
          <a:xfrm>
            <a:off x="548640" y="6272784"/>
            <a:ext cx="11091672" cy="384048"/>
          </a:xfrm>
          <a:prstGeom prst="roundRect">
            <a:avLst>
              <a:gd name="adj" fmla="val 14286"/>
            </a:avLst>
          </a:prstGeom>
          <a:solidFill>
            <a:srgbClr val="F5E6C4"/>
          </a:solidFill>
          <a:ln/>
        </p:spPr>
      </p:sp>
      <p:sp>
        <p:nvSpPr>
          <p:cNvPr id="9" name="Text 5"/>
          <p:cNvSpPr/>
          <p:nvPr/>
        </p:nvSpPr>
        <p:spPr>
          <a:xfrm>
            <a:off x="777240" y="6272784"/>
            <a:ext cx="10634472" cy="384048"/>
          </a:xfrm>
          <a:prstGeom prst="rect">
            <a:avLst/>
          </a:prstGeom>
          <a:noFill/>
          <a:ln/>
        </p:spPr>
        <p:txBody>
          <a:bodyPr wrap="square" lIns="0" tIns="0" rIns="0" bIns="0" rtlCol="0" anchor="ctr"/>
          <a:lstStyle/>
          <a:p>
            <a:pPr indent="0" marL="0">
              <a:buNone/>
            </a:pPr>
            <a:r>
              <a:rPr lang="en-US" sz="950" i="1" dirty="0">
                <a:solidFill>
                  <a:srgbClr val="6B5518"/>
                </a:solidFill>
                <a:latin typeface="Manrope" pitchFamily="34" charset="0"/>
                <a:ea typeface="Manrope" pitchFamily="34" charset="-122"/>
                <a:cs typeface="Manrope" pitchFamily="34" charset="-120"/>
              </a:rPr>
              <a:t>*Indicative, subject to change — controlled seminar use only, not for social reuse. FMGE data only from NBE official publications.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28</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7 · COUNTRIES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Kaun Sa Desh Kis Family Ke Liye</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Imaandaar allocation — sabko Georgia nahi</a:t>
            </a:r>
            <a:endParaRPr lang="en-US" sz="1300" dirty="0"/>
          </a:p>
        </p:txBody>
      </p:sp>
      <p:sp>
        <p:nvSpPr>
          <p:cNvPr id="7" name="Shape 4"/>
          <p:cNvSpPr/>
          <p:nvPr/>
        </p:nvSpPr>
        <p:spPr>
          <a:xfrm>
            <a:off x="548640" y="1691640"/>
            <a:ext cx="11091672" cy="841248"/>
          </a:xfrm>
          <a:prstGeom prst="roundRect">
            <a:avLst>
              <a:gd name="adj" fmla="val 10870"/>
            </a:avLst>
          </a:prstGeom>
          <a:solidFill>
            <a:srgbClr val="F2F4F8"/>
          </a:solidFill>
          <a:ln/>
        </p:spPr>
      </p:sp>
      <p:sp>
        <p:nvSpPr>
          <p:cNvPr id="8" name="Text 5"/>
          <p:cNvSpPr/>
          <p:nvPr/>
        </p:nvSpPr>
        <p:spPr>
          <a:xfrm>
            <a:off x="914400" y="1691640"/>
            <a:ext cx="6949440" cy="841248"/>
          </a:xfrm>
          <a:prstGeom prst="rect">
            <a:avLst/>
          </a:prstGeom>
          <a:noFill/>
          <a:ln/>
        </p:spPr>
        <p:txBody>
          <a:bodyPr wrap="square" lIns="0" tIns="0" rIns="0" bIns="0" rtlCol="0" anchor="ctr"/>
          <a:lstStyle/>
          <a:p>
            <a:pPr indent="0" marL="0">
              <a:buNone/>
            </a:pPr>
            <a:r>
              <a:rPr lang="en-US" sz="1450" dirty="0">
                <a:solidFill>
                  <a:srgbClr val="0B1A35"/>
                </a:solidFill>
                <a:latin typeface="Manrope" pitchFamily="34" charset="0"/>
                <a:ea typeface="Manrope" pitchFamily="34" charset="-122"/>
                <a:cs typeface="Manrope" pitchFamily="34" charset="-120"/>
              </a:rPr>
              <a:t>Tight budget + cold is OK</a:t>
            </a:r>
            <a:endParaRPr lang="en-US" sz="1450" dirty="0"/>
          </a:p>
        </p:txBody>
      </p:sp>
      <p:sp>
        <p:nvSpPr>
          <p:cNvPr id="9" name="Text 6"/>
          <p:cNvSpPr/>
          <p:nvPr/>
        </p:nvSpPr>
        <p:spPr>
          <a:xfrm>
            <a:off x="8046720" y="1691640"/>
            <a:ext cx="3291840" cy="841248"/>
          </a:xfrm>
          <a:prstGeom prst="rect">
            <a:avLst/>
          </a:prstGeom>
          <a:noFill/>
          <a:ln/>
        </p:spPr>
        <p:txBody>
          <a:bodyPr wrap="square" lIns="0" tIns="0" rIns="0" bIns="0" rtlCol="0" anchor="ctr"/>
          <a:lstStyle/>
          <a:p>
            <a:pPr algn="r" indent="0" marL="0">
              <a:buNone/>
            </a:pPr>
            <a:r>
              <a:rPr lang="en-US" sz="2200" b="1" dirty="0">
                <a:solidFill>
                  <a:srgbClr val="C6962E"/>
                </a:solidFill>
                <a:latin typeface="Cormorant Garamond" pitchFamily="34" charset="0"/>
                <a:ea typeface="Cormorant Garamond" pitchFamily="34" charset="-122"/>
                <a:cs typeface="Cormorant Garamond" pitchFamily="34" charset="-120"/>
              </a:rPr>
              <a:t>Kazakhstan</a:t>
            </a:r>
            <a:endParaRPr lang="en-US" sz="2200" dirty="0"/>
          </a:p>
        </p:txBody>
      </p:sp>
      <p:sp>
        <p:nvSpPr>
          <p:cNvPr id="10" name="Text 7"/>
          <p:cNvSpPr/>
          <p:nvPr/>
        </p:nvSpPr>
        <p:spPr>
          <a:xfrm>
            <a:off x="7452360" y="1691640"/>
            <a:ext cx="457200" cy="841248"/>
          </a:xfrm>
          <a:prstGeom prst="rect">
            <a:avLst/>
          </a:prstGeom>
          <a:noFill/>
          <a:ln/>
        </p:spPr>
        <p:txBody>
          <a:bodyPr wrap="square" lIns="0" tIns="0" rIns="0" bIns="0" rtlCol="0" anchor="ctr"/>
          <a:lstStyle/>
          <a:p>
            <a:pPr indent="0" marL="0">
              <a:buNone/>
            </a:pPr>
            <a:r>
              <a:rPr lang="en-US" sz="1600" dirty="0">
                <a:solidFill>
                  <a:srgbClr val="5A6B85"/>
                </a:solidFill>
                <a:latin typeface="Manrope" pitchFamily="34" charset="0"/>
                <a:ea typeface="Manrope" pitchFamily="34" charset="-122"/>
                <a:cs typeface="Manrope" pitchFamily="34" charset="-120"/>
              </a:rPr>
              <a:t>→</a:t>
            </a:r>
            <a:endParaRPr lang="en-US" sz="1600" dirty="0"/>
          </a:p>
        </p:txBody>
      </p:sp>
      <p:sp>
        <p:nvSpPr>
          <p:cNvPr id="11" name="Shape 8"/>
          <p:cNvSpPr/>
          <p:nvPr/>
        </p:nvSpPr>
        <p:spPr>
          <a:xfrm>
            <a:off x="548640" y="2679192"/>
            <a:ext cx="11091672" cy="841248"/>
          </a:xfrm>
          <a:prstGeom prst="roundRect">
            <a:avLst>
              <a:gd name="adj" fmla="val 10870"/>
            </a:avLst>
          </a:prstGeom>
          <a:solidFill>
            <a:srgbClr val="F2F4F8"/>
          </a:solidFill>
          <a:ln/>
        </p:spPr>
      </p:sp>
      <p:sp>
        <p:nvSpPr>
          <p:cNvPr id="12" name="Text 9"/>
          <p:cNvSpPr/>
          <p:nvPr/>
        </p:nvSpPr>
        <p:spPr>
          <a:xfrm>
            <a:off x="914400" y="2679192"/>
            <a:ext cx="6949440" cy="841248"/>
          </a:xfrm>
          <a:prstGeom prst="rect">
            <a:avLst/>
          </a:prstGeom>
          <a:noFill/>
          <a:ln/>
        </p:spPr>
        <p:txBody>
          <a:bodyPr wrap="square" lIns="0" tIns="0" rIns="0" bIns="0" rtlCol="0" anchor="ctr"/>
          <a:lstStyle/>
          <a:p>
            <a:pPr indent="0" marL="0">
              <a:buNone/>
            </a:pPr>
            <a:r>
              <a:rPr lang="en-US" sz="1450" dirty="0">
                <a:solidFill>
                  <a:srgbClr val="0B1A35"/>
                </a:solidFill>
                <a:latin typeface="Manrope" pitchFamily="34" charset="0"/>
                <a:ea typeface="Manrope" pitchFamily="34" charset="-122"/>
                <a:cs typeface="Manrope" pitchFamily="34" charset="-120"/>
              </a:rPr>
              <a:t>Lowest budget + warm climate</a:t>
            </a:r>
            <a:endParaRPr lang="en-US" sz="1450" dirty="0"/>
          </a:p>
        </p:txBody>
      </p:sp>
      <p:sp>
        <p:nvSpPr>
          <p:cNvPr id="13" name="Text 10"/>
          <p:cNvSpPr/>
          <p:nvPr/>
        </p:nvSpPr>
        <p:spPr>
          <a:xfrm>
            <a:off x="8046720" y="2679192"/>
            <a:ext cx="3291840" cy="841248"/>
          </a:xfrm>
          <a:prstGeom prst="rect">
            <a:avLst/>
          </a:prstGeom>
          <a:noFill/>
          <a:ln/>
        </p:spPr>
        <p:txBody>
          <a:bodyPr wrap="square" lIns="0" tIns="0" rIns="0" bIns="0" rtlCol="0" anchor="ctr"/>
          <a:lstStyle/>
          <a:p>
            <a:pPr algn="r" indent="0" marL="0">
              <a:buNone/>
            </a:pPr>
            <a:r>
              <a:rPr lang="en-US" sz="2200" b="1" dirty="0">
                <a:solidFill>
                  <a:srgbClr val="C6962E"/>
                </a:solidFill>
                <a:latin typeface="Cormorant Garamond" pitchFamily="34" charset="0"/>
                <a:ea typeface="Cormorant Garamond" pitchFamily="34" charset="-122"/>
                <a:cs typeface="Cormorant Garamond" pitchFamily="34" charset="-120"/>
              </a:rPr>
              <a:t>Timor-Leste</a:t>
            </a:r>
            <a:endParaRPr lang="en-US" sz="2200" dirty="0"/>
          </a:p>
        </p:txBody>
      </p:sp>
      <p:sp>
        <p:nvSpPr>
          <p:cNvPr id="14" name="Text 11"/>
          <p:cNvSpPr/>
          <p:nvPr/>
        </p:nvSpPr>
        <p:spPr>
          <a:xfrm>
            <a:off x="7452360" y="2679192"/>
            <a:ext cx="457200" cy="841248"/>
          </a:xfrm>
          <a:prstGeom prst="rect">
            <a:avLst/>
          </a:prstGeom>
          <a:noFill/>
          <a:ln/>
        </p:spPr>
        <p:txBody>
          <a:bodyPr wrap="square" lIns="0" tIns="0" rIns="0" bIns="0" rtlCol="0" anchor="ctr"/>
          <a:lstStyle/>
          <a:p>
            <a:pPr indent="0" marL="0">
              <a:buNone/>
            </a:pPr>
            <a:r>
              <a:rPr lang="en-US" sz="1600" dirty="0">
                <a:solidFill>
                  <a:srgbClr val="5A6B85"/>
                </a:solidFill>
                <a:latin typeface="Manrope" pitchFamily="34" charset="0"/>
                <a:ea typeface="Manrope" pitchFamily="34" charset="-122"/>
                <a:cs typeface="Manrope" pitchFamily="34" charset="-120"/>
              </a:rPr>
              <a:t>→</a:t>
            </a:r>
            <a:endParaRPr lang="en-US" sz="1600" dirty="0"/>
          </a:p>
        </p:txBody>
      </p:sp>
      <p:sp>
        <p:nvSpPr>
          <p:cNvPr id="15" name="Shape 12"/>
          <p:cNvSpPr/>
          <p:nvPr/>
        </p:nvSpPr>
        <p:spPr>
          <a:xfrm>
            <a:off x="548640" y="3666744"/>
            <a:ext cx="11091672" cy="841248"/>
          </a:xfrm>
          <a:prstGeom prst="roundRect">
            <a:avLst>
              <a:gd name="adj" fmla="val 10870"/>
            </a:avLst>
          </a:prstGeom>
          <a:solidFill>
            <a:srgbClr val="F2F4F8"/>
          </a:solidFill>
          <a:ln/>
        </p:spPr>
      </p:sp>
      <p:sp>
        <p:nvSpPr>
          <p:cNvPr id="16" name="Text 13"/>
          <p:cNvSpPr/>
          <p:nvPr/>
        </p:nvSpPr>
        <p:spPr>
          <a:xfrm>
            <a:off x="914400" y="3666744"/>
            <a:ext cx="6949440" cy="841248"/>
          </a:xfrm>
          <a:prstGeom prst="rect">
            <a:avLst/>
          </a:prstGeom>
          <a:noFill/>
          <a:ln/>
        </p:spPr>
        <p:txBody>
          <a:bodyPr wrap="square" lIns="0" tIns="0" rIns="0" bIns="0" rtlCol="0" anchor="ctr"/>
          <a:lstStyle/>
          <a:p>
            <a:pPr indent="0" marL="0">
              <a:buNone/>
            </a:pPr>
            <a:r>
              <a:rPr lang="en-US" sz="1450" dirty="0">
                <a:solidFill>
                  <a:srgbClr val="0B1A35"/>
                </a:solidFill>
                <a:latin typeface="Manrope" pitchFamily="34" charset="0"/>
                <a:ea typeface="Manrope" pitchFamily="34" charset="-122"/>
                <a:cs typeface="Manrope" pitchFamily="34" charset="-120"/>
              </a:rPr>
              <a:t>Big-university legacy + distance OK</a:t>
            </a:r>
            <a:endParaRPr lang="en-US" sz="1450" dirty="0"/>
          </a:p>
        </p:txBody>
      </p:sp>
      <p:sp>
        <p:nvSpPr>
          <p:cNvPr id="17" name="Text 14"/>
          <p:cNvSpPr/>
          <p:nvPr/>
        </p:nvSpPr>
        <p:spPr>
          <a:xfrm>
            <a:off x="8046720" y="3666744"/>
            <a:ext cx="3291840" cy="841248"/>
          </a:xfrm>
          <a:prstGeom prst="rect">
            <a:avLst/>
          </a:prstGeom>
          <a:noFill/>
          <a:ln/>
        </p:spPr>
        <p:txBody>
          <a:bodyPr wrap="square" lIns="0" tIns="0" rIns="0" bIns="0" rtlCol="0" anchor="ctr"/>
          <a:lstStyle/>
          <a:p>
            <a:pPr algn="r" indent="0" marL="0">
              <a:buNone/>
            </a:pPr>
            <a:r>
              <a:rPr lang="en-US" sz="2200" b="1" dirty="0">
                <a:solidFill>
                  <a:srgbClr val="C6962E"/>
                </a:solidFill>
                <a:latin typeface="Cormorant Garamond" pitchFamily="34" charset="0"/>
                <a:ea typeface="Cormorant Garamond" pitchFamily="34" charset="-122"/>
                <a:cs typeface="Cormorant Garamond" pitchFamily="34" charset="-120"/>
              </a:rPr>
              <a:t>Russia</a:t>
            </a:r>
            <a:endParaRPr lang="en-US" sz="2200" dirty="0"/>
          </a:p>
        </p:txBody>
      </p:sp>
      <p:sp>
        <p:nvSpPr>
          <p:cNvPr id="18" name="Text 15"/>
          <p:cNvSpPr/>
          <p:nvPr/>
        </p:nvSpPr>
        <p:spPr>
          <a:xfrm>
            <a:off x="7452360" y="3666744"/>
            <a:ext cx="457200" cy="841248"/>
          </a:xfrm>
          <a:prstGeom prst="rect">
            <a:avLst/>
          </a:prstGeom>
          <a:noFill/>
          <a:ln/>
        </p:spPr>
        <p:txBody>
          <a:bodyPr wrap="square" lIns="0" tIns="0" rIns="0" bIns="0" rtlCol="0" anchor="ctr"/>
          <a:lstStyle/>
          <a:p>
            <a:pPr indent="0" marL="0">
              <a:buNone/>
            </a:pPr>
            <a:r>
              <a:rPr lang="en-US" sz="1600" dirty="0">
                <a:solidFill>
                  <a:srgbClr val="5A6B85"/>
                </a:solidFill>
                <a:latin typeface="Manrope" pitchFamily="34" charset="0"/>
                <a:ea typeface="Manrope" pitchFamily="34" charset="-122"/>
                <a:cs typeface="Manrope" pitchFamily="34" charset="-120"/>
              </a:rPr>
              <a:t>→</a:t>
            </a:r>
            <a:endParaRPr lang="en-US" sz="1600" dirty="0"/>
          </a:p>
        </p:txBody>
      </p:sp>
      <p:sp>
        <p:nvSpPr>
          <p:cNvPr id="19" name="Shape 16"/>
          <p:cNvSpPr/>
          <p:nvPr/>
        </p:nvSpPr>
        <p:spPr>
          <a:xfrm>
            <a:off x="548640" y="4654296"/>
            <a:ext cx="11091672" cy="841248"/>
          </a:xfrm>
          <a:prstGeom prst="roundRect">
            <a:avLst>
              <a:gd name="adj" fmla="val 10870"/>
            </a:avLst>
          </a:prstGeom>
          <a:solidFill>
            <a:srgbClr val="F5E6C4"/>
          </a:solidFill>
          <a:ln/>
        </p:spPr>
      </p:sp>
      <p:sp>
        <p:nvSpPr>
          <p:cNvPr id="20" name="Text 17"/>
          <p:cNvSpPr/>
          <p:nvPr/>
        </p:nvSpPr>
        <p:spPr>
          <a:xfrm>
            <a:off x="914400" y="4654296"/>
            <a:ext cx="6949440" cy="841248"/>
          </a:xfrm>
          <a:prstGeom prst="rect">
            <a:avLst/>
          </a:prstGeom>
          <a:noFill/>
          <a:ln/>
        </p:spPr>
        <p:txBody>
          <a:bodyPr wrap="square" lIns="0" tIns="0" rIns="0" bIns="0" rtlCol="0" anchor="ctr"/>
          <a:lstStyle/>
          <a:p>
            <a:pPr indent="0" marL="0">
              <a:buNone/>
            </a:pPr>
            <a:r>
              <a:rPr lang="en-US" sz="1450" dirty="0">
                <a:solidFill>
                  <a:srgbClr val="0B1A35"/>
                </a:solidFill>
                <a:latin typeface="Manrope" pitchFamily="34" charset="0"/>
                <a:ea typeface="Manrope" pitchFamily="34" charset="-122"/>
                <a:cs typeface="Manrope" pitchFamily="34" charset="-120"/>
              </a:rPr>
              <a:t>Service infrastructure + shorter flight priority</a:t>
            </a:r>
            <a:endParaRPr lang="en-US" sz="1450" dirty="0"/>
          </a:p>
        </p:txBody>
      </p:sp>
      <p:sp>
        <p:nvSpPr>
          <p:cNvPr id="21" name="Text 18"/>
          <p:cNvSpPr/>
          <p:nvPr/>
        </p:nvSpPr>
        <p:spPr>
          <a:xfrm>
            <a:off x="8046720" y="4654296"/>
            <a:ext cx="3291840" cy="841248"/>
          </a:xfrm>
          <a:prstGeom prst="rect">
            <a:avLst/>
          </a:prstGeom>
          <a:noFill/>
          <a:ln/>
        </p:spPr>
        <p:txBody>
          <a:bodyPr wrap="square" lIns="0" tIns="0" rIns="0" bIns="0" rtlCol="0" anchor="ctr"/>
          <a:lstStyle/>
          <a:p>
            <a:pPr algn="r" indent="0" marL="0">
              <a:buNone/>
            </a:pPr>
            <a:r>
              <a:rPr lang="en-US" sz="2200" b="1" dirty="0">
                <a:solidFill>
                  <a:srgbClr val="6B5518"/>
                </a:solidFill>
                <a:latin typeface="Cormorant Garamond" pitchFamily="34" charset="0"/>
                <a:ea typeface="Cormorant Garamond" pitchFamily="34" charset="-122"/>
                <a:cs typeface="Cormorant Garamond" pitchFamily="34" charset="-120"/>
              </a:rPr>
              <a:t>Georgia</a:t>
            </a:r>
            <a:endParaRPr lang="en-US" sz="2200" dirty="0"/>
          </a:p>
        </p:txBody>
      </p:sp>
      <p:sp>
        <p:nvSpPr>
          <p:cNvPr id="22" name="Text 19"/>
          <p:cNvSpPr/>
          <p:nvPr/>
        </p:nvSpPr>
        <p:spPr>
          <a:xfrm>
            <a:off x="7452360" y="4654296"/>
            <a:ext cx="457200" cy="841248"/>
          </a:xfrm>
          <a:prstGeom prst="rect">
            <a:avLst/>
          </a:prstGeom>
          <a:noFill/>
          <a:ln/>
        </p:spPr>
        <p:txBody>
          <a:bodyPr wrap="square" lIns="0" tIns="0" rIns="0" bIns="0" rtlCol="0" anchor="ctr"/>
          <a:lstStyle/>
          <a:p>
            <a:pPr indent="0" marL="0">
              <a:buNone/>
            </a:pPr>
            <a:r>
              <a:rPr lang="en-US" sz="1600" dirty="0">
                <a:solidFill>
                  <a:srgbClr val="5A6B85"/>
                </a:solidFill>
                <a:latin typeface="Manrope" pitchFamily="34" charset="0"/>
                <a:ea typeface="Manrope" pitchFamily="34" charset="-122"/>
                <a:cs typeface="Manrope" pitchFamily="34" charset="-120"/>
              </a:rPr>
              <a:t>→</a:t>
            </a:r>
            <a:endParaRPr lang="en-US" sz="1600" dirty="0"/>
          </a:p>
        </p:txBody>
      </p:sp>
      <p:sp>
        <p:nvSpPr>
          <p:cNvPr id="23" name="Text 20"/>
          <p:cNvSpPr/>
          <p:nvPr/>
        </p:nvSpPr>
        <p:spPr>
          <a:xfrm>
            <a:off x="566928" y="5897880"/>
            <a:ext cx="10058400" cy="365760"/>
          </a:xfrm>
          <a:prstGeom prst="rect">
            <a:avLst/>
          </a:prstGeom>
          <a:noFill/>
          <a:ln/>
        </p:spPr>
        <p:txBody>
          <a:bodyPr wrap="square" lIns="0" tIns="0" rIns="0" bIns="0" rtlCol="0" anchor="ctr"/>
          <a:lstStyle/>
          <a:p>
            <a:pPr indent="0" marL="0">
              <a:buNone/>
            </a:pPr>
            <a:r>
              <a:rPr lang="en-US" sz="1200" i="1" dirty="0">
                <a:solidFill>
                  <a:srgbClr val="5A6B85"/>
                </a:solidFill>
                <a:latin typeface="Manrope" pitchFamily="34" charset="0"/>
                <a:ea typeface="Manrope" pitchFamily="34" charset="-122"/>
                <a:cs typeface="Manrope" pitchFamily="34" charset="-120"/>
              </a:rPr>
              <a:t>Allocation by fit, not by commission. Kisi bhi profile ko force nahi kiya jaata.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29</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7 · COUNTRIES</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Georgia 2026: Ek Zaroori Khulasa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Jo hum aapko khud bata rahe hain — pehle</a:t>
            </a:r>
            <a:endParaRPr lang="en-US" sz="1300" dirty="0"/>
          </a:p>
        </p:txBody>
      </p:sp>
      <p:sp>
        <p:nvSpPr>
          <p:cNvPr id="7" name="Shape 4"/>
          <p:cNvSpPr/>
          <p:nvPr/>
        </p:nvSpPr>
        <p:spPr>
          <a:xfrm>
            <a:off x="1188720" y="1783080"/>
            <a:ext cx="9811512" cy="4160520"/>
          </a:xfrm>
          <a:prstGeom prst="roundRect">
            <a:avLst>
              <a:gd name="adj" fmla="val 2637"/>
            </a:avLst>
          </a:prstGeom>
          <a:solidFill>
            <a:srgbClr val="17294F"/>
          </a:solidFill>
          <a:ln w="19050">
            <a:solidFill>
              <a:srgbClr val="C6962E"/>
            </a:solidFill>
            <a:prstDash val="solid"/>
          </a:ln>
        </p:spPr>
      </p:sp>
      <p:pic>
        <p:nvPicPr>
          <p:cNvPr id="8" name="Image 0" descr="/tmp/claude-0/-home-user/22b099b3-5195-5dc8-9cf2-1c5020dc8f38/scratchpad/deck/icons/warn.png">    </p:cNvPr>
          <p:cNvPicPr>
            <a:picLocks noChangeAspect="1"/>
          </p:cNvPicPr>
          <p:nvPr/>
        </p:nvPicPr>
        <p:blipFill>
          <a:blip r:embed="rId1"/>
          <a:stretch>
            <a:fillRect/>
          </a:stretch>
        </p:blipFill>
        <p:spPr>
          <a:xfrm>
            <a:off x="1600200" y="2103120"/>
            <a:ext cx="457200" cy="457200"/>
          </a:xfrm>
          <a:prstGeom prst="rect">
            <a:avLst/>
          </a:prstGeom>
        </p:spPr>
      </p:pic>
      <p:sp>
        <p:nvSpPr>
          <p:cNvPr id="9" name="Text 5"/>
          <p:cNvSpPr/>
          <p:nvPr/>
        </p:nvSpPr>
        <p:spPr>
          <a:xfrm>
            <a:off x="2240280" y="2148840"/>
            <a:ext cx="7315200" cy="365760"/>
          </a:xfrm>
          <a:prstGeom prst="rect">
            <a:avLst/>
          </a:prstGeom>
          <a:noFill/>
          <a:ln/>
        </p:spPr>
        <p:txBody>
          <a:bodyPr wrap="square" lIns="0" tIns="0" rIns="0" bIns="0" rtlCol="0" anchor="ctr"/>
          <a:lstStyle/>
          <a:p>
            <a:pPr indent="0" marL="0">
              <a:buNone/>
            </a:pPr>
            <a:r>
              <a:rPr lang="en-US" sz="1200" b="1" spc="200" kern="0" dirty="0">
                <a:solidFill>
                  <a:srgbClr val="E0B85C"/>
                </a:solidFill>
                <a:latin typeface="Manrope" pitchFamily="34" charset="0"/>
                <a:ea typeface="Manrope" pitchFamily="34" charset="-122"/>
                <a:cs typeface="Manrope" pitchFamily="34" charset="-120"/>
              </a:rPr>
              <a:t>DISCLOSURE — READ BEFORE DECIDING</a:t>
            </a:r>
            <a:endParaRPr lang="en-US" sz="1200" dirty="0"/>
          </a:p>
        </p:txBody>
      </p:sp>
      <p:sp>
        <p:nvSpPr>
          <p:cNvPr id="10" name="Text 6"/>
          <p:cNvSpPr/>
          <p:nvPr/>
        </p:nvSpPr>
        <p:spPr>
          <a:xfrm>
            <a:off x="1691640" y="2697480"/>
            <a:ext cx="8869680" cy="301752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Georgia STATE (government) universities may close to foreign admissions from 2026  [VERIFY: official circular / citation]</a:t>
            </a:r>
            <a:endParaRPr lang="en-US" sz="1400" dirty="0"/>
          </a:p>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This is a live regulatory matter — status can change</a:t>
            </a:r>
            <a:endParaRPr lang="en-US" sz="1400" dirty="0"/>
          </a:p>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ABHA therefore structures choices around PRIVATE universities</a:t>
            </a:r>
            <a:endParaRPr lang="en-US" sz="1400" dirty="0"/>
          </a:p>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Universities where ABHA assists admissions: private, NMC &amp; WHO Eligible programmes</a:t>
            </a:r>
            <a:endParaRPr lang="en-US" sz="1400" dirty="0"/>
          </a:p>
          <a:p>
            <a:pPr marL="342900" indent="-342900">
              <a:spcAft>
                <a:spcPts val="1200"/>
              </a:spcAft>
              <a:buSzPct val="100000"/>
              <a:buChar char="•"/>
            </a:pPr>
            <a:r>
              <a:rPr lang="en-US" sz="1400" b="1" dirty="0">
                <a:solidFill>
                  <a:srgbClr val="E0B85C"/>
                </a:solidFill>
                <a:latin typeface="Manrope" pitchFamily="34" charset="0"/>
                <a:ea typeface="Manrope" pitchFamily="34" charset="-122"/>
                <a:cs typeface="Manrope" pitchFamily="34" charset="-120"/>
              </a:rPr>
              <a:t>We disclose this BEFORE you decide — not after</a:t>
            </a:r>
            <a:endParaRPr lang="en-US" sz="1400" dirty="0"/>
          </a:p>
        </p:txBody>
      </p:sp>
      <p:sp>
        <p:nvSpPr>
          <p:cNvPr id="11" name="Text 7"/>
          <p:cNvSpPr/>
          <p:nvPr/>
        </p:nvSpPr>
        <p:spPr>
          <a:xfrm>
            <a:off x="0" y="6172200"/>
            <a:ext cx="12188952" cy="365760"/>
          </a:xfrm>
          <a:prstGeom prst="rect">
            <a:avLst/>
          </a:prstGeom>
          <a:noFill/>
          <a:ln/>
        </p:spPr>
        <p:txBody>
          <a:bodyPr wrap="square" lIns="0" tIns="0" rIns="0" bIns="0" rtlCol="0" anchor="ctr"/>
          <a:lstStyle/>
          <a:p>
            <a:pPr algn="ctr" indent="0" marL="0">
              <a:buNone/>
            </a:pPr>
            <a:r>
              <a:rPr lang="en-US" sz="1500" i="1" dirty="0">
                <a:solidFill>
                  <a:srgbClr val="F5E6C4"/>
                </a:solidFill>
                <a:latin typeface="Cormorant Garamond" pitchFamily="34" charset="0"/>
                <a:ea typeface="Cormorant Garamond" pitchFamily="34" charset="-122"/>
                <a:cs typeface="Cormorant Garamond" pitchFamily="34" charset="-120"/>
              </a:rPr>
              <a:t>Disclosure is not our weakness — it is our identity.</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30</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9326880" cy="777240"/>
          </a:xfrm>
          <a:prstGeom prst="rect">
            <a:avLst/>
          </a:prstGeom>
          <a:noFill/>
          <a:ln/>
        </p:spPr>
        <p:txBody>
          <a:bodyPr wrap="square" lIns="0" tIns="0" rIns="0" bIns="0" rtlCol="0" anchor="ctr"/>
          <a:lstStyle/>
          <a:p>
            <a:pPr indent="0" marL="0">
              <a:buNone/>
            </a:pPr>
            <a:r>
              <a:rPr lang="en-US" sz="2900" b="1" dirty="0">
                <a:solidFill>
                  <a:srgbClr val="C6962E"/>
                </a:solidFill>
                <a:latin typeface="Cormorant Garamond" pitchFamily="34" charset="0"/>
                <a:ea typeface="Cormorant Garamond" pitchFamily="34" charset="-122"/>
                <a:cs typeface="Cormorant Garamond" pitchFamily="34" charset="-120"/>
              </a:rPr>
              <a:t>Humne Ye Business Shuru Nahi Kiya</a:t>
            </a:r>
            <a:endParaRPr lang="en-US" sz="29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Ek baap ne kiya</a:t>
            </a:r>
            <a:endParaRPr lang="en-US" sz="1300" dirty="0"/>
          </a:p>
        </p:txBody>
      </p:sp>
      <p:sp>
        <p:nvSpPr>
          <p:cNvPr id="7" name="Shape 4"/>
          <p:cNvSpPr/>
          <p:nvPr/>
        </p:nvSpPr>
        <p:spPr>
          <a:xfrm>
            <a:off x="822960" y="1828800"/>
            <a:ext cx="3108960" cy="3931920"/>
          </a:xfrm>
          <a:prstGeom prst="roundRect">
            <a:avLst>
              <a:gd name="adj" fmla="val 3529"/>
            </a:avLst>
          </a:prstGeom>
          <a:solidFill>
            <a:srgbClr val="17294F"/>
          </a:solidFill>
          <a:ln w="12700">
            <a:solidFill>
              <a:srgbClr val="C6962E"/>
            </a:solidFill>
            <a:prstDash val="solid"/>
          </a:ln>
        </p:spPr>
      </p:sp>
      <p:sp>
        <p:nvSpPr>
          <p:cNvPr id="8" name="Shape 5"/>
          <p:cNvSpPr/>
          <p:nvPr/>
        </p:nvSpPr>
        <p:spPr>
          <a:xfrm>
            <a:off x="1993392" y="2743200"/>
            <a:ext cx="777240" cy="777240"/>
          </a:xfrm>
          <a:prstGeom prst="ellipse">
            <a:avLst/>
          </a:prstGeom>
          <a:solidFill>
            <a:srgbClr val="0B1A35"/>
          </a:solidFill>
          <a:ln/>
        </p:spPr>
      </p:sp>
      <p:pic>
        <p:nvPicPr>
          <p:cNvPr id="9" name="Image 0" descr="/tmp/claude-0/-home-user/22b099b3-5195-5dc8-9cf2-1c5020dc8f38/scratchpad/deck/icons/usershield.png">    </p:cNvPr>
          <p:cNvPicPr>
            <a:picLocks noChangeAspect="1"/>
          </p:cNvPicPr>
          <p:nvPr/>
        </p:nvPicPr>
        <p:blipFill>
          <a:blip r:embed="rId1"/>
          <a:stretch>
            <a:fillRect/>
          </a:stretch>
        </p:blipFill>
        <p:spPr>
          <a:xfrm>
            <a:off x="2195474" y="2945282"/>
            <a:ext cx="373075" cy="373075"/>
          </a:xfrm>
          <a:prstGeom prst="rect">
            <a:avLst/>
          </a:prstGeom>
        </p:spPr>
      </p:pic>
      <p:sp>
        <p:nvSpPr>
          <p:cNvPr id="10" name="Text 6"/>
          <p:cNvSpPr/>
          <p:nvPr/>
        </p:nvSpPr>
        <p:spPr>
          <a:xfrm>
            <a:off x="1005840" y="3840480"/>
            <a:ext cx="2743200" cy="640080"/>
          </a:xfrm>
          <a:prstGeom prst="rect">
            <a:avLst/>
          </a:prstGeom>
          <a:noFill/>
          <a:ln/>
        </p:spPr>
        <p:txBody>
          <a:bodyPr wrap="square" lIns="0" tIns="0" rIns="0" bIns="0" rtlCol="0" anchor="ctr"/>
          <a:lstStyle/>
          <a:p>
            <a:pPr algn="ctr" indent="0" marL="0">
              <a:buNone/>
            </a:pPr>
            <a:r>
              <a:rPr lang="en-US" sz="950" i="1" dirty="0">
                <a:solidFill>
                  <a:srgbClr val="8FA0BC"/>
                </a:solidFill>
                <a:latin typeface="Manrope" pitchFamily="34" charset="0"/>
                <a:ea typeface="Manrope" pitchFamily="34" charset="-122"/>
                <a:cs typeface="Manrope" pitchFamily="34" charset="-120"/>
              </a:rPr>
              <a:t>[VERIFY: approved</a:t>
            </a:r>
            <a:endParaRPr lang="en-US" sz="950" dirty="0"/>
          </a:p>
          <a:p>
            <a:pPr algn="ctr" indent="0" marL="0">
              <a:buNone/>
            </a:pPr>
            <a:r>
              <a:rPr lang="en-US" sz="950" i="1" dirty="0">
                <a:solidFill>
                  <a:srgbClr val="8FA0BC"/>
                </a:solidFill>
                <a:latin typeface="Manrope" pitchFamily="34" charset="0"/>
                <a:ea typeface="Manrope" pitchFamily="34" charset="-122"/>
                <a:cs typeface="Manrope" pitchFamily="34" charset="-120"/>
              </a:rPr>
              <a:t>founder photo]</a:t>
            </a:r>
            <a:endParaRPr lang="en-US" sz="950" dirty="0"/>
          </a:p>
        </p:txBody>
      </p:sp>
      <p:sp>
        <p:nvSpPr>
          <p:cNvPr id="11" name="Text 7"/>
          <p:cNvSpPr/>
          <p:nvPr/>
        </p:nvSpPr>
        <p:spPr>
          <a:xfrm>
            <a:off x="914400" y="4709160"/>
            <a:ext cx="2926080" cy="365760"/>
          </a:xfrm>
          <a:prstGeom prst="rect">
            <a:avLst/>
          </a:prstGeom>
          <a:noFill/>
          <a:ln/>
        </p:spPr>
        <p:txBody>
          <a:bodyPr wrap="square" lIns="0" tIns="0" rIns="0" bIns="0" rtlCol="0" anchor="ctr"/>
          <a:lstStyle/>
          <a:p>
            <a:pPr algn="ctr" indent="0" marL="0">
              <a:buNone/>
            </a:pPr>
            <a:r>
              <a:rPr lang="en-US" sz="1200" b="1" dirty="0">
                <a:solidFill>
                  <a:srgbClr val="F5E6C4"/>
                </a:solidFill>
                <a:latin typeface="Manrope" pitchFamily="34" charset="0"/>
                <a:ea typeface="Manrope" pitchFamily="34" charset="-122"/>
                <a:cs typeface="Manrope" pitchFamily="34" charset="-120"/>
              </a:rPr>
              <a:t>Anandrao Bapu Patil</a:t>
            </a:r>
            <a:endParaRPr lang="en-US" sz="1200" dirty="0"/>
          </a:p>
        </p:txBody>
      </p:sp>
      <p:sp>
        <p:nvSpPr>
          <p:cNvPr id="12" name="Text 8"/>
          <p:cNvSpPr/>
          <p:nvPr/>
        </p:nvSpPr>
        <p:spPr>
          <a:xfrm>
            <a:off x="914400" y="5074920"/>
            <a:ext cx="2926080" cy="320040"/>
          </a:xfrm>
          <a:prstGeom prst="rect">
            <a:avLst/>
          </a:prstGeom>
          <a:noFill/>
          <a:ln/>
        </p:spPr>
        <p:txBody>
          <a:bodyPr wrap="square" lIns="0" tIns="0" rIns="0" bIns="0" rtlCol="0" anchor="ctr"/>
          <a:lstStyle/>
          <a:p>
            <a:pPr algn="ctr" indent="0" marL="0">
              <a:buNone/>
            </a:pPr>
            <a:r>
              <a:rPr lang="en-US" sz="1000" dirty="0">
                <a:solidFill>
                  <a:srgbClr val="8FA0BC"/>
                </a:solidFill>
                <a:latin typeface="Manrope" pitchFamily="34" charset="0"/>
                <a:ea typeface="Manrope" pitchFamily="34" charset="-122"/>
                <a:cs typeface="Manrope" pitchFamily="34" charset="-120"/>
              </a:rPr>
              <a:t>Founder &amp; Director</a:t>
            </a:r>
            <a:endParaRPr lang="en-US" sz="1000" dirty="0"/>
          </a:p>
        </p:txBody>
      </p:sp>
      <p:sp>
        <p:nvSpPr>
          <p:cNvPr id="13" name="Text 9"/>
          <p:cNvSpPr/>
          <p:nvPr/>
        </p:nvSpPr>
        <p:spPr>
          <a:xfrm>
            <a:off x="4572000" y="2148840"/>
            <a:ext cx="6949440" cy="2103120"/>
          </a:xfrm>
          <a:prstGeom prst="rect">
            <a:avLst/>
          </a:prstGeom>
          <a:noFill/>
          <a:ln/>
        </p:spPr>
        <p:txBody>
          <a:bodyPr wrap="square" lIns="0" tIns="0" rIns="0" bIns="0" rtlCol="0" anchor="ctr"/>
          <a:lstStyle/>
          <a:p>
            <a:pPr indent="0" marL="0">
              <a:lnSpc>
                <a:spcPts val="3600"/>
              </a:lnSpc>
              <a:buNone/>
            </a:pPr>
            <a:r>
              <a:rPr lang="en-US" sz="1700" dirty="0">
                <a:solidFill>
                  <a:srgbClr val="FFFFFF"/>
                </a:solidFill>
                <a:latin typeface="Manrope" pitchFamily="34" charset="0"/>
                <a:ea typeface="Manrope" pitchFamily="34" charset="-122"/>
                <a:cs typeface="Manrope" pitchFamily="34" charset="-120"/>
              </a:rPr>
              <a:t>22 years in Maharashtra Police — Sagaon, Sangli</a:t>
            </a:r>
            <a:endParaRPr lang="en-US" sz="1700" dirty="0"/>
          </a:p>
          <a:p>
            <a:pPr indent="0" marL="0">
              <a:lnSpc>
                <a:spcPts val="3600"/>
              </a:lnSpc>
              <a:buNone/>
            </a:pPr>
            <a:r>
              <a:rPr lang="en-US" sz="1700" dirty="0">
                <a:solidFill>
                  <a:srgbClr val="FFFFFF"/>
                </a:solidFill>
                <a:latin typeface="Manrope" pitchFamily="34" charset="0"/>
                <a:ea typeface="Manrope" pitchFamily="34" charset="-122"/>
                <a:cs typeface="Manrope" pitchFamily="34" charset="-120"/>
              </a:rPr>
              <a:t>His own son, Uddhav, went to Georgia for MBBS</a:t>
            </a:r>
            <a:endParaRPr lang="en-US" sz="1700" dirty="0"/>
          </a:p>
          <a:p>
            <a:pPr indent="0" marL="0">
              <a:lnSpc>
                <a:spcPts val="3600"/>
              </a:lnSpc>
              <a:buNone/>
            </a:pPr>
            <a:r>
              <a:rPr lang="en-US" sz="1700" dirty="0">
                <a:solidFill>
                  <a:srgbClr val="FFFFFF"/>
                </a:solidFill>
                <a:latin typeface="Manrope" pitchFamily="34" charset="0"/>
                <a:ea typeface="Manrope" pitchFamily="34" charset="-122"/>
                <a:cs typeface="Manrope" pitchFamily="34" charset="-120"/>
              </a:rPr>
              <a:t>The father followed — and stayed on the ground</a:t>
            </a:r>
            <a:endParaRPr lang="en-US" sz="1700" dirty="0"/>
          </a:p>
        </p:txBody>
      </p:sp>
      <p:sp>
        <p:nvSpPr>
          <p:cNvPr id="14" name="Text 10"/>
          <p:cNvSpPr/>
          <p:nvPr/>
        </p:nvSpPr>
        <p:spPr>
          <a:xfrm>
            <a:off x="4572000" y="4434840"/>
            <a:ext cx="6949440" cy="1280160"/>
          </a:xfrm>
          <a:prstGeom prst="rect">
            <a:avLst/>
          </a:prstGeom>
          <a:noFill/>
          <a:ln/>
        </p:spPr>
        <p:txBody>
          <a:bodyPr wrap="square" lIns="0" tIns="0" rIns="0" bIns="0" rtlCol="0" anchor="ctr"/>
          <a:lstStyle/>
          <a:p>
            <a:pPr indent="0" marL="0">
              <a:buNone/>
            </a:pPr>
            <a:r>
              <a:rPr lang="en-US" sz="2800" b="1" i="1" dirty="0">
                <a:solidFill>
                  <a:srgbClr val="C6962E"/>
                </a:solidFill>
                <a:latin typeface="Cormorant Garamond" pitchFamily="34" charset="0"/>
                <a:ea typeface="Cormorant Garamond" pitchFamily="34" charset="-122"/>
                <a:cs typeface="Cormorant Garamond" pitchFamily="34" charset="-120"/>
              </a:rPr>
              <a:t>“Business baad mein aaya.</a:t>
            </a:r>
            <a:endParaRPr lang="en-US" sz="2800" dirty="0"/>
          </a:p>
          <a:p>
            <a:pPr indent="0" marL="0">
              <a:buNone/>
            </a:pPr>
            <a:r>
              <a:rPr lang="en-US" sz="2800" b="1" i="1" dirty="0">
                <a:solidFill>
                  <a:srgbClr val="C6962E"/>
                </a:solidFill>
                <a:latin typeface="Cormorant Garamond" pitchFamily="34" charset="0"/>
                <a:ea typeface="Cormorant Garamond" pitchFamily="34" charset="-122"/>
                <a:cs typeface="Cormorant Garamond" pitchFamily="34" charset="-120"/>
              </a:rPr>
              <a:t>Pehle ek fikr aayi.”</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31</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Wahan Usne Kya Dekha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Jo brochures mein nahi hota</a:t>
            </a:r>
            <a:endParaRPr lang="en-US" sz="1300" dirty="0"/>
          </a:p>
        </p:txBody>
      </p:sp>
      <p:sp>
        <p:nvSpPr>
          <p:cNvPr id="7" name="Shape 4"/>
          <p:cNvSpPr/>
          <p:nvPr/>
        </p:nvSpPr>
        <p:spPr>
          <a:xfrm>
            <a:off x="822960" y="1645920"/>
            <a:ext cx="502920" cy="502920"/>
          </a:xfrm>
          <a:prstGeom prst="ellipse">
            <a:avLst/>
          </a:prstGeom>
          <a:solidFill>
            <a:srgbClr val="F2F4F8"/>
          </a:solidFill>
          <a:ln/>
        </p:spPr>
      </p:sp>
      <p:pic>
        <p:nvPicPr>
          <p:cNvPr id="8" name="Image 0" descr="/tmp/claude-0/-home-user/22b099b3-5195-5dc8-9cf2-1c5020dc8f38/scratchpad/deck/icons/bed.png">    </p:cNvPr>
          <p:cNvPicPr>
            <a:picLocks noChangeAspect="1"/>
          </p:cNvPicPr>
          <p:nvPr/>
        </p:nvPicPr>
        <p:blipFill>
          <a:blip r:embed="rId1"/>
          <a:stretch>
            <a:fillRect/>
          </a:stretch>
        </p:blipFill>
        <p:spPr>
          <a:xfrm>
            <a:off x="953719" y="1776679"/>
            <a:ext cx="241402" cy="241402"/>
          </a:xfrm>
          <a:prstGeom prst="rect">
            <a:avLst/>
          </a:prstGeom>
        </p:spPr>
      </p:pic>
      <p:sp>
        <p:nvSpPr>
          <p:cNvPr id="9" name="Text 5"/>
          <p:cNvSpPr/>
          <p:nvPr/>
        </p:nvSpPr>
        <p:spPr>
          <a:xfrm>
            <a:off x="1691640" y="1645920"/>
            <a:ext cx="9692640" cy="502920"/>
          </a:xfrm>
          <a:prstGeom prst="rect">
            <a:avLst/>
          </a:prstGeom>
          <a:noFill/>
          <a:ln/>
        </p:spPr>
        <p:txBody>
          <a:bodyPr wrap="square" lIns="0" tIns="0" rIns="0" bIns="0" rtlCol="0" anchor="ctr"/>
          <a:lstStyle/>
          <a:p>
            <a:pPr indent="0" marL="0">
              <a:buNone/>
            </a:pPr>
            <a:r>
              <a:rPr lang="en-US" sz="1450" dirty="0">
                <a:solidFill>
                  <a:srgbClr val="22304A"/>
                </a:solidFill>
                <a:latin typeface="Manrope" pitchFamily="34" charset="0"/>
                <a:ea typeface="Manrope" pitchFamily="34" charset="-122"/>
                <a:cs typeface="Manrope" pitchFamily="34" charset="-120"/>
              </a:rPr>
              <a:t>Accommodation — quality nobody was accountable for</a:t>
            </a:r>
            <a:endParaRPr lang="en-US" sz="1450" dirty="0"/>
          </a:p>
        </p:txBody>
      </p:sp>
      <p:sp>
        <p:nvSpPr>
          <p:cNvPr id="10" name="Shape 6"/>
          <p:cNvSpPr/>
          <p:nvPr/>
        </p:nvSpPr>
        <p:spPr>
          <a:xfrm>
            <a:off x="822960" y="2514600"/>
            <a:ext cx="502920" cy="502920"/>
          </a:xfrm>
          <a:prstGeom prst="ellipse">
            <a:avLst/>
          </a:prstGeom>
          <a:solidFill>
            <a:srgbClr val="F2F4F8"/>
          </a:solidFill>
          <a:ln/>
        </p:spPr>
      </p:sp>
      <p:pic>
        <p:nvPicPr>
          <p:cNvPr id="11" name="Image 1" descr="/tmp/claude-0/-home-user/22b099b3-5195-5dc8-9cf2-1c5020dc8f38/scratchpad/deck/icons/utensils.png">    </p:cNvPr>
          <p:cNvPicPr>
            <a:picLocks noChangeAspect="1"/>
          </p:cNvPicPr>
          <p:nvPr/>
        </p:nvPicPr>
        <p:blipFill>
          <a:blip r:embed="rId2"/>
          <a:stretch>
            <a:fillRect/>
          </a:stretch>
        </p:blipFill>
        <p:spPr>
          <a:xfrm>
            <a:off x="953719" y="2645359"/>
            <a:ext cx="241402" cy="241402"/>
          </a:xfrm>
          <a:prstGeom prst="rect">
            <a:avLst/>
          </a:prstGeom>
        </p:spPr>
      </p:pic>
      <p:sp>
        <p:nvSpPr>
          <p:cNvPr id="12" name="Text 7"/>
          <p:cNvSpPr/>
          <p:nvPr/>
        </p:nvSpPr>
        <p:spPr>
          <a:xfrm>
            <a:off x="1691640" y="2514600"/>
            <a:ext cx="9692640" cy="502920"/>
          </a:xfrm>
          <a:prstGeom prst="rect">
            <a:avLst/>
          </a:prstGeom>
          <a:noFill/>
          <a:ln/>
        </p:spPr>
        <p:txBody>
          <a:bodyPr wrap="square" lIns="0" tIns="0" rIns="0" bIns="0" rtlCol="0" anchor="ctr"/>
          <a:lstStyle/>
          <a:p>
            <a:pPr indent="0" marL="0">
              <a:buNone/>
            </a:pPr>
            <a:r>
              <a:rPr lang="en-US" sz="1450" dirty="0">
                <a:solidFill>
                  <a:srgbClr val="22304A"/>
                </a:solidFill>
                <a:latin typeface="Manrope" pitchFamily="34" charset="0"/>
                <a:ea typeface="Manrope" pitchFamily="34" charset="-122"/>
                <a:cs typeface="Manrope" pitchFamily="34" charset="-120"/>
              </a:rPr>
              <a:t>Khana — Indian food a daily struggle</a:t>
            </a:r>
            <a:endParaRPr lang="en-US" sz="1450" dirty="0"/>
          </a:p>
        </p:txBody>
      </p:sp>
      <p:sp>
        <p:nvSpPr>
          <p:cNvPr id="13" name="Shape 8"/>
          <p:cNvSpPr/>
          <p:nvPr/>
        </p:nvSpPr>
        <p:spPr>
          <a:xfrm>
            <a:off x="822960" y="3383280"/>
            <a:ext cx="502920" cy="502920"/>
          </a:xfrm>
          <a:prstGeom prst="ellipse">
            <a:avLst/>
          </a:prstGeom>
          <a:solidFill>
            <a:srgbClr val="F2F4F8"/>
          </a:solidFill>
          <a:ln/>
        </p:spPr>
      </p:sp>
      <p:pic>
        <p:nvPicPr>
          <p:cNvPr id="14" name="Image 2" descr="/tmp/claude-0/-home-user/22b099b3-5195-5dc8-9cf2-1c5020dc8f38/scratchpad/deck/icons/file.png">    </p:cNvPr>
          <p:cNvPicPr>
            <a:picLocks noChangeAspect="1"/>
          </p:cNvPicPr>
          <p:nvPr/>
        </p:nvPicPr>
        <p:blipFill>
          <a:blip r:embed="rId3"/>
          <a:stretch>
            <a:fillRect/>
          </a:stretch>
        </p:blipFill>
        <p:spPr>
          <a:xfrm>
            <a:off x="953719" y="3514039"/>
            <a:ext cx="241402" cy="241402"/>
          </a:xfrm>
          <a:prstGeom prst="rect">
            <a:avLst/>
          </a:prstGeom>
        </p:spPr>
      </p:pic>
      <p:sp>
        <p:nvSpPr>
          <p:cNvPr id="15" name="Text 9"/>
          <p:cNvSpPr/>
          <p:nvPr/>
        </p:nvSpPr>
        <p:spPr>
          <a:xfrm>
            <a:off x="1691640" y="3383280"/>
            <a:ext cx="9692640" cy="502920"/>
          </a:xfrm>
          <a:prstGeom prst="rect">
            <a:avLst/>
          </a:prstGeom>
          <a:noFill/>
          <a:ln/>
        </p:spPr>
        <p:txBody>
          <a:bodyPr wrap="square" lIns="0" tIns="0" rIns="0" bIns="0" rtlCol="0" anchor="ctr"/>
          <a:lstStyle/>
          <a:p>
            <a:pPr indent="0" marL="0">
              <a:buNone/>
            </a:pPr>
            <a:r>
              <a:rPr lang="en-US" sz="1450" dirty="0">
                <a:solidFill>
                  <a:srgbClr val="22304A"/>
                </a:solidFill>
                <a:latin typeface="Manrope" pitchFamily="34" charset="0"/>
                <a:ea typeface="Manrope" pitchFamily="34" charset="-122"/>
                <a:cs typeface="Manrope" pitchFamily="34" charset="-120"/>
              </a:rPr>
              <a:t>Residency permit &amp; legal papers — students alone</a:t>
            </a:r>
            <a:endParaRPr lang="en-US" sz="1450" dirty="0"/>
          </a:p>
        </p:txBody>
      </p:sp>
      <p:sp>
        <p:nvSpPr>
          <p:cNvPr id="16" name="Shape 10"/>
          <p:cNvSpPr/>
          <p:nvPr/>
        </p:nvSpPr>
        <p:spPr>
          <a:xfrm>
            <a:off x="822960" y="4251960"/>
            <a:ext cx="502920" cy="502920"/>
          </a:xfrm>
          <a:prstGeom prst="ellipse">
            <a:avLst/>
          </a:prstGeom>
          <a:solidFill>
            <a:srgbClr val="F2F4F8"/>
          </a:solidFill>
          <a:ln/>
        </p:spPr>
      </p:sp>
      <p:pic>
        <p:nvPicPr>
          <p:cNvPr id="17" name="Image 3" descr="/tmp/claude-0/-home-user/22b099b3-5195-5dc8-9cf2-1c5020dc8f38/scratchpad/deck/icons/sim.png">    </p:cNvPr>
          <p:cNvPicPr>
            <a:picLocks noChangeAspect="1"/>
          </p:cNvPicPr>
          <p:nvPr/>
        </p:nvPicPr>
        <p:blipFill>
          <a:blip r:embed="rId4"/>
          <a:stretch>
            <a:fillRect/>
          </a:stretch>
        </p:blipFill>
        <p:spPr>
          <a:xfrm>
            <a:off x="953719" y="4382719"/>
            <a:ext cx="241402" cy="241402"/>
          </a:xfrm>
          <a:prstGeom prst="rect">
            <a:avLst/>
          </a:prstGeom>
        </p:spPr>
      </p:pic>
      <p:sp>
        <p:nvSpPr>
          <p:cNvPr id="18" name="Text 11"/>
          <p:cNvSpPr/>
          <p:nvPr/>
        </p:nvSpPr>
        <p:spPr>
          <a:xfrm>
            <a:off x="1691640" y="4251960"/>
            <a:ext cx="9692640" cy="502920"/>
          </a:xfrm>
          <a:prstGeom prst="rect">
            <a:avLst/>
          </a:prstGeom>
          <a:noFill/>
          <a:ln/>
        </p:spPr>
        <p:txBody>
          <a:bodyPr wrap="square" lIns="0" tIns="0" rIns="0" bIns="0" rtlCol="0" anchor="ctr"/>
          <a:lstStyle/>
          <a:p>
            <a:pPr indent="0" marL="0">
              <a:buNone/>
            </a:pPr>
            <a:r>
              <a:rPr lang="en-US" sz="1450" dirty="0">
                <a:solidFill>
                  <a:srgbClr val="22304A"/>
                </a:solidFill>
                <a:latin typeface="Manrope" pitchFamily="34" charset="0"/>
                <a:ea typeface="Manrope" pitchFamily="34" charset="-122"/>
                <a:cs typeface="Manrope" pitchFamily="34" charset="-120"/>
              </a:rPr>
              <a:t>Daily basics — SIM, bank, doctor — no help</a:t>
            </a:r>
            <a:endParaRPr lang="en-US" sz="1450" dirty="0"/>
          </a:p>
        </p:txBody>
      </p:sp>
      <p:sp>
        <p:nvSpPr>
          <p:cNvPr id="19" name="Shape 12"/>
          <p:cNvSpPr/>
          <p:nvPr/>
        </p:nvSpPr>
        <p:spPr>
          <a:xfrm>
            <a:off x="822960" y="5120640"/>
            <a:ext cx="621792" cy="621792"/>
          </a:xfrm>
          <a:prstGeom prst="ellipse">
            <a:avLst/>
          </a:prstGeom>
          <a:solidFill>
            <a:srgbClr val="0B1A35"/>
          </a:solidFill>
          <a:ln/>
        </p:spPr>
      </p:sp>
      <p:pic>
        <p:nvPicPr>
          <p:cNvPr id="20" name="Image 4" descr="/tmp/claude-0/-home-user/22b099b3-5195-5dc8-9cf2-1c5020dc8f38/scratchpad/deck/icons/chair.png">    </p:cNvPr>
          <p:cNvPicPr>
            <a:picLocks noChangeAspect="1"/>
          </p:cNvPicPr>
          <p:nvPr/>
        </p:nvPicPr>
        <p:blipFill>
          <a:blip r:embed="rId5"/>
          <a:stretch>
            <a:fillRect/>
          </a:stretch>
        </p:blipFill>
        <p:spPr>
          <a:xfrm>
            <a:off x="984626" y="5282306"/>
            <a:ext cx="298460" cy="298460"/>
          </a:xfrm>
          <a:prstGeom prst="rect">
            <a:avLst/>
          </a:prstGeom>
        </p:spPr>
      </p:pic>
      <p:sp>
        <p:nvSpPr>
          <p:cNvPr id="21" name="Text 13"/>
          <p:cNvSpPr/>
          <p:nvPr/>
        </p:nvSpPr>
        <p:spPr>
          <a:xfrm>
            <a:off x="1691640" y="5120640"/>
            <a:ext cx="9692640" cy="621792"/>
          </a:xfrm>
          <a:prstGeom prst="rect">
            <a:avLst/>
          </a:prstGeom>
          <a:noFill/>
          <a:ln/>
        </p:spPr>
        <p:txBody>
          <a:bodyPr wrap="square" lIns="0" tIns="0" rIns="0" bIns="0" rtlCol="0" anchor="ctr"/>
          <a:lstStyle/>
          <a:p>
            <a:pPr indent="0" marL="0">
              <a:buNone/>
            </a:pPr>
            <a:r>
              <a:rPr lang="en-US" sz="1700" b="1" dirty="0">
                <a:solidFill>
                  <a:srgbClr val="C6962E"/>
                </a:solidFill>
                <a:latin typeface="Manrope" pitchFamily="34" charset="0"/>
                <a:ea typeface="Manrope" pitchFamily="34" charset="-122"/>
                <a:cs typeface="Manrope" pitchFamily="34" charset="-120"/>
              </a:rPr>
              <a:t>Sabse bada gap: koi jawaabdaar adult nahi</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32</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Toh Pehle Wahan Solution Banaya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ABHA Global Services LLC · Tbilisi, Georgia · Director: Uddhav Patil</a:t>
            </a:r>
            <a:endParaRPr lang="en-US" sz="1300" dirty="0"/>
          </a:p>
        </p:txBody>
      </p:sp>
      <p:sp>
        <p:nvSpPr>
          <p:cNvPr id="7" name="Shape 4"/>
          <p:cNvSpPr/>
          <p:nvPr/>
        </p:nvSpPr>
        <p:spPr>
          <a:xfrm>
            <a:off x="548640" y="2011680"/>
            <a:ext cx="2121408" cy="2834640"/>
          </a:xfrm>
          <a:prstGeom prst="roundRect">
            <a:avLst>
              <a:gd name="adj" fmla="val 4310"/>
            </a:avLst>
          </a:prstGeom>
          <a:solidFill>
            <a:srgbClr val="17294F"/>
          </a:solidFill>
          <a:ln/>
        </p:spPr>
      </p:sp>
      <p:sp>
        <p:nvSpPr>
          <p:cNvPr id="8" name="Shape 5"/>
          <p:cNvSpPr/>
          <p:nvPr/>
        </p:nvSpPr>
        <p:spPr>
          <a:xfrm>
            <a:off x="1307592" y="2286000"/>
            <a:ext cx="603504" cy="603504"/>
          </a:xfrm>
          <a:prstGeom prst="ellipse">
            <a:avLst/>
          </a:prstGeom>
          <a:solidFill>
            <a:srgbClr val="0B1A35"/>
          </a:solidFill>
          <a:ln/>
        </p:spPr>
      </p:sp>
      <p:pic>
        <p:nvPicPr>
          <p:cNvPr id="9" name="Image 0" descr="/tmp/claude-0/-home-user/22b099b3-5195-5dc8-9cf2-1c5020dc8f38/scratchpad/deck/icons/bed.png">    </p:cNvPr>
          <p:cNvPicPr>
            <a:picLocks noChangeAspect="1"/>
          </p:cNvPicPr>
          <p:nvPr/>
        </p:nvPicPr>
        <p:blipFill>
          <a:blip r:embed="rId1"/>
          <a:stretch>
            <a:fillRect/>
          </a:stretch>
        </p:blipFill>
        <p:spPr>
          <a:xfrm>
            <a:off x="1464503" y="2442911"/>
            <a:ext cx="289682" cy="289682"/>
          </a:xfrm>
          <a:prstGeom prst="rect">
            <a:avLst/>
          </a:prstGeom>
        </p:spPr>
      </p:pic>
      <p:sp>
        <p:nvSpPr>
          <p:cNvPr id="10" name="Text 6"/>
          <p:cNvSpPr/>
          <p:nvPr/>
        </p:nvSpPr>
        <p:spPr>
          <a:xfrm>
            <a:off x="640080" y="3108960"/>
            <a:ext cx="1938528" cy="36576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Own hostel</a:t>
            </a:r>
            <a:endParaRPr lang="en-US" sz="1250" dirty="0"/>
          </a:p>
        </p:txBody>
      </p:sp>
      <p:sp>
        <p:nvSpPr>
          <p:cNvPr id="11" name="Text 7"/>
          <p:cNvSpPr/>
          <p:nvPr/>
        </p:nvSpPr>
        <p:spPr>
          <a:xfrm>
            <a:off x="685800" y="3520440"/>
            <a:ext cx="1847088" cy="1005840"/>
          </a:xfrm>
          <a:prstGeom prst="rect">
            <a:avLst/>
          </a:prstGeom>
          <a:noFill/>
          <a:ln/>
        </p:spPr>
        <p:txBody>
          <a:bodyPr wrap="square" lIns="0" tIns="0" rIns="0" bIns="0" rtlCol="0" anchor="ctr"/>
          <a:lstStyle/>
          <a:p>
            <a:pPr algn="ctr" indent="0" marL="0">
              <a:buNone/>
            </a:pPr>
            <a:r>
              <a:rPr lang="en-US" sz="1000" dirty="0">
                <a:solidFill>
                  <a:srgbClr val="C9D2E2"/>
                </a:solidFill>
                <a:latin typeface="Manrope" pitchFamily="34" charset="0"/>
                <a:ea typeface="Manrope" pitchFamily="34" charset="-122"/>
                <a:cs typeface="Manrope" pitchFamily="34" charset="-120"/>
              </a:rPr>
              <a:t>200+ beds, Indian food daily</a:t>
            </a:r>
            <a:endParaRPr lang="en-US" sz="1000" dirty="0"/>
          </a:p>
        </p:txBody>
      </p:sp>
      <p:sp>
        <p:nvSpPr>
          <p:cNvPr id="12" name="Shape 8"/>
          <p:cNvSpPr/>
          <p:nvPr/>
        </p:nvSpPr>
        <p:spPr>
          <a:xfrm>
            <a:off x="2788920" y="2011680"/>
            <a:ext cx="2121408" cy="2834640"/>
          </a:xfrm>
          <a:prstGeom prst="roundRect">
            <a:avLst>
              <a:gd name="adj" fmla="val 4310"/>
            </a:avLst>
          </a:prstGeom>
          <a:solidFill>
            <a:srgbClr val="17294F"/>
          </a:solidFill>
          <a:ln/>
        </p:spPr>
      </p:sp>
      <p:sp>
        <p:nvSpPr>
          <p:cNvPr id="13" name="Shape 9"/>
          <p:cNvSpPr/>
          <p:nvPr/>
        </p:nvSpPr>
        <p:spPr>
          <a:xfrm>
            <a:off x="3547872" y="2286000"/>
            <a:ext cx="603504" cy="603504"/>
          </a:xfrm>
          <a:prstGeom prst="ellipse">
            <a:avLst/>
          </a:prstGeom>
          <a:solidFill>
            <a:srgbClr val="0B1A35"/>
          </a:solidFill>
          <a:ln/>
        </p:spPr>
      </p:sp>
      <p:pic>
        <p:nvPicPr>
          <p:cNvPr id="14" name="Image 1" descr="/tmp/claude-0/-home-user/22b099b3-5195-5dc8-9cf2-1c5020dc8f38/scratchpad/deck/icons/fileGold.png">    </p:cNvPr>
          <p:cNvPicPr>
            <a:picLocks noChangeAspect="1"/>
          </p:cNvPicPr>
          <p:nvPr/>
        </p:nvPicPr>
        <p:blipFill>
          <a:blip r:embed="rId2"/>
          <a:stretch>
            <a:fillRect/>
          </a:stretch>
        </p:blipFill>
        <p:spPr>
          <a:xfrm>
            <a:off x="3704783" y="2442911"/>
            <a:ext cx="289682" cy="289682"/>
          </a:xfrm>
          <a:prstGeom prst="rect">
            <a:avLst/>
          </a:prstGeom>
        </p:spPr>
      </p:pic>
      <p:sp>
        <p:nvSpPr>
          <p:cNvPr id="15" name="Text 10"/>
          <p:cNvSpPr/>
          <p:nvPr/>
        </p:nvSpPr>
        <p:spPr>
          <a:xfrm>
            <a:off x="2880360" y="3108960"/>
            <a:ext cx="1938528" cy="36576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Legal team</a:t>
            </a:r>
            <a:endParaRPr lang="en-US" sz="1250" dirty="0"/>
          </a:p>
        </p:txBody>
      </p:sp>
      <p:sp>
        <p:nvSpPr>
          <p:cNvPr id="16" name="Text 11"/>
          <p:cNvSpPr/>
          <p:nvPr/>
        </p:nvSpPr>
        <p:spPr>
          <a:xfrm>
            <a:off x="2926080" y="3520440"/>
            <a:ext cx="1847088" cy="1005840"/>
          </a:xfrm>
          <a:prstGeom prst="rect">
            <a:avLst/>
          </a:prstGeom>
          <a:noFill/>
          <a:ln/>
        </p:spPr>
        <p:txBody>
          <a:bodyPr wrap="square" lIns="0" tIns="0" rIns="0" bIns="0" rtlCol="0" anchor="ctr"/>
          <a:lstStyle/>
          <a:p>
            <a:pPr algn="ctr" indent="0" marL="0">
              <a:buNone/>
            </a:pPr>
            <a:r>
              <a:rPr lang="en-US" sz="1000" dirty="0">
                <a:solidFill>
                  <a:srgbClr val="C9D2E2"/>
                </a:solidFill>
                <a:latin typeface="Manrope" pitchFamily="34" charset="0"/>
                <a:ea typeface="Manrope" pitchFamily="34" charset="-122"/>
                <a:cs typeface="Manrope" pitchFamily="34" charset="-120"/>
              </a:rPr>
              <a:t>Residency &amp; documentation support</a:t>
            </a:r>
            <a:endParaRPr lang="en-US" sz="1000" dirty="0"/>
          </a:p>
        </p:txBody>
      </p:sp>
      <p:sp>
        <p:nvSpPr>
          <p:cNvPr id="17" name="Shape 12"/>
          <p:cNvSpPr/>
          <p:nvPr/>
        </p:nvSpPr>
        <p:spPr>
          <a:xfrm>
            <a:off x="5029200" y="2011680"/>
            <a:ext cx="2121408" cy="2834640"/>
          </a:xfrm>
          <a:prstGeom prst="roundRect">
            <a:avLst>
              <a:gd name="adj" fmla="val 4310"/>
            </a:avLst>
          </a:prstGeom>
          <a:solidFill>
            <a:srgbClr val="17294F"/>
          </a:solidFill>
          <a:ln/>
        </p:spPr>
      </p:sp>
      <p:sp>
        <p:nvSpPr>
          <p:cNvPr id="18" name="Shape 13"/>
          <p:cNvSpPr/>
          <p:nvPr/>
        </p:nvSpPr>
        <p:spPr>
          <a:xfrm>
            <a:off x="5788152" y="2286000"/>
            <a:ext cx="603504" cy="603504"/>
          </a:xfrm>
          <a:prstGeom prst="ellipse">
            <a:avLst/>
          </a:prstGeom>
          <a:solidFill>
            <a:srgbClr val="0B1A35"/>
          </a:solidFill>
          <a:ln/>
        </p:spPr>
      </p:sp>
      <p:pic>
        <p:nvPicPr>
          <p:cNvPr id="19" name="Image 2" descr="/tmp/claude-0/-home-user/22b099b3-5195-5dc8-9cf2-1c5020dc8f38/scratchpad/deck/icons/plane.png">    </p:cNvPr>
          <p:cNvPicPr>
            <a:picLocks noChangeAspect="1"/>
          </p:cNvPicPr>
          <p:nvPr/>
        </p:nvPicPr>
        <p:blipFill>
          <a:blip r:embed="rId3"/>
          <a:stretch>
            <a:fillRect/>
          </a:stretch>
        </p:blipFill>
        <p:spPr>
          <a:xfrm>
            <a:off x="5945063" y="2442911"/>
            <a:ext cx="289682" cy="289682"/>
          </a:xfrm>
          <a:prstGeom prst="rect">
            <a:avLst/>
          </a:prstGeom>
        </p:spPr>
      </p:pic>
      <p:sp>
        <p:nvSpPr>
          <p:cNvPr id="20" name="Text 14"/>
          <p:cNvSpPr/>
          <p:nvPr/>
        </p:nvSpPr>
        <p:spPr>
          <a:xfrm>
            <a:off x="5120640" y="3108960"/>
            <a:ext cx="1938528" cy="36576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Airport pickup</a:t>
            </a:r>
            <a:endParaRPr lang="en-US" sz="1250" dirty="0"/>
          </a:p>
        </p:txBody>
      </p:sp>
      <p:sp>
        <p:nvSpPr>
          <p:cNvPr id="21" name="Text 15"/>
          <p:cNvSpPr/>
          <p:nvPr/>
        </p:nvSpPr>
        <p:spPr>
          <a:xfrm>
            <a:off x="5166360" y="3520440"/>
            <a:ext cx="1847088" cy="1005840"/>
          </a:xfrm>
          <a:prstGeom prst="rect">
            <a:avLst/>
          </a:prstGeom>
          <a:noFill/>
          <a:ln/>
        </p:spPr>
        <p:txBody>
          <a:bodyPr wrap="square" lIns="0" tIns="0" rIns="0" bIns="0" rtlCol="0" anchor="ctr"/>
          <a:lstStyle/>
          <a:p>
            <a:pPr algn="ctr" indent="0" marL="0">
              <a:buNone/>
            </a:pPr>
            <a:r>
              <a:rPr lang="en-US" sz="1000" dirty="0">
                <a:solidFill>
                  <a:srgbClr val="C9D2E2"/>
                </a:solidFill>
                <a:latin typeface="Manrope" pitchFamily="34" charset="0"/>
                <a:ea typeface="Manrope" pitchFamily="34" charset="-122"/>
                <a:cs typeface="Manrope" pitchFamily="34" charset="-120"/>
              </a:rPr>
              <a:t>Received from the first minute</a:t>
            </a:r>
            <a:endParaRPr lang="en-US" sz="1000" dirty="0"/>
          </a:p>
        </p:txBody>
      </p:sp>
      <p:sp>
        <p:nvSpPr>
          <p:cNvPr id="22" name="Shape 16"/>
          <p:cNvSpPr/>
          <p:nvPr/>
        </p:nvSpPr>
        <p:spPr>
          <a:xfrm>
            <a:off x="7269480" y="2011680"/>
            <a:ext cx="2121408" cy="2834640"/>
          </a:xfrm>
          <a:prstGeom prst="roundRect">
            <a:avLst>
              <a:gd name="adj" fmla="val 4310"/>
            </a:avLst>
          </a:prstGeom>
          <a:solidFill>
            <a:srgbClr val="17294F"/>
          </a:solidFill>
          <a:ln/>
        </p:spPr>
      </p:sp>
      <p:sp>
        <p:nvSpPr>
          <p:cNvPr id="23" name="Shape 17"/>
          <p:cNvSpPr/>
          <p:nvPr/>
        </p:nvSpPr>
        <p:spPr>
          <a:xfrm>
            <a:off x="8028432" y="2286000"/>
            <a:ext cx="603504" cy="603504"/>
          </a:xfrm>
          <a:prstGeom prst="ellipse">
            <a:avLst/>
          </a:prstGeom>
          <a:solidFill>
            <a:srgbClr val="0B1A35"/>
          </a:solidFill>
          <a:ln/>
        </p:spPr>
      </p:sp>
      <p:pic>
        <p:nvPicPr>
          <p:cNvPr id="24" name="Image 3" descr="/tmp/claude-0/-home-user/22b099b3-5195-5dc8-9cf2-1c5020dc8f38/scratchpad/deck/icons/headset.png">    </p:cNvPr>
          <p:cNvPicPr>
            <a:picLocks noChangeAspect="1"/>
          </p:cNvPicPr>
          <p:nvPr/>
        </p:nvPicPr>
        <p:blipFill>
          <a:blip r:embed="rId4"/>
          <a:stretch>
            <a:fillRect/>
          </a:stretch>
        </p:blipFill>
        <p:spPr>
          <a:xfrm>
            <a:off x="8185343" y="2442911"/>
            <a:ext cx="289682" cy="289682"/>
          </a:xfrm>
          <a:prstGeom prst="rect">
            <a:avLst/>
          </a:prstGeom>
        </p:spPr>
      </p:pic>
      <p:sp>
        <p:nvSpPr>
          <p:cNvPr id="25" name="Text 18"/>
          <p:cNvSpPr/>
          <p:nvPr/>
        </p:nvSpPr>
        <p:spPr>
          <a:xfrm>
            <a:off x="7360920" y="3108960"/>
            <a:ext cx="1938528" cy="36576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24/7 support</a:t>
            </a:r>
            <a:endParaRPr lang="en-US" sz="1250" dirty="0"/>
          </a:p>
        </p:txBody>
      </p:sp>
      <p:sp>
        <p:nvSpPr>
          <p:cNvPr id="26" name="Text 19"/>
          <p:cNvSpPr/>
          <p:nvPr/>
        </p:nvSpPr>
        <p:spPr>
          <a:xfrm>
            <a:off x="7406640" y="3520440"/>
            <a:ext cx="1847088" cy="1005840"/>
          </a:xfrm>
          <a:prstGeom prst="rect">
            <a:avLst/>
          </a:prstGeom>
          <a:noFill/>
          <a:ln/>
        </p:spPr>
        <p:txBody>
          <a:bodyPr wrap="square" lIns="0" tIns="0" rIns="0" bIns="0" rtlCol="0" anchor="ctr"/>
          <a:lstStyle/>
          <a:p>
            <a:pPr algn="ctr" indent="0" marL="0">
              <a:buNone/>
            </a:pPr>
            <a:r>
              <a:rPr lang="en-US" sz="1000" dirty="0">
                <a:solidFill>
                  <a:srgbClr val="C9D2E2"/>
                </a:solidFill>
                <a:latin typeface="Manrope" pitchFamily="34" charset="0"/>
                <a:ea typeface="Manrope" pitchFamily="34" charset="-122"/>
                <a:cs typeface="Manrope" pitchFamily="34" charset="-120"/>
              </a:rPr>
              <a:t>A person answers at 2 a.m.</a:t>
            </a:r>
            <a:endParaRPr lang="en-US" sz="1000" dirty="0"/>
          </a:p>
        </p:txBody>
      </p:sp>
      <p:sp>
        <p:nvSpPr>
          <p:cNvPr id="27" name="Shape 20"/>
          <p:cNvSpPr/>
          <p:nvPr/>
        </p:nvSpPr>
        <p:spPr>
          <a:xfrm>
            <a:off x="9509760" y="2011680"/>
            <a:ext cx="2121408" cy="2834640"/>
          </a:xfrm>
          <a:prstGeom prst="roundRect">
            <a:avLst>
              <a:gd name="adj" fmla="val 4310"/>
            </a:avLst>
          </a:prstGeom>
          <a:solidFill>
            <a:srgbClr val="17294F"/>
          </a:solidFill>
          <a:ln/>
        </p:spPr>
      </p:sp>
      <p:sp>
        <p:nvSpPr>
          <p:cNvPr id="28" name="Shape 21"/>
          <p:cNvSpPr/>
          <p:nvPr/>
        </p:nvSpPr>
        <p:spPr>
          <a:xfrm>
            <a:off x="10268712" y="2286000"/>
            <a:ext cx="603504" cy="603504"/>
          </a:xfrm>
          <a:prstGeom prst="ellipse">
            <a:avLst/>
          </a:prstGeom>
          <a:solidFill>
            <a:srgbClr val="0B1A35"/>
          </a:solidFill>
          <a:ln/>
        </p:spPr>
      </p:sp>
      <p:pic>
        <p:nvPicPr>
          <p:cNvPr id="29" name="Image 4" descr="/tmp/claude-0/-home-user/22b099b3-5195-5dc8-9cf2-1c5020dc8f38/scratchpad/deck/icons/family.png">    </p:cNvPr>
          <p:cNvPicPr>
            <a:picLocks noChangeAspect="1"/>
          </p:cNvPicPr>
          <p:nvPr/>
        </p:nvPicPr>
        <p:blipFill>
          <a:blip r:embed="rId5"/>
          <a:stretch>
            <a:fillRect/>
          </a:stretch>
        </p:blipFill>
        <p:spPr>
          <a:xfrm>
            <a:off x="10425623" y="2442911"/>
            <a:ext cx="289682" cy="289682"/>
          </a:xfrm>
          <a:prstGeom prst="rect">
            <a:avLst/>
          </a:prstGeom>
        </p:spPr>
      </p:pic>
      <p:sp>
        <p:nvSpPr>
          <p:cNvPr id="30" name="Text 22"/>
          <p:cNvSpPr/>
          <p:nvPr/>
        </p:nvSpPr>
        <p:spPr>
          <a:xfrm>
            <a:off x="9601200" y="3108960"/>
            <a:ext cx="1938528" cy="36576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Parent line</a:t>
            </a:r>
            <a:endParaRPr lang="en-US" sz="1250" dirty="0"/>
          </a:p>
        </p:txBody>
      </p:sp>
      <p:sp>
        <p:nvSpPr>
          <p:cNvPr id="31" name="Text 23"/>
          <p:cNvSpPr/>
          <p:nvPr/>
        </p:nvSpPr>
        <p:spPr>
          <a:xfrm>
            <a:off x="9646920" y="3520440"/>
            <a:ext cx="1847088" cy="1005840"/>
          </a:xfrm>
          <a:prstGeom prst="rect">
            <a:avLst/>
          </a:prstGeom>
          <a:noFill/>
          <a:ln/>
        </p:spPr>
        <p:txBody>
          <a:bodyPr wrap="square" lIns="0" tIns="0" rIns="0" bIns="0" rtlCol="0" anchor="ctr"/>
          <a:lstStyle/>
          <a:p>
            <a:pPr algn="ctr" indent="0" marL="0">
              <a:buNone/>
            </a:pPr>
            <a:r>
              <a:rPr lang="en-US" sz="1000" dirty="0">
                <a:solidFill>
                  <a:srgbClr val="C9D2E2"/>
                </a:solidFill>
                <a:latin typeface="Manrope" pitchFamily="34" charset="0"/>
                <a:ea typeface="Manrope" pitchFamily="34" charset="-122"/>
                <a:cs typeface="Manrope" pitchFamily="34" charset="-120"/>
              </a:rPr>
              <a:t>Structured updates from Georgia</a:t>
            </a:r>
            <a:endParaRPr lang="en-US" sz="1000" dirty="0"/>
          </a:p>
        </p:txBody>
      </p:sp>
      <p:sp>
        <p:nvSpPr>
          <p:cNvPr id="32" name="Text 24"/>
          <p:cNvSpPr/>
          <p:nvPr/>
        </p:nvSpPr>
        <p:spPr>
          <a:xfrm>
            <a:off x="566928" y="5349240"/>
            <a:ext cx="10972800" cy="365760"/>
          </a:xfrm>
          <a:prstGeom prst="rect">
            <a:avLst/>
          </a:prstGeom>
          <a:noFill/>
          <a:ln/>
        </p:spPr>
        <p:txBody>
          <a:bodyPr wrap="square" lIns="0" tIns="0" rIns="0" bIns="0" rtlCol="0" anchor="ctr"/>
          <a:lstStyle/>
          <a:p>
            <a:pPr indent="0" marL="0">
              <a:buNone/>
            </a:pPr>
            <a:r>
              <a:rPr lang="en-US" sz="1150" i="1" dirty="0">
                <a:solidFill>
                  <a:srgbClr val="F5E6C4"/>
                </a:solidFill>
                <a:latin typeface="Manrope" pitchFamily="34" charset="0"/>
                <a:ea typeface="Manrope" pitchFamily="34" charset="-122"/>
                <a:cs typeface="Manrope" pitchFamily="34" charset="-120"/>
              </a:rPr>
              <a:t>He sab AADHI banaya — dhandha baad mein aaya.  [VERIFY: approved hostel photos to replace icons]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33</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Phir India Ne Humein Bulaya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Reverse-origin — Georgia pehle, India baad mein</a:t>
            </a:r>
            <a:endParaRPr lang="en-US" sz="1300" dirty="0"/>
          </a:p>
        </p:txBody>
      </p:sp>
      <p:sp>
        <p:nvSpPr>
          <p:cNvPr id="7" name="Text 4"/>
          <p:cNvSpPr/>
          <p:nvPr/>
        </p:nvSpPr>
        <p:spPr>
          <a:xfrm>
            <a:off x="914400" y="1920240"/>
            <a:ext cx="3657600" cy="320040"/>
          </a:xfrm>
          <a:prstGeom prst="rect">
            <a:avLst/>
          </a:prstGeom>
          <a:noFill/>
          <a:ln/>
        </p:spPr>
        <p:txBody>
          <a:bodyPr wrap="square" lIns="0" tIns="0" rIns="0" bIns="0" rtlCol="0" anchor="ctr"/>
          <a:lstStyle/>
          <a:p>
            <a:pPr indent="0" marL="0">
              <a:buNone/>
            </a:pPr>
            <a:r>
              <a:rPr lang="en-US" sz="1100" b="1" spc="100" kern="0" dirty="0">
                <a:solidFill>
                  <a:srgbClr val="5A6B85"/>
                </a:solidFill>
                <a:latin typeface="Manrope" pitchFamily="34" charset="0"/>
                <a:ea typeface="Manrope" pitchFamily="34" charset="-122"/>
                <a:cs typeface="Manrope" pitchFamily="34" charset="-120"/>
              </a:rPr>
              <a:t>Typical consultancy</a:t>
            </a:r>
            <a:endParaRPr lang="en-US" sz="1100" dirty="0"/>
          </a:p>
        </p:txBody>
      </p:sp>
      <p:sp>
        <p:nvSpPr>
          <p:cNvPr id="8" name="Shape 5"/>
          <p:cNvSpPr/>
          <p:nvPr/>
        </p:nvSpPr>
        <p:spPr>
          <a:xfrm>
            <a:off x="914400" y="2286000"/>
            <a:ext cx="10360152" cy="685800"/>
          </a:xfrm>
          <a:prstGeom prst="roundRect">
            <a:avLst>
              <a:gd name="adj" fmla="val 13333"/>
            </a:avLst>
          </a:prstGeom>
          <a:solidFill>
            <a:srgbClr val="F2F4F8"/>
          </a:solidFill>
          <a:ln/>
        </p:spPr>
      </p:sp>
      <p:sp>
        <p:nvSpPr>
          <p:cNvPr id="9" name="Text 6"/>
          <p:cNvSpPr/>
          <p:nvPr/>
        </p:nvSpPr>
        <p:spPr>
          <a:xfrm>
            <a:off x="1280160" y="2286000"/>
            <a:ext cx="9601200" cy="685800"/>
          </a:xfrm>
          <a:prstGeom prst="rect">
            <a:avLst/>
          </a:prstGeom>
          <a:noFill/>
          <a:ln/>
        </p:spPr>
        <p:txBody>
          <a:bodyPr wrap="square" lIns="0" tIns="0" rIns="0" bIns="0" rtlCol="0" anchor="ctr"/>
          <a:lstStyle/>
          <a:p>
            <a:pPr indent="0" marL="0">
              <a:buNone/>
            </a:pPr>
            <a:r>
              <a:rPr lang="en-US" sz="1400" dirty="0">
                <a:solidFill>
                  <a:srgbClr val="5A6B85"/>
                </a:solidFill>
                <a:latin typeface="Manrope" pitchFamily="34" charset="0"/>
                <a:ea typeface="Manrope" pitchFamily="34" charset="-122"/>
                <a:cs typeface="Manrope" pitchFamily="34" charset="-120"/>
              </a:rPr>
              <a:t>India office  →  “which country shall we sell?”</a:t>
            </a:r>
            <a:endParaRPr lang="en-US" sz="1400" dirty="0"/>
          </a:p>
        </p:txBody>
      </p:sp>
      <p:sp>
        <p:nvSpPr>
          <p:cNvPr id="10" name="Text 7"/>
          <p:cNvSpPr/>
          <p:nvPr/>
        </p:nvSpPr>
        <p:spPr>
          <a:xfrm>
            <a:off x="914400" y="3291840"/>
            <a:ext cx="3657600" cy="320040"/>
          </a:xfrm>
          <a:prstGeom prst="rect">
            <a:avLst/>
          </a:prstGeom>
          <a:noFill/>
          <a:ln/>
        </p:spPr>
        <p:txBody>
          <a:bodyPr wrap="square" lIns="0" tIns="0" rIns="0" bIns="0" rtlCol="0" anchor="ctr"/>
          <a:lstStyle/>
          <a:p>
            <a:pPr indent="0" marL="0">
              <a:buNone/>
            </a:pPr>
            <a:r>
              <a:rPr lang="en-US" sz="1100" b="1" spc="100" kern="0" dirty="0">
                <a:solidFill>
                  <a:srgbClr val="C6962E"/>
                </a:solidFill>
                <a:latin typeface="Manrope" pitchFamily="34" charset="0"/>
                <a:ea typeface="Manrope" pitchFamily="34" charset="-122"/>
                <a:cs typeface="Manrope" pitchFamily="34" charset="-120"/>
              </a:rPr>
              <a:t>ABHA</a:t>
            </a:r>
            <a:endParaRPr lang="en-US" sz="1100" dirty="0"/>
          </a:p>
        </p:txBody>
      </p:sp>
      <p:sp>
        <p:nvSpPr>
          <p:cNvPr id="11" name="Shape 8"/>
          <p:cNvSpPr/>
          <p:nvPr/>
        </p:nvSpPr>
        <p:spPr>
          <a:xfrm>
            <a:off x="914400" y="3657600"/>
            <a:ext cx="10360152" cy="868680"/>
          </a:xfrm>
          <a:prstGeom prst="roundRect">
            <a:avLst>
              <a:gd name="adj" fmla="val 10526"/>
            </a:avLst>
          </a:prstGeom>
          <a:solidFill>
            <a:srgbClr val="0B1A35"/>
          </a:solidFill>
          <a:ln/>
        </p:spPr>
      </p:sp>
      <p:sp>
        <p:nvSpPr>
          <p:cNvPr id="12" name="Text 9"/>
          <p:cNvSpPr/>
          <p:nvPr/>
        </p:nvSpPr>
        <p:spPr>
          <a:xfrm>
            <a:off x="1280160" y="3657600"/>
            <a:ext cx="9692640" cy="868680"/>
          </a:xfrm>
          <a:prstGeom prst="rect">
            <a:avLst/>
          </a:prstGeom>
          <a:noFill/>
          <a:ln/>
        </p:spPr>
        <p:txBody>
          <a:bodyPr wrap="square" lIns="0" tIns="0" rIns="0" bIns="0" rtlCol="0" anchor="ctr"/>
          <a:lstStyle/>
          <a:p>
            <a:pPr indent="0" marL="0">
              <a:buNone/>
            </a:pPr>
            <a:r>
              <a:rPr lang="en-US" sz="1450" b="1" dirty="0">
                <a:solidFill>
                  <a:srgbClr val="F5E6C4"/>
                </a:solidFill>
                <a:latin typeface="Manrope" pitchFamily="34" charset="0"/>
                <a:ea typeface="Manrope" pitchFamily="34" charset="-122"/>
                <a:cs typeface="Manrope" pitchFamily="34" charset="-120"/>
              </a:rPr>
              <a:t>A father in Georgia (for his own son)  →  built services there  →  came back to India on parents’ demand</a:t>
            </a:r>
            <a:endParaRPr lang="en-US" sz="1450" dirty="0"/>
          </a:p>
        </p:txBody>
      </p:sp>
      <p:sp>
        <p:nvSpPr>
          <p:cNvPr id="13" name="Text 10"/>
          <p:cNvSpPr/>
          <p:nvPr/>
        </p:nvSpPr>
        <p:spPr>
          <a:xfrm>
            <a:off x="0" y="5029200"/>
            <a:ext cx="12188952" cy="731520"/>
          </a:xfrm>
          <a:prstGeom prst="rect">
            <a:avLst/>
          </a:prstGeom>
          <a:noFill/>
          <a:ln/>
        </p:spPr>
        <p:txBody>
          <a:bodyPr wrap="square" lIns="0" tIns="0" rIns="0" bIns="0" rtlCol="0" anchor="ctr"/>
          <a:lstStyle/>
          <a:p>
            <a:pPr algn="ctr" indent="0" marL="0">
              <a:buNone/>
            </a:pPr>
            <a:r>
              <a:rPr lang="en-US" sz="2600" b="1" i="1" dirty="0">
                <a:solidFill>
                  <a:srgbClr val="0B1A35"/>
                </a:solidFill>
                <a:latin typeface="Cormorant Garamond" pitchFamily="34" charset="0"/>
                <a:ea typeface="Cormorant Garamond" pitchFamily="34" charset="-122"/>
                <a:cs typeface="Cormorant Garamond" pitchFamily="34" charset="-120"/>
              </a:rPr>
              <a:t>“Hum wahan se aaye hain, jahan aapke bachche jaayenge.”</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34</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AGDRP: FMGE Ki Tayari, Din Ek Se</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ABHA’s FMGE / NExT preparation track — parallel, not last-minute</a:t>
            </a:r>
            <a:endParaRPr lang="en-US" sz="1300" dirty="0"/>
          </a:p>
        </p:txBody>
      </p:sp>
      <p:sp>
        <p:nvSpPr>
          <p:cNvPr id="7" name="Shape 4"/>
          <p:cNvSpPr/>
          <p:nvPr/>
        </p:nvSpPr>
        <p:spPr>
          <a:xfrm>
            <a:off x="822960" y="2103120"/>
            <a:ext cx="1627632" cy="777240"/>
          </a:xfrm>
          <a:prstGeom prst="roundRect">
            <a:avLst>
              <a:gd name="adj" fmla="val 9412"/>
            </a:avLst>
          </a:prstGeom>
          <a:solidFill>
            <a:srgbClr val="0B1A35"/>
          </a:solidFill>
          <a:ln/>
        </p:spPr>
      </p:sp>
      <p:sp>
        <p:nvSpPr>
          <p:cNvPr id="8" name="Text 5"/>
          <p:cNvSpPr/>
          <p:nvPr/>
        </p:nvSpPr>
        <p:spPr>
          <a:xfrm>
            <a:off x="822960"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1</a:t>
            </a:r>
            <a:endParaRPr lang="en-US" sz="1250" dirty="0"/>
          </a:p>
        </p:txBody>
      </p:sp>
      <p:sp>
        <p:nvSpPr>
          <p:cNvPr id="9" name="Shape 6"/>
          <p:cNvSpPr/>
          <p:nvPr/>
        </p:nvSpPr>
        <p:spPr>
          <a:xfrm>
            <a:off x="2578608" y="2103120"/>
            <a:ext cx="1627632" cy="777240"/>
          </a:xfrm>
          <a:prstGeom prst="roundRect">
            <a:avLst>
              <a:gd name="adj" fmla="val 9412"/>
            </a:avLst>
          </a:prstGeom>
          <a:solidFill>
            <a:srgbClr val="0B1A35"/>
          </a:solidFill>
          <a:ln/>
        </p:spPr>
      </p:sp>
      <p:sp>
        <p:nvSpPr>
          <p:cNvPr id="10" name="Text 7"/>
          <p:cNvSpPr/>
          <p:nvPr/>
        </p:nvSpPr>
        <p:spPr>
          <a:xfrm>
            <a:off x="2578608"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2</a:t>
            </a:r>
            <a:endParaRPr lang="en-US" sz="1250" dirty="0"/>
          </a:p>
        </p:txBody>
      </p:sp>
      <p:sp>
        <p:nvSpPr>
          <p:cNvPr id="11" name="Shape 8"/>
          <p:cNvSpPr/>
          <p:nvPr/>
        </p:nvSpPr>
        <p:spPr>
          <a:xfrm>
            <a:off x="4334256" y="2103120"/>
            <a:ext cx="1627632" cy="777240"/>
          </a:xfrm>
          <a:prstGeom prst="roundRect">
            <a:avLst>
              <a:gd name="adj" fmla="val 9412"/>
            </a:avLst>
          </a:prstGeom>
          <a:solidFill>
            <a:srgbClr val="0B1A35"/>
          </a:solidFill>
          <a:ln/>
        </p:spPr>
      </p:sp>
      <p:sp>
        <p:nvSpPr>
          <p:cNvPr id="12" name="Text 9"/>
          <p:cNvSpPr/>
          <p:nvPr/>
        </p:nvSpPr>
        <p:spPr>
          <a:xfrm>
            <a:off x="4334256"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3</a:t>
            </a:r>
            <a:endParaRPr lang="en-US" sz="1250" dirty="0"/>
          </a:p>
        </p:txBody>
      </p:sp>
      <p:sp>
        <p:nvSpPr>
          <p:cNvPr id="13" name="Shape 10"/>
          <p:cNvSpPr/>
          <p:nvPr/>
        </p:nvSpPr>
        <p:spPr>
          <a:xfrm>
            <a:off x="6089904" y="2103120"/>
            <a:ext cx="1627632" cy="777240"/>
          </a:xfrm>
          <a:prstGeom prst="roundRect">
            <a:avLst>
              <a:gd name="adj" fmla="val 9412"/>
            </a:avLst>
          </a:prstGeom>
          <a:solidFill>
            <a:srgbClr val="0B1A35"/>
          </a:solidFill>
          <a:ln/>
        </p:spPr>
      </p:sp>
      <p:sp>
        <p:nvSpPr>
          <p:cNvPr id="14" name="Text 11"/>
          <p:cNvSpPr/>
          <p:nvPr/>
        </p:nvSpPr>
        <p:spPr>
          <a:xfrm>
            <a:off x="6089904"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4</a:t>
            </a:r>
            <a:endParaRPr lang="en-US" sz="1250" dirty="0"/>
          </a:p>
        </p:txBody>
      </p:sp>
      <p:sp>
        <p:nvSpPr>
          <p:cNvPr id="15" name="Shape 12"/>
          <p:cNvSpPr/>
          <p:nvPr/>
        </p:nvSpPr>
        <p:spPr>
          <a:xfrm>
            <a:off x="7845552" y="2103120"/>
            <a:ext cx="1627632" cy="777240"/>
          </a:xfrm>
          <a:prstGeom prst="roundRect">
            <a:avLst>
              <a:gd name="adj" fmla="val 9412"/>
            </a:avLst>
          </a:prstGeom>
          <a:solidFill>
            <a:srgbClr val="0B1A35"/>
          </a:solidFill>
          <a:ln/>
        </p:spPr>
      </p:sp>
      <p:sp>
        <p:nvSpPr>
          <p:cNvPr id="16" name="Text 13"/>
          <p:cNvSpPr/>
          <p:nvPr/>
        </p:nvSpPr>
        <p:spPr>
          <a:xfrm>
            <a:off x="7845552"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5</a:t>
            </a:r>
            <a:endParaRPr lang="en-US" sz="1250" dirty="0"/>
          </a:p>
        </p:txBody>
      </p:sp>
      <p:sp>
        <p:nvSpPr>
          <p:cNvPr id="17" name="Shape 14"/>
          <p:cNvSpPr/>
          <p:nvPr/>
        </p:nvSpPr>
        <p:spPr>
          <a:xfrm>
            <a:off x="9601200" y="2103120"/>
            <a:ext cx="1627632" cy="777240"/>
          </a:xfrm>
          <a:prstGeom prst="roundRect">
            <a:avLst>
              <a:gd name="adj" fmla="val 9412"/>
            </a:avLst>
          </a:prstGeom>
          <a:solidFill>
            <a:srgbClr val="0B1A35"/>
          </a:solidFill>
          <a:ln/>
        </p:spPr>
      </p:sp>
      <p:sp>
        <p:nvSpPr>
          <p:cNvPr id="18" name="Text 15"/>
          <p:cNvSpPr/>
          <p:nvPr/>
        </p:nvSpPr>
        <p:spPr>
          <a:xfrm>
            <a:off x="9601200" y="2103120"/>
            <a:ext cx="16276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anrope" pitchFamily="34" charset="0"/>
                <a:ea typeface="Manrope" pitchFamily="34" charset="-122"/>
                <a:cs typeface="Manrope" pitchFamily="34" charset="-120"/>
              </a:rPr>
              <a:t>Year 6</a:t>
            </a:r>
            <a:endParaRPr lang="en-US" sz="1250" dirty="0"/>
          </a:p>
        </p:txBody>
      </p:sp>
      <p:sp>
        <p:nvSpPr>
          <p:cNvPr id="19" name="Shape 16"/>
          <p:cNvSpPr/>
          <p:nvPr/>
        </p:nvSpPr>
        <p:spPr>
          <a:xfrm>
            <a:off x="822960" y="3063240"/>
            <a:ext cx="10405872" cy="566928"/>
          </a:xfrm>
          <a:prstGeom prst="roundRect">
            <a:avLst>
              <a:gd name="adj" fmla="val 12903"/>
            </a:avLst>
          </a:prstGeom>
          <a:solidFill>
            <a:srgbClr val="C6962E"/>
          </a:solidFill>
          <a:ln/>
        </p:spPr>
      </p:sp>
      <p:sp>
        <p:nvSpPr>
          <p:cNvPr id="20" name="Text 17"/>
          <p:cNvSpPr/>
          <p:nvPr/>
        </p:nvSpPr>
        <p:spPr>
          <a:xfrm>
            <a:off x="822960" y="3063240"/>
            <a:ext cx="10405872" cy="566928"/>
          </a:xfrm>
          <a:prstGeom prst="rect">
            <a:avLst/>
          </a:prstGeom>
          <a:noFill/>
          <a:ln/>
        </p:spPr>
        <p:txBody>
          <a:bodyPr wrap="square" lIns="0" tIns="0" rIns="0" bIns="0" rtlCol="0" anchor="ctr"/>
          <a:lstStyle/>
          <a:p>
            <a:pPr algn="ctr" indent="0" marL="0">
              <a:buNone/>
            </a:pPr>
            <a:r>
              <a:rPr lang="en-US" sz="1300" b="1" dirty="0">
                <a:solidFill>
                  <a:srgbClr val="0B1A35"/>
                </a:solidFill>
                <a:latin typeface="Manrope" pitchFamily="34" charset="0"/>
                <a:ea typeface="Manrope" pitchFamily="34" charset="-122"/>
                <a:cs typeface="Manrope" pitchFamily="34" charset="-120"/>
              </a:rPr>
              <a:t>AGDRP — FMGE / NExT prep runs parallel from Year 1</a:t>
            </a:r>
            <a:endParaRPr lang="en-US" sz="1300" dirty="0"/>
          </a:p>
        </p:txBody>
      </p:sp>
      <p:sp>
        <p:nvSpPr>
          <p:cNvPr id="21" name="Text 18"/>
          <p:cNvSpPr/>
          <p:nvPr/>
        </p:nvSpPr>
        <p:spPr>
          <a:xfrm>
            <a:off x="822960" y="4069080"/>
            <a:ext cx="10607040" cy="201168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22304A"/>
                </a:solidFill>
                <a:latin typeface="Manrope" pitchFamily="34" charset="0"/>
                <a:ea typeface="Manrope" pitchFamily="34" charset="-122"/>
                <a:cs typeface="Manrope" pitchFamily="34" charset="-120"/>
              </a:rPr>
              <a:t>Structured prep alongside the degree — semester-linked  [VERIFY: current schedule / format]</a:t>
            </a:r>
            <a:endParaRPr lang="en-US" sz="1350" dirty="0"/>
          </a:p>
          <a:p>
            <a:pPr marL="342900" indent="-342900">
              <a:spcAft>
                <a:spcPts val="1100"/>
              </a:spcAft>
              <a:buSzPct val="100000"/>
              <a:buChar char="•"/>
            </a:pPr>
            <a:r>
              <a:rPr lang="en-US" sz="1350" dirty="0">
                <a:solidFill>
                  <a:srgbClr val="22304A"/>
                </a:solidFill>
                <a:latin typeface="Manrope" pitchFamily="34" charset="0"/>
                <a:ea typeface="Manrope" pitchFamily="34" charset="-122"/>
                <a:cs typeface="Manrope" pitchFamily="34" charset="-120"/>
              </a:rPr>
              <a:t>By final year, the student has lived with the syllabus for six years — not met it in panic</a:t>
            </a:r>
            <a:endParaRPr lang="en-US" sz="1350" dirty="0"/>
          </a:p>
          <a:p>
            <a:pPr marL="342900" indent="-342900">
              <a:spcAft>
                <a:spcPts val="1100"/>
              </a:spcAft>
              <a:buSzPct val="100000"/>
              <a:buChar char="•"/>
            </a:pPr>
            <a:r>
              <a:rPr lang="en-US" sz="1350" b="1" dirty="0">
                <a:solidFill>
                  <a:srgbClr val="22304A"/>
                </a:solidFill>
                <a:latin typeface="Manrope" pitchFamily="34" charset="0"/>
                <a:ea typeface="Manrope" pitchFamily="34" charset="-122"/>
                <a:cs typeface="Manrope" pitchFamily="34" charset="-120"/>
              </a:rPr>
              <a:t>NOT a pass guarantee — the exam is the student’s; the discipline is ours</a:t>
            </a:r>
            <a:endParaRPr lang="en-US" sz="1350" dirty="0"/>
          </a:p>
          <a:p>
            <a:pPr marL="342900" indent="-342900">
              <a:spcAft>
                <a:spcPts val="1100"/>
              </a:spcAft>
              <a:buSzPct val="100000"/>
              <a:buChar char="•"/>
            </a:pPr>
            <a:r>
              <a:rPr lang="en-US" sz="1350" dirty="0">
                <a:solidFill>
                  <a:srgbClr val="22304A"/>
                </a:solidFill>
                <a:latin typeface="Manrope" pitchFamily="34" charset="0"/>
                <a:ea typeface="Manrope" pitchFamily="34" charset="-122"/>
                <a:cs typeface="Manrope" pitchFamily="34" charset="-120"/>
              </a:rPr>
              <a:t>Distinct from INCREDOC (next slide) — complementary, not interchangeable</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35</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C6962E"/>
                </a:solidFill>
                <a:latin typeface="Cormorant Garamond" pitchFamily="34" charset="0"/>
                <a:ea typeface="Cormorant Garamond" pitchFamily="34" charset="-122"/>
                <a:cs typeface="Cormorant Garamond" pitchFamily="34" charset="-120"/>
              </a:rPr>
              <a:t>INCREDOC: Haath Se Seekhna</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F5E6C4"/>
                </a:solidFill>
                <a:latin typeface="Manrope" pitchFamily="34" charset="0"/>
                <a:ea typeface="Manrope" pitchFamily="34" charset="-122"/>
                <a:cs typeface="Manrope" pitchFamily="34" charset="-120"/>
              </a:rPr>
              <a:t>ABHA-owned hands-on clinical workshops · 10 conducted to date</a:t>
            </a:r>
            <a:endParaRPr lang="en-US" sz="1300" dirty="0"/>
          </a:p>
        </p:txBody>
      </p:sp>
      <p:sp>
        <p:nvSpPr>
          <p:cNvPr id="7" name="Shape 4"/>
          <p:cNvSpPr/>
          <p:nvPr/>
        </p:nvSpPr>
        <p:spPr>
          <a:xfrm>
            <a:off x="685800" y="1920240"/>
            <a:ext cx="3520440" cy="2651760"/>
          </a:xfrm>
          <a:prstGeom prst="roundRect">
            <a:avLst>
              <a:gd name="adj" fmla="val 3448"/>
            </a:avLst>
          </a:prstGeom>
          <a:solidFill>
            <a:srgbClr val="17294F"/>
          </a:solidFill>
          <a:ln/>
        </p:spPr>
      </p:sp>
      <p:sp>
        <p:nvSpPr>
          <p:cNvPr id="8" name="Shape 5"/>
          <p:cNvSpPr/>
          <p:nvPr/>
        </p:nvSpPr>
        <p:spPr>
          <a:xfrm>
            <a:off x="2148840" y="2331720"/>
            <a:ext cx="685800" cy="685800"/>
          </a:xfrm>
          <a:prstGeom prst="ellipse">
            <a:avLst/>
          </a:prstGeom>
          <a:solidFill>
            <a:srgbClr val="0B1A35"/>
          </a:solidFill>
          <a:ln/>
        </p:spPr>
      </p:sp>
      <p:pic>
        <p:nvPicPr>
          <p:cNvPr id="9" name="Image 0" descr="/tmp/claude-0/-home-user/22b099b3-5195-5dc8-9cf2-1c5020dc8f38/scratchpad/deck/icons/stetho.png">    </p:cNvPr>
          <p:cNvPicPr>
            <a:picLocks noChangeAspect="1"/>
          </p:cNvPicPr>
          <p:nvPr/>
        </p:nvPicPr>
        <p:blipFill>
          <a:blip r:embed="rId1"/>
          <a:stretch>
            <a:fillRect/>
          </a:stretch>
        </p:blipFill>
        <p:spPr>
          <a:xfrm>
            <a:off x="2327148" y="2510028"/>
            <a:ext cx="329184" cy="329184"/>
          </a:xfrm>
          <a:prstGeom prst="rect">
            <a:avLst/>
          </a:prstGeom>
        </p:spPr>
      </p:pic>
      <p:sp>
        <p:nvSpPr>
          <p:cNvPr id="10" name="Text 6"/>
          <p:cNvSpPr/>
          <p:nvPr/>
        </p:nvSpPr>
        <p:spPr>
          <a:xfrm>
            <a:off x="868680" y="3337560"/>
            <a:ext cx="3154680" cy="45720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Examination techniques</a:t>
            </a:r>
            <a:endParaRPr lang="en-US" sz="1250" dirty="0"/>
          </a:p>
        </p:txBody>
      </p:sp>
      <p:sp>
        <p:nvSpPr>
          <p:cNvPr id="11" name="Text 7"/>
          <p:cNvSpPr/>
          <p:nvPr/>
        </p:nvSpPr>
        <p:spPr>
          <a:xfrm>
            <a:off x="868680" y="3840480"/>
            <a:ext cx="3154680" cy="365760"/>
          </a:xfrm>
          <a:prstGeom prst="rect">
            <a:avLst/>
          </a:prstGeom>
          <a:noFill/>
          <a:ln/>
        </p:spPr>
        <p:txBody>
          <a:bodyPr wrap="square" lIns="0" tIns="0" rIns="0" bIns="0" rtlCol="0" anchor="ctr"/>
          <a:lstStyle/>
          <a:p>
            <a:pPr algn="ctr" indent="0" marL="0">
              <a:buNone/>
            </a:pPr>
            <a:r>
              <a:rPr lang="en-US" sz="850" i="1" dirty="0">
                <a:solidFill>
                  <a:srgbClr val="8FA0BC"/>
                </a:solidFill>
                <a:latin typeface="Manrope" pitchFamily="34" charset="0"/>
                <a:ea typeface="Manrope" pitchFamily="34" charset="-122"/>
                <a:cs typeface="Manrope" pitchFamily="34" charset="-120"/>
              </a:rPr>
              <a:t>[VERIFY: approved workshop photo]</a:t>
            </a:r>
            <a:endParaRPr lang="en-US" sz="850" dirty="0"/>
          </a:p>
        </p:txBody>
      </p:sp>
      <p:sp>
        <p:nvSpPr>
          <p:cNvPr id="12" name="Shape 8"/>
          <p:cNvSpPr/>
          <p:nvPr/>
        </p:nvSpPr>
        <p:spPr>
          <a:xfrm>
            <a:off x="4389120" y="1920240"/>
            <a:ext cx="3520440" cy="2651760"/>
          </a:xfrm>
          <a:prstGeom prst="roundRect">
            <a:avLst>
              <a:gd name="adj" fmla="val 3448"/>
            </a:avLst>
          </a:prstGeom>
          <a:solidFill>
            <a:srgbClr val="17294F"/>
          </a:solidFill>
          <a:ln/>
        </p:spPr>
      </p:sp>
      <p:sp>
        <p:nvSpPr>
          <p:cNvPr id="13" name="Shape 9"/>
          <p:cNvSpPr/>
          <p:nvPr/>
        </p:nvSpPr>
        <p:spPr>
          <a:xfrm>
            <a:off x="5852160" y="2331720"/>
            <a:ext cx="685800" cy="685800"/>
          </a:xfrm>
          <a:prstGeom prst="ellipse">
            <a:avLst/>
          </a:prstGeom>
          <a:solidFill>
            <a:srgbClr val="0B1A35"/>
          </a:solidFill>
          <a:ln/>
        </p:spPr>
      </p:sp>
      <p:pic>
        <p:nvPicPr>
          <p:cNvPr id="14" name="Image 1" descr="/tmp/claude-0/-home-user/22b099b3-5195-5dc8-9cf2-1c5020dc8f38/scratchpad/deck/icons/hands.png">    </p:cNvPr>
          <p:cNvPicPr>
            <a:picLocks noChangeAspect="1"/>
          </p:cNvPicPr>
          <p:nvPr/>
        </p:nvPicPr>
        <p:blipFill>
          <a:blip r:embed="rId2"/>
          <a:stretch>
            <a:fillRect/>
          </a:stretch>
        </p:blipFill>
        <p:spPr>
          <a:xfrm>
            <a:off x="6030468" y="2510028"/>
            <a:ext cx="329184" cy="329184"/>
          </a:xfrm>
          <a:prstGeom prst="rect">
            <a:avLst/>
          </a:prstGeom>
        </p:spPr>
      </p:pic>
      <p:sp>
        <p:nvSpPr>
          <p:cNvPr id="15" name="Text 10"/>
          <p:cNvSpPr/>
          <p:nvPr/>
        </p:nvSpPr>
        <p:spPr>
          <a:xfrm>
            <a:off x="4572000" y="3337560"/>
            <a:ext cx="3154680" cy="45720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Procedures &amp; suturing practice</a:t>
            </a:r>
            <a:endParaRPr lang="en-US" sz="1250" dirty="0"/>
          </a:p>
        </p:txBody>
      </p:sp>
      <p:sp>
        <p:nvSpPr>
          <p:cNvPr id="16" name="Text 11"/>
          <p:cNvSpPr/>
          <p:nvPr/>
        </p:nvSpPr>
        <p:spPr>
          <a:xfrm>
            <a:off x="4572000" y="3840480"/>
            <a:ext cx="3154680" cy="365760"/>
          </a:xfrm>
          <a:prstGeom prst="rect">
            <a:avLst/>
          </a:prstGeom>
          <a:noFill/>
          <a:ln/>
        </p:spPr>
        <p:txBody>
          <a:bodyPr wrap="square" lIns="0" tIns="0" rIns="0" bIns="0" rtlCol="0" anchor="ctr"/>
          <a:lstStyle/>
          <a:p>
            <a:pPr algn="ctr" indent="0" marL="0">
              <a:buNone/>
            </a:pPr>
            <a:r>
              <a:rPr lang="en-US" sz="850" i="1" dirty="0">
                <a:solidFill>
                  <a:srgbClr val="8FA0BC"/>
                </a:solidFill>
                <a:latin typeface="Manrope" pitchFamily="34" charset="0"/>
                <a:ea typeface="Manrope" pitchFamily="34" charset="-122"/>
                <a:cs typeface="Manrope" pitchFamily="34" charset="-120"/>
              </a:rPr>
              <a:t>[VERIFY: approved workshop photo]</a:t>
            </a:r>
            <a:endParaRPr lang="en-US" sz="850" dirty="0"/>
          </a:p>
        </p:txBody>
      </p:sp>
      <p:sp>
        <p:nvSpPr>
          <p:cNvPr id="17" name="Shape 12"/>
          <p:cNvSpPr/>
          <p:nvPr/>
        </p:nvSpPr>
        <p:spPr>
          <a:xfrm>
            <a:off x="8092440" y="1920240"/>
            <a:ext cx="3520440" cy="2651760"/>
          </a:xfrm>
          <a:prstGeom prst="roundRect">
            <a:avLst>
              <a:gd name="adj" fmla="val 3448"/>
            </a:avLst>
          </a:prstGeom>
          <a:solidFill>
            <a:srgbClr val="17294F"/>
          </a:solidFill>
          <a:ln/>
        </p:spPr>
      </p:sp>
      <p:sp>
        <p:nvSpPr>
          <p:cNvPr id="18" name="Shape 13"/>
          <p:cNvSpPr/>
          <p:nvPr/>
        </p:nvSpPr>
        <p:spPr>
          <a:xfrm>
            <a:off x="9555480" y="2331720"/>
            <a:ext cx="685800" cy="685800"/>
          </a:xfrm>
          <a:prstGeom prst="ellipse">
            <a:avLst/>
          </a:prstGeom>
          <a:solidFill>
            <a:srgbClr val="0B1A35"/>
          </a:solidFill>
          <a:ln/>
        </p:spPr>
      </p:sp>
      <p:pic>
        <p:nvPicPr>
          <p:cNvPr id="19" name="Image 2" descr="/tmp/claude-0/-home-user/22b099b3-5195-5dc8-9cf2-1c5020dc8f38/scratchpad/deck/icons/micro.png">    </p:cNvPr>
          <p:cNvPicPr>
            <a:picLocks noChangeAspect="1"/>
          </p:cNvPicPr>
          <p:nvPr/>
        </p:nvPicPr>
        <p:blipFill>
          <a:blip r:embed="rId3"/>
          <a:stretch>
            <a:fillRect/>
          </a:stretch>
        </p:blipFill>
        <p:spPr>
          <a:xfrm>
            <a:off x="9733788" y="2510028"/>
            <a:ext cx="329184" cy="329184"/>
          </a:xfrm>
          <a:prstGeom prst="rect">
            <a:avLst/>
          </a:prstGeom>
        </p:spPr>
      </p:pic>
      <p:sp>
        <p:nvSpPr>
          <p:cNvPr id="20" name="Text 14"/>
          <p:cNvSpPr/>
          <p:nvPr/>
        </p:nvSpPr>
        <p:spPr>
          <a:xfrm>
            <a:off x="8275320" y="3337560"/>
            <a:ext cx="3154680" cy="457200"/>
          </a:xfrm>
          <a:prstGeom prst="rect">
            <a:avLst/>
          </a:prstGeom>
          <a:noFill/>
          <a:ln/>
        </p:spPr>
        <p:txBody>
          <a:bodyPr wrap="square" lIns="0" tIns="0" rIns="0" bIns="0" rtlCol="0" anchor="ctr"/>
          <a:lstStyle/>
          <a:p>
            <a:pPr algn="ctr" indent="0" marL="0">
              <a:buNone/>
            </a:pPr>
            <a:r>
              <a:rPr lang="en-US" sz="1250" b="1" dirty="0">
                <a:solidFill>
                  <a:srgbClr val="E0B85C"/>
                </a:solidFill>
                <a:latin typeface="Manrope" pitchFamily="34" charset="0"/>
                <a:ea typeface="Manrope" pitchFamily="34" charset="-122"/>
                <a:cs typeface="Manrope" pitchFamily="34" charset="-120"/>
              </a:rPr>
              <a:t>Clinical skills stations</a:t>
            </a:r>
            <a:endParaRPr lang="en-US" sz="1250" dirty="0"/>
          </a:p>
        </p:txBody>
      </p:sp>
      <p:sp>
        <p:nvSpPr>
          <p:cNvPr id="21" name="Text 15"/>
          <p:cNvSpPr/>
          <p:nvPr/>
        </p:nvSpPr>
        <p:spPr>
          <a:xfrm>
            <a:off x="8275320" y="3840480"/>
            <a:ext cx="3154680" cy="365760"/>
          </a:xfrm>
          <a:prstGeom prst="rect">
            <a:avLst/>
          </a:prstGeom>
          <a:noFill/>
          <a:ln/>
        </p:spPr>
        <p:txBody>
          <a:bodyPr wrap="square" lIns="0" tIns="0" rIns="0" bIns="0" rtlCol="0" anchor="ctr"/>
          <a:lstStyle/>
          <a:p>
            <a:pPr algn="ctr" indent="0" marL="0">
              <a:buNone/>
            </a:pPr>
            <a:r>
              <a:rPr lang="en-US" sz="850" i="1" dirty="0">
                <a:solidFill>
                  <a:srgbClr val="8FA0BC"/>
                </a:solidFill>
                <a:latin typeface="Manrope" pitchFamily="34" charset="0"/>
                <a:ea typeface="Manrope" pitchFamily="34" charset="-122"/>
                <a:cs typeface="Manrope" pitchFamily="34" charset="-120"/>
              </a:rPr>
              <a:t>[VERIFY: approved workshop photo]</a:t>
            </a:r>
            <a:endParaRPr lang="en-US" sz="850" dirty="0"/>
          </a:p>
        </p:txBody>
      </p:sp>
      <p:sp>
        <p:nvSpPr>
          <p:cNvPr id="22" name="Text 16"/>
          <p:cNvSpPr/>
          <p:nvPr/>
        </p:nvSpPr>
        <p:spPr>
          <a:xfrm>
            <a:off x="822960" y="4983480"/>
            <a:ext cx="10607040" cy="777240"/>
          </a:xfrm>
          <a:prstGeom prst="rect">
            <a:avLst/>
          </a:prstGeom>
          <a:noFill/>
          <a:ln/>
        </p:spPr>
        <p:txBody>
          <a:bodyPr wrap="square" lIns="0" tIns="0" rIns="0" bIns="0" rtlCol="0" anchor="ctr"/>
          <a:lstStyle/>
          <a:p>
            <a:pPr indent="0" marL="0">
              <a:buNone/>
            </a:pPr>
            <a:r>
              <a:rPr lang="en-US" sz="1300" b="1" dirty="0">
                <a:solidFill>
                  <a:srgbClr val="E0B85C"/>
                </a:solidFill>
                <a:latin typeface="Manrope" pitchFamily="34" charset="0"/>
                <a:ea typeface="Manrope" pitchFamily="34" charset="-122"/>
                <a:cs typeface="Manrope" pitchFamily="34" charset="-120"/>
              </a:rPr>
              <a:t>Students practise — not just observe.  </a:t>
            </a:r>
            <a:pPr indent="0" marL="0">
              <a:buNone/>
            </a:pPr>
            <a:r>
              <a:rPr lang="en-US" sz="1300" dirty="0">
                <a:solidFill>
                  <a:srgbClr val="FFFFFF"/>
                </a:solidFill>
                <a:latin typeface="Manrope" pitchFamily="34" charset="0"/>
                <a:ea typeface="Manrope" pitchFamily="34" charset="-122"/>
                <a:cs typeface="Manrope" pitchFamily="34" charset="-120"/>
              </a:rPr>
              <a:t>AGDRP = theory &amp; discipline. INCREDOC = hands. Complementary.  [VERIFY: module list, venues, cadence]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36</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548640" y="384048"/>
            <a:ext cx="10972800" cy="777240"/>
          </a:xfrm>
          <a:prstGeom prst="rect">
            <a:avLst/>
          </a:prstGeom>
          <a:noFill/>
          <a:ln/>
        </p:spPr>
        <p:txBody>
          <a:bodyPr wrap="square" lIns="0" tIns="0" rIns="0" bIns="0" rtlCol="0" anchor="ctr"/>
          <a:lstStyle/>
          <a:p>
            <a:pPr indent="0" marL="0">
              <a:buNone/>
            </a:pPr>
            <a:r>
              <a:rPr lang="en-US" sz="2900" b="1" dirty="0">
                <a:solidFill>
                  <a:srgbClr val="0B1A35"/>
                </a:solidFill>
                <a:latin typeface="Cormorant Garamond" pitchFamily="34" charset="0"/>
                <a:ea typeface="Cormorant Garamond" pitchFamily="34" charset="-122"/>
                <a:cs typeface="Cormorant Garamond" pitchFamily="34" charset="-120"/>
              </a:rPr>
              <a:t>Beta Wahan Padhta Hai, Aap Yahan Dekhte Hain</a:t>
            </a:r>
            <a:endParaRPr lang="en-US" sz="2900" dirty="0"/>
          </a:p>
        </p:txBody>
      </p:sp>
      <p:sp>
        <p:nvSpPr>
          <p:cNvPr id="6" name="Text 3"/>
          <p:cNvSpPr/>
          <p:nvPr/>
        </p:nvSpPr>
        <p:spPr>
          <a:xfrm>
            <a:off x="566928" y="1078992"/>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MBBS / FMGE self-prep portal + parent view-only login</a:t>
            </a:r>
            <a:endParaRPr lang="en-US" sz="1300" dirty="0"/>
          </a:p>
        </p:txBody>
      </p:sp>
      <p:sp>
        <p:nvSpPr>
          <p:cNvPr id="7" name="Shape 4"/>
          <p:cNvSpPr/>
          <p:nvPr/>
        </p:nvSpPr>
        <p:spPr>
          <a:xfrm>
            <a:off x="1188720" y="1691640"/>
            <a:ext cx="3017520" cy="3931920"/>
          </a:xfrm>
          <a:prstGeom prst="roundRect">
            <a:avLst>
              <a:gd name="adj" fmla="val 5455"/>
            </a:avLst>
          </a:prstGeom>
          <a:solidFill>
            <a:srgbClr val="FFFFFF"/>
          </a:solidFill>
          <a:ln w="22225">
            <a:solidFill>
              <a:srgbClr val="0B1A35"/>
            </a:solidFill>
            <a:prstDash val="solid"/>
          </a:ln>
        </p:spPr>
      </p:sp>
      <p:sp>
        <p:nvSpPr>
          <p:cNvPr id="8" name="Shape 5"/>
          <p:cNvSpPr/>
          <p:nvPr/>
        </p:nvSpPr>
        <p:spPr>
          <a:xfrm>
            <a:off x="1417320" y="1920240"/>
            <a:ext cx="2560320" cy="457200"/>
          </a:xfrm>
          <a:prstGeom prst="roundRect">
            <a:avLst>
              <a:gd name="adj" fmla="val 20000"/>
            </a:avLst>
          </a:prstGeom>
          <a:solidFill>
            <a:srgbClr val="0B1A35"/>
          </a:solidFill>
          <a:ln/>
        </p:spPr>
      </p:sp>
      <p:sp>
        <p:nvSpPr>
          <p:cNvPr id="9" name="Text 6"/>
          <p:cNvSpPr/>
          <p:nvPr/>
        </p:nvSpPr>
        <p:spPr>
          <a:xfrm>
            <a:off x="1417320" y="1920240"/>
            <a:ext cx="25603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anrope" pitchFamily="34" charset="0"/>
                <a:ea typeface="Manrope" pitchFamily="34" charset="-122"/>
                <a:cs typeface="Manrope" pitchFamily="34" charset="-120"/>
              </a:rPr>
              <a:t>Student · Tbilisi</a:t>
            </a:r>
            <a:endParaRPr lang="en-US" sz="1050" dirty="0"/>
          </a:p>
        </p:txBody>
      </p:sp>
      <p:sp>
        <p:nvSpPr>
          <p:cNvPr id="10" name="Shape 7"/>
          <p:cNvSpPr/>
          <p:nvPr/>
        </p:nvSpPr>
        <p:spPr>
          <a:xfrm>
            <a:off x="1417320" y="2560320"/>
            <a:ext cx="2560320" cy="457200"/>
          </a:xfrm>
          <a:prstGeom prst="roundRect">
            <a:avLst>
              <a:gd name="adj" fmla="val 16000"/>
            </a:avLst>
          </a:prstGeom>
          <a:solidFill>
            <a:srgbClr val="F2F4F8"/>
          </a:solidFill>
          <a:ln/>
        </p:spPr>
      </p:sp>
      <p:sp>
        <p:nvSpPr>
          <p:cNvPr id="11" name="Text 8"/>
          <p:cNvSpPr/>
          <p:nvPr/>
        </p:nvSpPr>
        <p:spPr>
          <a:xfrm>
            <a:off x="1554480" y="2560320"/>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MCQ practice · revision</a:t>
            </a:r>
            <a:endParaRPr lang="en-US" sz="950" dirty="0"/>
          </a:p>
        </p:txBody>
      </p:sp>
      <p:sp>
        <p:nvSpPr>
          <p:cNvPr id="12" name="Shape 9"/>
          <p:cNvSpPr/>
          <p:nvPr/>
        </p:nvSpPr>
        <p:spPr>
          <a:xfrm>
            <a:off x="1417320" y="3127248"/>
            <a:ext cx="2560320" cy="457200"/>
          </a:xfrm>
          <a:prstGeom prst="roundRect">
            <a:avLst>
              <a:gd name="adj" fmla="val 16000"/>
            </a:avLst>
          </a:prstGeom>
          <a:solidFill>
            <a:srgbClr val="F2F4F8"/>
          </a:solidFill>
          <a:ln/>
        </p:spPr>
      </p:sp>
      <p:sp>
        <p:nvSpPr>
          <p:cNvPr id="13" name="Text 10"/>
          <p:cNvSpPr/>
          <p:nvPr/>
        </p:nvSpPr>
        <p:spPr>
          <a:xfrm>
            <a:off x="1554480" y="3127248"/>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Subject-wise modules</a:t>
            </a:r>
            <a:endParaRPr lang="en-US" sz="950" dirty="0"/>
          </a:p>
        </p:txBody>
      </p:sp>
      <p:sp>
        <p:nvSpPr>
          <p:cNvPr id="14" name="Shape 11"/>
          <p:cNvSpPr/>
          <p:nvPr/>
        </p:nvSpPr>
        <p:spPr>
          <a:xfrm>
            <a:off x="1417320" y="3694176"/>
            <a:ext cx="2560320" cy="457200"/>
          </a:xfrm>
          <a:prstGeom prst="roundRect">
            <a:avLst>
              <a:gd name="adj" fmla="val 16000"/>
            </a:avLst>
          </a:prstGeom>
          <a:solidFill>
            <a:srgbClr val="F2F4F8"/>
          </a:solidFill>
          <a:ln/>
        </p:spPr>
      </p:sp>
      <p:sp>
        <p:nvSpPr>
          <p:cNvPr id="15" name="Text 12"/>
          <p:cNvSpPr/>
          <p:nvPr/>
        </p:nvSpPr>
        <p:spPr>
          <a:xfrm>
            <a:off x="1554480" y="3694176"/>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Progress tracking</a:t>
            </a:r>
            <a:endParaRPr lang="en-US" sz="950" dirty="0"/>
          </a:p>
        </p:txBody>
      </p:sp>
      <p:sp>
        <p:nvSpPr>
          <p:cNvPr id="16" name="Shape 13"/>
          <p:cNvSpPr/>
          <p:nvPr/>
        </p:nvSpPr>
        <p:spPr>
          <a:xfrm>
            <a:off x="1417320" y="4261104"/>
            <a:ext cx="2560320" cy="457200"/>
          </a:xfrm>
          <a:prstGeom prst="roundRect">
            <a:avLst>
              <a:gd name="adj" fmla="val 16000"/>
            </a:avLst>
          </a:prstGeom>
          <a:solidFill>
            <a:srgbClr val="F2F4F8"/>
          </a:solidFill>
          <a:ln/>
        </p:spPr>
      </p:sp>
      <p:sp>
        <p:nvSpPr>
          <p:cNvPr id="17" name="Text 14"/>
          <p:cNvSpPr/>
          <p:nvPr/>
        </p:nvSpPr>
        <p:spPr>
          <a:xfrm>
            <a:off x="1554480" y="4261104"/>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[VERIFY: feature list]</a:t>
            </a:r>
            <a:endParaRPr lang="en-US" sz="950" dirty="0"/>
          </a:p>
        </p:txBody>
      </p:sp>
      <p:sp>
        <p:nvSpPr>
          <p:cNvPr id="18" name="Shape 15"/>
          <p:cNvSpPr/>
          <p:nvPr/>
        </p:nvSpPr>
        <p:spPr>
          <a:xfrm>
            <a:off x="1417320" y="4828032"/>
            <a:ext cx="2560320" cy="457200"/>
          </a:xfrm>
          <a:prstGeom prst="roundRect">
            <a:avLst>
              <a:gd name="adj" fmla="val 16000"/>
            </a:avLst>
          </a:prstGeom>
          <a:solidFill>
            <a:srgbClr val="F2F4F8"/>
          </a:solidFill>
          <a:ln/>
        </p:spPr>
      </p:sp>
      <p:sp>
        <p:nvSpPr>
          <p:cNvPr id="19" name="Text 16"/>
          <p:cNvSpPr/>
          <p:nvPr/>
        </p:nvSpPr>
        <p:spPr>
          <a:xfrm>
            <a:off x="1554480" y="4828032"/>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Daily study streaks</a:t>
            </a:r>
            <a:endParaRPr lang="en-US" sz="950" dirty="0"/>
          </a:p>
        </p:txBody>
      </p:sp>
      <p:sp>
        <p:nvSpPr>
          <p:cNvPr id="20" name="Shape 17"/>
          <p:cNvSpPr/>
          <p:nvPr/>
        </p:nvSpPr>
        <p:spPr>
          <a:xfrm>
            <a:off x="4709160" y="1691640"/>
            <a:ext cx="3017520" cy="3931920"/>
          </a:xfrm>
          <a:prstGeom prst="roundRect">
            <a:avLst>
              <a:gd name="adj" fmla="val 5455"/>
            </a:avLst>
          </a:prstGeom>
          <a:solidFill>
            <a:srgbClr val="FFFFFF"/>
          </a:solidFill>
          <a:ln w="22225">
            <a:solidFill>
              <a:srgbClr val="C6962E"/>
            </a:solidFill>
            <a:prstDash val="solid"/>
          </a:ln>
        </p:spPr>
      </p:sp>
      <p:sp>
        <p:nvSpPr>
          <p:cNvPr id="21" name="Shape 18"/>
          <p:cNvSpPr/>
          <p:nvPr/>
        </p:nvSpPr>
        <p:spPr>
          <a:xfrm>
            <a:off x="4937760" y="1920240"/>
            <a:ext cx="2560320" cy="457200"/>
          </a:xfrm>
          <a:prstGeom prst="roundRect">
            <a:avLst>
              <a:gd name="adj" fmla="val 20000"/>
            </a:avLst>
          </a:prstGeom>
          <a:solidFill>
            <a:srgbClr val="F5E6C4"/>
          </a:solidFill>
          <a:ln/>
        </p:spPr>
      </p:sp>
      <p:sp>
        <p:nvSpPr>
          <p:cNvPr id="22" name="Text 19"/>
          <p:cNvSpPr/>
          <p:nvPr/>
        </p:nvSpPr>
        <p:spPr>
          <a:xfrm>
            <a:off x="4937760" y="1920240"/>
            <a:ext cx="2560320" cy="457200"/>
          </a:xfrm>
          <a:prstGeom prst="rect">
            <a:avLst/>
          </a:prstGeom>
          <a:noFill/>
          <a:ln/>
        </p:spPr>
        <p:txBody>
          <a:bodyPr wrap="square" lIns="0" tIns="0" rIns="0" bIns="0" rtlCol="0" anchor="ctr"/>
          <a:lstStyle/>
          <a:p>
            <a:pPr algn="ctr" indent="0" marL="0">
              <a:buNone/>
            </a:pPr>
            <a:r>
              <a:rPr lang="en-US" sz="1050" b="1" dirty="0">
                <a:solidFill>
                  <a:srgbClr val="6B5518"/>
                </a:solidFill>
                <a:latin typeface="Manrope" pitchFamily="34" charset="0"/>
                <a:ea typeface="Manrope" pitchFamily="34" charset="-122"/>
                <a:cs typeface="Manrope" pitchFamily="34" charset="-120"/>
              </a:rPr>
              <a:t>Parent · Kolhapur (view-only)</a:t>
            </a:r>
            <a:endParaRPr lang="en-US" sz="1050" dirty="0"/>
          </a:p>
        </p:txBody>
      </p:sp>
      <p:sp>
        <p:nvSpPr>
          <p:cNvPr id="23" name="Shape 20"/>
          <p:cNvSpPr/>
          <p:nvPr/>
        </p:nvSpPr>
        <p:spPr>
          <a:xfrm>
            <a:off x="4937760" y="2560320"/>
            <a:ext cx="2560320" cy="457200"/>
          </a:xfrm>
          <a:prstGeom prst="roundRect">
            <a:avLst>
              <a:gd name="adj" fmla="val 16000"/>
            </a:avLst>
          </a:prstGeom>
          <a:solidFill>
            <a:srgbClr val="F2F4F8"/>
          </a:solidFill>
          <a:ln/>
        </p:spPr>
      </p:sp>
      <p:sp>
        <p:nvSpPr>
          <p:cNvPr id="24" name="Text 21"/>
          <p:cNvSpPr/>
          <p:nvPr/>
        </p:nvSpPr>
        <p:spPr>
          <a:xfrm>
            <a:off x="5074920" y="2560320"/>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Study activity — live</a:t>
            </a:r>
            <a:endParaRPr lang="en-US" sz="950" dirty="0"/>
          </a:p>
        </p:txBody>
      </p:sp>
      <p:sp>
        <p:nvSpPr>
          <p:cNvPr id="25" name="Shape 22"/>
          <p:cNvSpPr/>
          <p:nvPr/>
        </p:nvSpPr>
        <p:spPr>
          <a:xfrm>
            <a:off x="4937760" y="3127248"/>
            <a:ext cx="2560320" cy="457200"/>
          </a:xfrm>
          <a:prstGeom prst="roundRect">
            <a:avLst>
              <a:gd name="adj" fmla="val 16000"/>
            </a:avLst>
          </a:prstGeom>
          <a:solidFill>
            <a:srgbClr val="F2F4F8"/>
          </a:solidFill>
          <a:ln/>
        </p:spPr>
      </p:sp>
      <p:sp>
        <p:nvSpPr>
          <p:cNvPr id="26" name="Text 23"/>
          <p:cNvSpPr/>
          <p:nvPr/>
        </p:nvSpPr>
        <p:spPr>
          <a:xfrm>
            <a:off x="5074920" y="3127248"/>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Hours &amp; progress view</a:t>
            </a:r>
            <a:endParaRPr lang="en-US" sz="950" dirty="0"/>
          </a:p>
        </p:txBody>
      </p:sp>
      <p:sp>
        <p:nvSpPr>
          <p:cNvPr id="27" name="Shape 24"/>
          <p:cNvSpPr/>
          <p:nvPr/>
        </p:nvSpPr>
        <p:spPr>
          <a:xfrm>
            <a:off x="4937760" y="3694176"/>
            <a:ext cx="2560320" cy="457200"/>
          </a:xfrm>
          <a:prstGeom prst="roundRect">
            <a:avLst>
              <a:gd name="adj" fmla="val 16000"/>
            </a:avLst>
          </a:prstGeom>
          <a:solidFill>
            <a:srgbClr val="F2F4F8"/>
          </a:solidFill>
          <a:ln/>
        </p:spPr>
      </p:sp>
      <p:sp>
        <p:nvSpPr>
          <p:cNvPr id="28" name="Text 25"/>
          <p:cNvSpPr/>
          <p:nvPr/>
        </p:nvSpPr>
        <p:spPr>
          <a:xfrm>
            <a:off x="5074920" y="3694176"/>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No editing — dekhna hi</a:t>
            </a:r>
            <a:endParaRPr lang="en-US" sz="950" dirty="0"/>
          </a:p>
        </p:txBody>
      </p:sp>
      <p:sp>
        <p:nvSpPr>
          <p:cNvPr id="29" name="Shape 26"/>
          <p:cNvSpPr/>
          <p:nvPr/>
        </p:nvSpPr>
        <p:spPr>
          <a:xfrm>
            <a:off x="4937760" y="4261104"/>
            <a:ext cx="2560320" cy="457200"/>
          </a:xfrm>
          <a:prstGeom prst="roundRect">
            <a:avLst>
              <a:gd name="adj" fmla="val 16000"/>
            </a:avLst>
          </a:prstGeom>
          <a:solidFill>
            <a:srgbClr val="F2F4F8"/>
          </a:solidFill>
          <a:ln/>
        </p:spPr>
      </p:sp>
      <p:sp>
        <p:nvSpPr>
          <p:cNvPr id="30" name="Text 27"/>
          <p:cNvSpPr/>
          <p:nvPr/>
        </p:nvSpPr>
        <p:spPr>
          <a:xfrm>
            <a:off x="5074920" y="4261104"/>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Beton ke bharose nahi</a:t>
            </a:r>
            <a:endParaRPr lang="en-US" sz="950" dirty="0"/>
          </a:p>
        </p:txBody>
      </p:sp>
      <p:sp>
        <p:nvSpPr>
          <p:cNvPr id="31" name="Shape 28"/>
          <p:cNvSpPr/>
          <p:nvPr/>
        </p:nvSpPr>
        <p:spPr>
          <a:xfrm>
            <a:off x="4937760" y="4828032"/>
            <a:ext cx="2560320" cy="457200"/>
          </a:xfrm>
          <a:prstGeom prst="roundRect">
            <a:avLst>
              <a:gd name="adj" fmla="val 16000"/>
            </a:avLst>
          </a:prstGeom>
          <a:solidFill>
            <a:srgbClr val="F2F4F8"/>
          </a:solidFill>
          <a:ln/>
        </p:spPr>
      </p:sp>
      <p:sp>
        <p:nvSpPr>
          <p:cNvPr id="32" name="Text 29"/>
          <p:cNvSpPr/>
          <p:nvPr/>
        </p:nvSpPr>
        <p:spPr>
          <a:xfrm>
            <a:off x="5074920" y="4828032"/>
            <a:ext cx="2331720" cy="457200"/>
          </a:xfrm>
          <a:prstGeom prst="rect">
            <a:avLst/>
          </a:prstGeom>
          <a:noFill/>
          <a:ln/>
        </p:spPr>
        <p:txBody>
          <a:bodyPr wrap="square" lIns="0" tIns="0" rIns="0" bIns="0" rtlCol="0" anchor="ctr"/>
          <a:lstStyle/>
          <a:p>
            <a:pPr indent="0" marL="0">
              <a:buNone/>
            </a:pPr>
            <a:r>
              <a:rPr lang="en-US" sz="950" dirty="0">
                <a:solidFill>
                  <a:srgbClr val="22304A"/>
                </a:solidFill>
                <a:latin typeface="Manrope" pitchFamily="34" charset="0"/>
                <a:ea typeface="Manrope" pitchFamily="34" charset="-122"/>
                <a:cs typeface="Manrope" pitchFamily="34" charset="-120"/>
              </a:rPr>
              <a:t>Screen par sach</a:t>
            </a:r>
            <a:endParaRPr lang="en-US" sz="950" dirty="0"/>
          </a:p>
        </p:txBody>
      </p:sp>
      <p:sp>
        <p:nvSpPr>
          <p:cNvPr id="33" name="Text 30"/>
          <p:cNvSpPr/>
          <p:nvPr/>
        </p:nvSpPr>
        <p:spPr>
          <a:xfrm>
            <a:off x="8229600" y="2103120"/>
            <a:ext cx="3383280" cy="731520"/>
          </a:xfrm>
          <a:prstGeom prst="rect">
            <a:avLst/>
          </a:prstGeom>
          <a:noFill/>
          <a:ln/>
        </p:spPr>
        <p:txBody>
          <a:bodyPr wrap="square" lIns="0" tIns="0" rIns="0" bIns="0" rtlCol="0" anchor="ctr"/>
          <a:lstStyle/>
          <a:p>
            <a:pPr indent="0" marL="0">
              <a:buNone/>
            </a:pPr>
            <a:r>
              <a:rPr lang="en-US" sz="1200" b="1" dirty="0">
                <a:solidFill>
                  <a:srgbClr val="0B1A35"/>
                </a:solidFill>
                <a:latin typeface="Manrope" pitchFamily="34" charset="0"/>
                <a:ea typeface="Manrope" pitchFamily="34" charset="-122"/>
                <a:cs typeface="Manrope" pitchFamily="34" charset="-120"/>
              </a:rPr>
              <a:t>The biggest parent fear, answered by a mechanism:</a:t>
            </a:r>
            <a:endParaRPr lang="en-US" sz="1200" dirty="0"/>
          </a:p>
        </p:txBody>
      </p:sp>
      <p:sp>
        <p:nvSpPr>
          <p:cNvPr id="34" name="Text 31"/>
          <p:cNvSpPr/>
          <p:nvPr/>
        </p:nvSpPr>
        <p:spPr>
          <a:xfrm>
            <a:off x="8229600" y="2743200"/>
            <a:ext cx="3383280" cy="1463040"/>
          </a:xfrm>
          <a:prstGeom prst="rect">
            <a:avLst/>
          </a:prstGeom>
          <a:noFill/>
          <a:ln/>
        </p:spPr>
        <p:txBody>
          <a:bodyPr wrap="square" lIns="0" tIns="0" rIns="0" bIns="0" rtlCol="0" anchor="ctr"/>
          <a:lstStyle/>
          <a:p>
            <a:pPr indent="0" marL="0">
              <a:buNone/>
            </a:pPr>
            <a:r>
              <a:rPr lang="en-US" sz="1700" i="1" dirty="0">
                <a:solidFill>
                  <a:srgbClr val="C6962E"/>
                </a:solidFill>
                <a:latin typeface="Cormorant Garamond" pitchFamily="34" charset="0"/>
                <a:ea typeface="Cormorant Garamond" pitchFamily="34" charset="-122"/>
                <a:cs typeface="Cormorant Garamond" pitchFamily="34" charset="-120"/>
              </a:rPr>
              <a:t>“5 saal door rahega —</a:t>
            </a:r>
            <a:endParaRPr lang="en-US" sz="1700" dirty="0"/>
          </a:p>
          <a:p>
            <a:pPr indent="0" marL="0">
              <a:buNone/>
            </a:pPr>
            <a:r>
              <a:rPr lang="en-US" sz="1700" i="1" dirty="0">
                <a:solidFill>
                  <a:srgbClr val="C6962E"/>
                </a:solidFill>
                <a:latin typeface="Cormorant Garamond" pitchFamily="34" charset="0"/>
                <a:ea typeface="Cormorant Garamond" pitchFamily="34" charset="-122"/>
                <a:cs typeface="Cormorant Garamond" pitchFamily="34" charset="-120"/>
              </a:rPr>
              <a:t>humein kaise pata chalega</a:t>
            </a:r>
            <a:endParaRPr lang="en-US" sz="1700" dirty="0"/>
          </a:p>
          <a:p>
            <a:pPr indent="0" marL="0">
              <a:buNone/>
            </a:pPr>
            <a:r>
              <a:rPr lang="en-US" sz="1700" i="1" dirty="0">
                <a:solidFill>
                  <a:srgbClr val="C6962E"/>
                </a:solidFill>
                <a:latin typeface="Cormorant Garamond" pitchFamily="34" charset="0"/>
                <a:ea typeface="Cormorant Garamond" pitchFamily="34" charset="-122"/>
                <a:cs typeface="Cormorant Garamond" pitchFamily="34" charset="-120"/>
              </a:rPr>
              <a:t>ki padh raha hai?”</a:t>
            </a:r>
            <a:endParaRPr lang="en-US" sz="1700" dirty="0"/>
          </a:p>
        </p:txBody>
      </p:sp>
      <p:sp>
        <p:nvSpPr>
          <p:cNvPr id="35" name="Shape 32"/>
          <p:cNvSpPr/>
          <p:nvPr/>
        </p:nvSpPr>
        <p:spPr>
          <a:xfrm>
            <a:off x="548640" y="5943600"/>
            <a:ext cx="11091672" cy="566928"/>
          </a:xfrm>
          <a:prstGeom prst="roundRect">
            <a:avLst>
              <a:gd name="adj" fmla="val 14516"/>
            </a:avLst>
          </a:prstGeom>
          <a:solidFill>
            <a:srgbClr val="0B1A35"/>
          </a:solidFill>
          <a:ln/>
        </p:spPr>
      </p:sp>
      <p:pic>
        <p:nvPicPr>
          <p:cNvPr id="36" name="Image 0" descr="/tmp/claude-0/-home-user/22b099b3-5195-5dc8-9cf2-1c5020dc8f38/scratchpad/deck/icons/tablet.png">    </p:cNvPr>
          <p:cNvPicPr>
            <a:picLocks noChangeAspect="1"/>
          </p:cNvPicPr>
          <p:nvPr/>
        </p:nvPicPr>
        <p:blipFill>
          <a:blip r:embed="rId1"/>
          <a:stretch>
            <a:fillRect/>
          </a:stretch>
        </p:blipFill>
        <p:spPr>
          <a:xfrm>
            <a:off x="868680" y="6062472"/>
            <a:ext cx="329184" cy="329184"/>
          </a:xfrm>
          <a:prstGeom prst="rect">
            <a:avLst/>
          </a:prstGeom>
        </p:spPr>
      </p:pic>
      <p:sp>
        <p:nvSpPr>
          <p:cNvPr id="37" name="Text 33"/>
          <p:cNvSpPr/>
          <p:nvPr/>
        </p:nvSpPr>
        <p:spPr>
          <a:xfrm>
            <a:off x="1371600" y="5943600"/>
            <a:ext cx="10058400" cy="566928"/>
          </a:xfrm>
          <a:prstGeom prst="rect">
            <a:avLst/>
          </a:prstGeom>
          <a:noFill/>
          <a:ln/>
        </p:spPr>
        <p:txBody>
          <a:bodyPr wrap="square" lIns="0" tIns="0" rIns="0" bIns="0" rtlCol="0" anchor="ctr"/>
          <a:lstStyle/>
          <a:p>
            <a:pPr indent="0" marL="0">
              <a:buNone/>
            </a:pPr>
            <a:r>
              <a:rPr lang="en-US" sz="1150" dirty="0">
                <a:solidFill>
                  <a:srgbClr val="F5E6C4"/>
                </a:solidFill>
                <a:latin typeface="Manrope" pitchFamily="34" charset="0"/>
                <a:ea typeface="Manrope" pitchFamily="34" charset="-122"/>
                <a:cs typeface="Manrope" pitchFamily="34" charset="-120"/>
              </a:rPr>
              <a:t>iPad Early Bird offer — delivered AFTER visa approval, not before · [VERIFY: current offer conditions]</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37</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8 · WHY ABHA</a:t>
            </a:r>
            <a:endParaRPr lang="en-US" sz="900" dirty="0"/>
          </a:p>
        </p:txBody>
      </p:sp>
      <p:sp>
        <p:nvSpPr>
          <p:cNvPr id="5" name="Text 2"/>
          <p:cNvSpPr/>
          <p:nvPr/>
        </p:nvSpPr>
        <p:spPr>
          <a:xfrm>
            <a:off x="0" y="640080"/>
            <a:ext cx="12188952" cy="548640"/>
          </a:xfrm>
          <a:prstGeom prst="rect">
            <a:avLst/>
          </a:prstGeom>
          <a:noFill/>
          <a:ln/>
        </p:spPr>
        <p:txBody>
          <a:bodyPr wrap="square" lIns="0" tIns="0" rIns="0" bIns="0" rtlCol="0" anchor="ctr"/>
          <a:lstStyle/>
          <a:p>
            <a:pPr algn="ctr" indent="0" marL="0">
              <a:buNone/>
            </a:pPr>
            <a:r>
              <a:rPr lang="en-US" sz="3200" b="1" dirty="0">
                <a:solidFill>
                  <a:srgbClr val="C6962E"/>
                </a:solidFill>
                <a:latin typeface="Cormorant Garamond" pitchFamily="34" charset="0"/>
                <a:ea typeface="Cormorant Garamond" pitchFamily="34" charset="-122"/>
                <a:cs typeface="Cormorant Garamond" pitchFamily="34" charset="-120"/>
              </a:rPr>
              <a:t>Hum Kya Promise NAHI Karte</a:t>
            </a:r>
            <a:endParaRPr lang="en-US" sz="3200" dirty="0"/>
          </a:p>
        </p:txBody>
      </p:sp>
      <p:sp>
        <p:nvSpPr>
          <p:cNvPr id="6" name="Text 3"/>
          <p:cNvSpPr/>
          <p:nvPr/>
        </p:nvSpPr>
        <p:spPr>
          <a:xfrm>
            <a:off x="0" y="1234440"/>
            <a:ext cx="12188952" cy="365760"/>
          </a:xfrm>
          <a:prstGeom prst="rect">
            <a:avLst/>
          </a:prstGeom>
          <a:noFill/>
          <a:ln/>
        </p:spPr>
        <p:txBody>
          <a:bodyPr wrap="square" lIns="0" tIns="0" rIns="0" bIns="0" rtlCol="0" anchor="ctr"/>
          <a:lstStyle/>
          <a:p>
            <a:pPr algn="ctr" indent="0" marL="0">
              <a:buNone/>
            </a:pPr>
            <a:r>
              <a:rPr lang="en-US" sz="1200" dirty="0">
                <a:solidFill>
                  <a:srgbClr val="F5E6C4"/>
                </a:solidFill>
                <a:latin typeface="Manrope" pitchFamily="34" charset="0"/>
                <a:ea typeface="Manrope" pitchFamily="34" charset="-122"/>
                <a:cs typeface="Manrope" pitchFamily="34" charset="-120"/>
              </a:rPr>
              <a:t>Ye slide sabse zaroori hai</a:t>
            </a:r>
            <a:endParaRPr lang="en-US" sz="1200" dirty="0"/>
          </a:p>
        </p:txBody>
      </p:sp>
      <p:sp>
        <p:nvSpPr>
          <p:cNvPr id="7" name="Text 4"/>
          <p:cNvSpPr/>
          <p:nvPr/>
        </p:nvSpPr>
        <p:spPr>
          <a:xfrm>
            <a:off x="0" y="1965960"/>
            <a:ext cx="12188952" cy="640080"/>
          </a:xfrm>
          <a:prstGeom prst="rect">
            <a:avLst/>
          </a:prstGeom>
          <a:noFill/>
          <a:ln/>
        </p:spPr>
        <p:txBody>
          <a:bodyPr wrap="square" lIns="0" tIns="0" rIns="0" bIns="0" rtlCol="0" anchor="ctr"/>
          <a:lstStyle/>
          <a:p>
            <a:pPr algn="ctr" indent="0" marL="0">
              <a:buNone/>
            </a:pPr>
            <a:r>
              <a:rPr lang="en-US" sz="2600" b="1" dirty="0">
                <a:solidFill>
                  <a:srgbClr val="C6962E"/>
                </a:solidFill>
                <a:latin typeface="Manrope" pitchFamily="34" charset="0"/>
                <a:ea typeface="Manrope" pitchFamily="34" charset="-122"/>
                <a:cs typeface="Manrope" pitchFamily="34" charset="-120"/>
              </a:rPr>
              <a:t>NO  </a:t>
            </a:r>
            <a:pPr algn="ctr" indent="0" marL="0">
              <a:buNone/>
            </a:pPr>
            <a:r>
              <a:rPr lang="en-US" sz="2200" dirty="0">
                <a:solidFill>
                  <a:srgbClr val="FFFFFF"/>
                </a:solidFill>
                <a:latin typeface="Manrope" pitchFamily="34" charset="0"/>
                <a:ea typeface="Manrope" pitchFamily="34" charset="-122"/>
                <a:cs typeface="Manrope" pitchFamily="34" charset="-120"/>
              </a:rPr>
              <a:t>guaranteed admission</a:t>
            </a:r>
            <a:endParaRPr lang="en-US" sz="2600" dirty="0"/>
          </a:p>
        </p:txBody>
      </p:sp>
      <p:sp>
        <p:nvSpPr>
          <p:cNvPr id="8" name="Text 5"/>
          <p:cNvSpPr/>
          <p:nvPr/>
        </p:nvSpPr>
        <p:spPr>
          <a:xfrm>
            <a:off x="0" y="2679192"/>
            <a:ext cx="12188952" cy="640080"/>
          </a:xfrm>
          <a:prstGeom prst="rect">
            <a:avLst/>
          </a:prstGeom>
          <a:noFill/>
          <a:ln/>
        </p:spPr>
        <p:txBody>
          <a:bodyPr wrap="square" lIns="0" tIns="0" rIns="0" bIns="0" rtlCol="0" anchor="ctr"/>
          <a:lstStyle/>
          <a:p>
            <a:pPr algn="ctr" indent="0" marL="0">
              <a:buNone/>
            </a:pPr>
            <a:r>
              <a:rPr lang="en-US" sz="2600" b="1" dirty="0">
                <a:solidFill>
                  <a:srgbClr val="C6962E"/>
                </a:solidFill>
                <a:latin typeface="Manrope" pitchFamily="34" charset="0"/>
                <a:ea typeface="Manrope" pitchFamily="34" charset="-122"/>
                <a:cs typeface="Manrope" pitchFamily="34" charset="-120"/>
              </a:rPr>
              <a:t>NO  </a:t>
            </a:r>
            <a:pPr algn="ctr" indent="0" marL="0">
              <a:buNone/>
            </a:pPr>
            <a:r>
              <a:rPr lang="en-US" sz="2200" dirty="0">
                <a:solidFill>
                  <a:srgbClr val="FFFFFF"/>
                </a:solidFill>
                <a:latin typeface="Manrope" pitchFamily="34" charset="0"/>
                <a:ea typeface="Manrope" pitchFamily="34" charset="-122"/>
                <a:cs typeface="Manrope" pitchFamily="34" charset="-120"/>
              </a:rPr>
              <a:t>guaranteed visa</a:t>
            </a:r>
            <a:endParaRPr lang="en-US" sz="2600" dirty="0"/>
          </a:p>
        </p:txBody>
      </p:sp>
      <p:sp>
        <p:nvSpPr>
          <p:cNvPr id="9" name="Text 6"/>
          <p:cNvSpPr/>
          <p:nvPr/>
        </p:nvSpPr>
        <p:spPr>
          <a:xfrm>
            <a:off x="0" y="3392424"/>
            <a:ext cx="12188952" cy="640080"/>
          </a:xfrm>
          <a:prstGeom prst="rect">
            <a:avLst/>
          </a:prstGeom>
          <a:noFill/>
          <a:ln/>
        </p:spPr>
        <p:txBody>
          <a:bodyPr wrap="square" lIns="0" tIns="0" rIns="0" bIns="0" rtlCol="0" anchor="ctr"/>
          <a:lstStyle/>
          <a:p>
            <a:pPr algn="ctr" indent="0" marL="0">
              <a:buNone/>
            </a:pPr>
            <a:r>
              <a:rPr lang="en-US" sz="2600" b="1" dirty="0">
                <a:solidFill>
                  <a:srgbClr val="C6962E"/>
                </a:solidFill>
                <a:latin typeface="Manrope" pitchFamily="34" charset="0"/>
                <a:ea typeface="Manrope" pitchFamily="34" charset="-122"/>
                <a:cs typeface="Manrope" pitchFamily="34" charset="-120"/>
              </a:rPr>
              <a:t>NO  </a:t>
            </a:r>
            <a:pPr algn="ctr" indent="0" marL="0">
              <a:buNone/>
            </a:pPr>
            <a:r>
              <a:rPr lang="en-US" sz="2200" dirty="0">
                <a:solidFill>
                  <a:srgbClr val="FFFFFF"/>
                </a:solidFill>
                <a:latin typeface="Manrope" pitchFamily="34" charset="0"/>
                <a:ea typeface="Manrope" pitchFamily="34" charset="-122"/>
                <a:cs typeface="Manrope" pitchFamily="34" charset="-120"/>
              </a:rPr>
              <a:t>guaranteed FMGE pass</a:t>
            </a:r>
            <a:endParaRPr lang="en-US" sz="2600" dirty="0"/>
          </a:p>
        </p:txBody>
      </p:sp>
      <p:sp>
        <p:nvSpPr>
          <p:cNvPr id="10" name="Text 7"/>
          <p:cNvSpPr/>
          <p:nvPr/>
        </p:nvSpPr>
        <p:spPr>
          <a:xfrm>
            <a:off x="0" y="4105656"/>
            <a:ext cx="12188952" cy="640080"/>
          </a:xfrm>
          <a:prstGeom prst="rect">
            <a:avLst/>
          </a:prstGeom>
          <a:noFill/>
          <a:ln/>
        </p:spPr>
        <p:txBody>
          <a:bodyPr wrap="square" lIns="0" tIns="0" rIns="0" bIns="0" rtlCol="0" anchor="ctr"/>
          <a:lstStyle/>
          <a:p>
            <a:pPr algn="ctr" indent="0" marL="0">
              <a:buNone/>
            </a:pPr>
            <a:r>
              <a:rPr lang="en-US" sz="2600" b="1" dirty="0">
                <a:solidFill>
                  <a:srgbClr val="C6962E"/>
                </a:solidFill>
                <a:latin typeface="Manrope" pitchFamily="34" charset="0"/>
                <a:ea typeface="Manrope" pitchFamily="34" charset="-122"/>
                <a:cs typeface="Manrope" pitchFamily="34" charset="-120"/>
              </a:rPr>
              <a:t>NO  </a:t>
            </a:r>
            <a:pPr algn="ctr" indent="0" marL="0">
              <a:buNone/>
            </a:pPr>
            <a:r>
              <a:rPr lang="en-US" sz="2200" dirty="0">
                <a:solidFill>
                  <a:srgbClr val="FFFFFF"/>
                </a:solidFill>
                <a:latin typeface="Manrope" pitchFamily="34" charset="0"/>
                <a:ea typeface="Manrope" pitchFamily="34" charset="-122"/>
                <a:cs typeface="Manrope" pitchFamily="34" charset="-120"/>
              </a:rPr>
              <a:t>guaranteed scholarship</a:t>
            </a:r>
            <a:endParaRPr lang="en-US" sz="2600" dirty="0"/>
          </a:p>
        </p:txBody>
      </p:sp>
      <p:sp>
        <p:nvSpPr>
          <p:cNvPr id="11" name="Shape 8"/>
          <p:cNvSpPr/>
          <p:nvPr/>
        </p:nvSpPr>
        <p:spPr>
          <a:xfrm>
            <a:off x="4480560" y="5029200"/>
            <a:ext cx="3227832" cy="0"/>
          </a:xfrm>
          <a:prstGeom prst="line">
            <a:avLst/>
          </a:prstGeom>
          <a:noFill/>
          <a:ln w="12700">
            <a:solidFill>
              <a:srgbClr val="C6962E"/>
            </a:solidFill>
            <a:prstDash val="solid"/>
          </a:ln>
        </p:spPr>
      </p:sp>
      <p:sp>
        <p:nvSpPr>
          <p:cNvPr id="12" name="Text 9"/>
          <p:cNvSpPr/>
          <p:nvPr/>
        </p:nvSpPr>
        <p:spPr>
          <a:xfrm>
            <a:off x="0" y="5257800"/>
            <a:ext cx="12188952" cy="1188720"/>
          </a:xfrm>
          <a:prstGeom prst="rect">
            <a:avLst/>
          </a:prstGeom>
          <a:noFill/>
          <a:ln/>
        </p:spPr>
        <p:txBody>
          <a:bodyPr wrap="square" lIns="0" tIns="0" rIns="0" bIns="0" rtlCol="0" anchor="ctr"/>
          <a:lstStyle/>
          <a:p>
            <a:pPr algn="ctr" indent="0" marL="0">
              <a:buNone/>
            </a:pPr>
            <a:r>
              <a:rPr lang="en-US" sz="2800" b="1" i="1" dirty="0">
                <a:solidFill>
                  <a:srgbClr val="C6962E"/>
                </a:solidFill>
                <a:latin typeface="Cormorant Garamond" pitchFamily="34" charset="0"/>
                <a:ea typeface="Cormorant Garamond" pitchFamily="34" charset="-122"/>
                <a:cs typeface="Cormorant Garamond" pitchFamily="34" charset="-120"/>
              </a:rPr>
              <a:t>“Jo ye guarantee de —</a:t>
            </a:r>
            <a:endParaRPr lang="en-US" sz="2800" dirty="0"/>
          </a:p>
          <a:p>
            <a:pPr algn="ctr" indent="0" marL="0">
              <a:buNone/>
            </a:pPr>
            <a:r>
              <a:rPr lang="en-US" sz="2800" b="1" i="1" dirty="0">
                <a:solidFill>
                  <a:srgbClr val="C6962E"/>
                </a:solidFill>
                <a:latin typeface="Cormorant Garamond" pitchFamily="34" charset="0"/>
                <a:ea typeface="Cormorant Garamond" pitchFamily="34" charset="-122"/>
                <a:cs typeface="Cormorant Garamond" pitchFamily="34" charset="-120"/>
              </a:rPr>
              <a:t>wahan se uth jaiye.”</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38</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9 · DECISION</a:t>
            </a:r>
            <a:endParaRPr lang="en-US" sz="900" dirty="0"/>
          </a:p>
        </p:txBody>
      </p:sp>
      <p:sp>
        <p:nvSpPr>
          <p:cNvPr id="5" name="Text 2"/>
          <p:cNvSpPr/>
          <p:nvPr/>
        </p:nvSpPr>
        <p:spPr>
          <a:xfrm>
            <a:off x="548640" y="384048"/>
            <a:ext cx="8686800" cy="777240"/>
          </a:xfrm>
          <a:prstGeom prst="rect">
            <a:avLst/>
          </a:prstGeom>
          <a:noFill/>
          <a:ln/>
        </p:spPr>
        <p:txBody>
          <a:bodyPr wrap="square" lIns="0" tIns="0" rIns="0" bIns="0" rtlCol="0" anchor="ctr"/>
          <a:lstStyle/>
          <a:p>
            <a:pPr indent="0" marL="0">
              <a:buNone/>
            </a:pPr>
            <a:r>
              <a:rPr lang="en-US" sz="3400" b="1" dirty="0">
                <a:solidFill>
                  <a:srgbClr val="0B1A35"/>
                </a:solidFill>
                <a:latin typeface="Cormorant Garamond" pitchFamily="34" charset="0"/>
                <a:ea typeface="Cormorant Garamond" pitchFamily="34" charset="-122"/>
                <a:cs typeface="Cormorant Garamond" pitchFamily="34" charset="-120"/>
              </a:rPr>
              <a:t>Aaj Raat Ka Flowchart</a:t>
            </a:r>
            <a:endParaRPr lang="en-US" sz="34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Ghar par, 15 minute, pen-paper ke saath</a:t>
            </a:r>
            <a:endParaRPr lang="en-US" sz="1300" dirty="0"/>
          </a:p>
        </p:txBody>
      </p:sp>
      <p:sp>
        <p:nvSpPr>
          <p:cNvPr id="7" name="Shape 4"/>
          <p:cNvSpPr/>
          <p:nvPr/>
        </p:nvSpPr>
        <p:spPr>
          <a:xfrm>
            <a:off x="777240" y="1719072"/>
            <a:ext cx="502920" cy="502920"/>
          </a:xfrm>
          <a:prstGeom prst="ellipse">
            <a:avLst/>
          </a:prstGeom>
          <a:solidFill>
            <a:srgbClr val="0B1A35"/>
          </a:solidFill>
          <a:ln/>
        </p:spPr>
      </p:sp>
      <p:sp>
        <p:nvSpPr>
          <p:cNvPr id="8" name="Text 5"/>
          <p:cNvSpPr/>
          <p:nvPr/>
        </p:nvSpPr>
        <p:spPr>
          <a:xfrm>
            <a:off x="777240" y="1719072"/>
            <a:ext cx="502920" cy="502920"/>
          </a:xfrm>
          <a:prstGeom prst="rect">
            <a:avLst/>
          </a:prstGeom>
          <a:noFill/>
          <a:ln/>
        </p:spPr>
        <p:txBody>
          <a:bodyPr wrap="square" lIns="0" tIns="0" rIns="0" bIns="0" rtlCol="0" anchor="ctr"/>
          <a:lstStyle/>
          <a:p>
            <a:pPr algn="ctr" indent="0" marL="0">
              <a:buNone/>
            </a:pPr>
            <a:r>
              <a:rPr lang="en-US" sz="1700" b="1" dirty="0">
                <a:solidFill>
                  <a:srgbClr val="E0B85C"/>
                </a:solidFill>
                <a:latin typeface="Cormorant Garamond" pitchFamily="34" charset="0"/>
                <a:ea typeface="Cormorant Garamond" pitchFamily="34" charset="-122"/>
                <a:cs typeface="Cormorant Garamond" pitchFamily="34" charset="-120"/>
              </a:rPr>
              <a:t>1</a:t>
            </a:r>
            <a:endParaRPr lang="en-US" sz="1700" dirty="0"/>
          </a:p>
        </p:txBody>
      </p:sp>
      <p:sp>
        <p:nvSpPr>
          <p:cNvPr id="9" name="Shape 6"/>
          <p:cNvSpPr/>
          <p:nvPr/>
        </p:nvSpPr>
        <p:spPr>
          <a:xfrm>
            <a:off x="1508760" y="1645920"/>
            <a:ext cx="6309360" cy="658368"/>
          </a:xfrm>
          <a:prstGeom prst="roundRect">
            <a:avLst>
              <a:gd name="adj" fmla="val 12500"/>
            </a:avLst>
          </a:prstGeom>
          <a:solidFill>
            <a:srgbClr val="F2F4F8"/>
          </a:solidFill>
          <a:ln/>
        </p:spPr>
      </p:sp>
      <p:sp>
        <p:nvSpPr>
          <p:cNvPr id="10" name="Text 7"/>
          <p:cNvSpPr/>
          <p:nvPr/>
        </p:nvSpPr>
        <p:spPr>
          <a:xfrm>
            <a:off x="1783080" y="1645920"/>
            <a:ext cx="5852160" cy="658368"/>
          </a:xfrm>
          <a:prstGeom prst="rect">
            <a:avLst/>
          </a:prstGeom>
          <a:noFill/>
          <a:ln/>
        </p:spPr>
        <p:txBody>
          <a:bodyPr wrap="square" lIns="0" tIns="0" rIns="0" bIns="0" rtlCol="0" anchor="ctr"/>
          <a:lstStyle/>
          <a:p>
            <a:pPr indent="0" marL="0">
              <a:buNone/>
            </a:pPr>
            <a:r>
              <a:rPr lang="en-US" sz="1250" dirty="0">
                <a:solidFill>
                  <a:srgbClr val="0B1A35"/>
                </a:solidFill>
                <a:latin typeface="Manrope" pitchFamily="34" charset="0"/>
                <a:ea typeface="Manrope" pitchFamily="34" charset="-122"/>
                <a:cs typeface="Manrope" pitchFamily="34" charset="-120"/>
              </a:rPr>
              <a:t>Rank + category → govt closing tables (Slides 8–9)</a:t>
            </a:r>
            <a:endParaRPr lang="en-US" sz="1250" dirty="0"/>
          </a:p>
        </p:txBody>
      </p:sp>
      <p:sp>
        <p:nvSpPr>
          <p:cNvPr id="11" name="Shape 8"/>
          <p:cNvSpPr/>
          <p:nvPr/>
        </p:nvSpPr>
        <p:spPr>
          <a:xfrm>
            <a:off x="1024128" y="2249424"/>
            <a:ext cx="0" cy="310896"/>
          </a:xfrm>
          <a:prstGeom prst="line">
            <a:avLst/>
          </a:prstGeom>
          <a:noFill/>
          <a:ln w="19050">
            <a:solidFill>
              <a:srgbClr val="C6962E"/>
            </a:solidFill>
            <a:prstDash val="solid"/>
            <a:tailEnd type="triangle"/>
          </a:ln>
        </p:spPr>
      </p:sp>
      <p:sp>
        <p:nvSpPr>
          <p:cNvPr id="12" name="Shape 9"/>
          <p:cNvSpPr/>
          <p:nvPr/>
        </p:nvSpPr>
        <p:spPr>
          <a:xfrm>
            <a:off x="777240" y="2615184"/>
            <a:ext cx="502920" cy="502920"/>
          </a:xfrm>
          <a:prstGeom prst="ellipse">
            <a:avLst/>
          </a:prstGeom>
          <a:solidFill>
            <a:srgbClr val="0B1A35"/>
          </a:solidFill>
          <a:ln/>
        </p:spPr>
      </p:sp>
      <p:sp>
        <p:nvSpPr>
          <p:cNvPr id="13" name="Text 10"/>
          <p:cNvSpPr/>
          <p:nvPr/>
        </p:nvSpPr>
        <p:spPr>
          <a:xfrm>
            <a:off x="777240" y="2615184"/>
            <a:ext cx="502920" cy="502920"/>
          </a:xfrm>
          <a:prstGeom prst="rect">
            <a:avLst/>
          </a:prstGeom>
          <a:noFill/>
          <a:ln/>
        </p:spPr>
        <p:txBody>
          <a:bodyPr wrap="square" lIns="0" tIns="0" rIns="0" bIns="0" rtlCol="0" anchor="ctr"/>
          <a:lstStyle/>
          <a:p>
            <a:pPr algn="ctr" indent="0" marL="0">
              <a:buNone/>
            </a:pPr>
            <a:r>
              <a:rPr lang="en-US" sz="1700" b="1" dirty="0">
                <a:solidFill>
                  <a:srgbClr val="E0B85C"/>
                </a:solidFill>
                <a:latin typeface="Cormorant Garamond" pitchFamily="34" charset="0"/>
                <a:ea typeface="Cormorant Garamond" pitchFamily="34" charset="-122"/>
                <a:cs typeface="Cormorant Garamond" pitchFamily="34" charset="-120"/>
              </a:rPr>
              <a:t>2</a:t>
            </a:r>
            <a:endParaRPr lang="en-US" sz="1700" dirty="0"/>
          </a:p>
        </p:txBody>
      </p:sp>
      <p:sp>
        <p:nvSpPr>
          <p:cNvPr id="14" name="Shape 11"/>
          <p:cNvSpPr/>
          <p:nvPr/>
        </p:nvSpPr>
        <p:spPr>
          <a:xfrm>
            <a:off x="1508760" y="2542032"/>
            <a:ext cx="6309360" cy="658368"/>
          </a:xfrm>
          <a:prstGeom prst="roundRect">
            <a:avLst>
              <a:gd name="adj" fmla="val 12500"/>
            </a:avLst>
          </a:prstGeom>
          <a:solidFill>
            <a:srgbClr val="F2F4F8"/>
          </a:solidFill>
          <a:ln/>
        </p:spPr>
      </p:sp>
      <p:sp>
        <p:nvSpPr>
          <p:cNvPr id="15" name="Text 12"/>
          <p:cNvSpPr/>
          <p:nvPr/>
        </p:nvSpPr>
        <p:spPr>
          <a:xfrm>
            <a:off x="1783080" y="2542032"/>
            <a:ext cx="5852160" cy="658368"/>
          </a:xfrm>
          <a:prstGeom prst="rect">
            <a:avLst/>
          </a:prstGeom>
          <a:noFill/>
          <a:ln/>
        </p:spPr>
        <p:txBody>
          <a:bodyPr wrap="square" lIns="0" tIns="0" rIns="0" bIns="0" rtlCol="0" anchor="ctr"/>
          <a:lstStyle/>
          <a:p>
            <a:pPr indent="0" marL="0">
              <a:buNone/>
            </a:pPr>
            <a:r>
              <a:rPr lang="en-US" sz="1250" dirty="0">
                <a:solidFill>
                  <a:srgbClr val="0B1A35"/>
                </a:solidFill>
                <a:latin typeface="Manrope" pitchFamily="34" charset="0"/>
                <a:ea typeface="Manrope" pitchFamily="34" charset="-122"/>
                <a:cs typeface="Manrope" pitchFamily="34" charset="-120"/>
              </a:rPr>
              <a:t>Govt possible?</a:t>
            </a:r>
            <a:endParaRPr lang="en-US" sz="1250" dirty="0"/>
          </a:p>
        </p:txBody>
      </p:sp>
      <p:sp>
        <p:nvSpPr>
          <p:cNvPr id="16" name="Shape 13"/>
          <p:cNvSpPr/>
          <p:nvPr/>
        </p:nvSpPr>
        <p:spPr>
          <a:xfrm>
            <a:off x="1024128" y="3145536"/>
            <a:ext cx="0" cy="310896"/>
          </a:xfrm>
          <a:prstGeom prst="line">
            <a:avLst/>
          </a:prstGeom>
          <a:noFill/>
          <a:ln w="19050">
            <a:solidFill>
              <a:srgbClr val="C6962E"/>
            </a:solidFill>
            <a:prstDash val="solid"/>
            <a:tailEnd type="triangle"/>
          </a:ln>
        </p:spPr>
      </p:sp>
      <p:sp>
        <p:nvSpPr>
          <p:cNvPr id="17" name="Shape 14"/>
          <p:cNvSpPr/>
          <p:nvPr/>
        </p:nvSpPr>
        <p:spPr>
          <a:xfrm>
            <a:off x="777240" y="3511296"/>
            <a:ext cx="502920" cy="502920"/>
          </a:xfrm>
          <a:prstGeom prst="ellipse">
            <a:avLst/>
          </a:prstGeom>
          <a:solidFill>
            <a:srgbClr val="0B1A35"/>
          </a:solidFill>
          <a:ln/>
        </p:spPr>
      </p:sp>
      <p:sp>
        <p:nvSpPr>
          <p:cNvPr id="18" name="Text 15"/>
          <p:cNvSpPr/>
          <p:nvPr/>
        </p:nvSpPr>
        <p:spPr>
          <a:xfrm>
            <a:off x="777240" y="3511296"/>
            <a:ext cx="502920" cy="502920"/>
          </a:xfrm>
          <a:prstGeom prst="rect">
            <a:avLst/>
          </a:prstGeom>
          <a:noFill/>
          <a:ln/>
        </p:spPr>
        <p:txBody>
          <a:bodyPr wrap="square" lIns="0" tIns="0" rIns="0" bIns="0" rtlCol="0" anchor="ctr"/>
          <a:lstStyle/>
          <a:p>
            <a:pPr algn="ctr" indent="0" marL="0">
              <a:buNone/>
            </a:pPr>
            <a:r>
              <a:rPr lang="en-US" sz="1700" b="1" dirty="0">
                <a:solidFill>
                  <a:srgbClr val="E0B85C"/>
                </a:solidFill>
                <a:latin typeface="Cormorant Garamond" pitchFamily="34" charset="0"/>
                <a:ea typeface="Cormorant Garamond" pitchFamily="34" charset="-122"/>
                <a:cs typeface="Cormorant Garamond" pitchFamily="34" charset="-120"/>
              </a:rPr>
              <a:t>3</a:t>
            </a:r>
            <a:endParaRPr lang="en-US" sz="1700" dirty="0"/>
          </a:p>
        </p:txBody>
      </p:sp>
      <p:sp>
        <p:nvSpPr>
          <p:cNvPr id="19" name="Shape 16"/>
          <p:cNvSpPr/>
          <p:nvPr/>
        </p:nvSpPr>
        <p:spPr>
          <a:xfrm>
            <a:off x="1508760" y="3438144"/>
            <a:ext cx="6309360" cy="658368"/>
          </a:xfrm>
          <a:prstGeom prst="roundRect">
            <a:avLst>
              <a:gd name="adj" fmla="val 12500"/>
            </a:avLst>
          </a:prstGeom>
          <a:solidFill>
            <a:srgbClr val="F2F4F8"/>
          </a:solidFill>
          <a:ln/>
        </p:spPr>
      </p:sp>
      <p:sp>
        <p:nvSpPr>
          <p:cNvPr id="20" name="Text 17"/>
          <p:cNvSpPr/>
          <p:nvPr/>
        </p:nvSpPr>
        <p:spPr>
          <a:xfrm>
            <a:off x="1783080" y="3438144"/>
            <a:ext cx="5852160" cy="658368"/>
          </a:xfrm>
          <a:prstGeom prst="rect">
            <a:avLst/>
          </a:prstGeom>
          <a:noFill/>
          <a:ln/>
        </p:spPr>
        <p:txBody>
          <a:bodyPr wrap="square" lIns="0" tIns="0" rIns="0" bIns="0" rtlCol="0" anchor="ctr"/>
          <a:lstStyle/>
          <a:p>
            <a:pPr indent="0" marL="0">
              <a:buNone/>
            </a:pPr>
            <a:r>
              <a:rPr lang="en-US" sz="1250" dirty="0">
                <a:solidFill>
                  <a:srgbClr val="0B1A35"/>
                </a:solidFill>
                <a:latin typeface="Manrope" pitchFamily="34" charset="0"/>
                <a:ea typeface="Manrope" pitchFamily="34" charset="-122"/>
                <a:cs typeface="Manrope" pitchFamily="34" charset="-120"/>
              </a:rPr>
              <a:t>Private / deemed TOTAL outflow → parvadta hai?</a:t>
            </a:r>
            <a:endParaRPr lang="en-US" sz="1250" dirty="0"/>
          </a:p>
        </p:txBody>
      </p:sp>
      <p:sp>
        <p:nvSpPr>
          <p:cNvPr id="21" name="Shape 18"/>
          <p:cNvSpPr/>
          <p:nvPr/>
        </p:nvSpPr>
        <p:spPr>
          <a:xfrm>
            <a:off x="1024128" y="4041648"/>
            <a:ext cx="0" cy="310896"/>
          </a:xfrm>
          <a:prstGeom prst="line">
            <a:avLst/>
          </a:prstGeom>
          <a:noFill/>
          <a:ln w="19050">
            <a:solidFill>
              <a:srgbClr val="C6962E"/>
            </a:solidFill>
            <a:prstDash val="solid"/>
            <a:tailEnd type="triangle"/>
          </a:ln>
        </p:spPr>
      </p:sp>
      <p:sp>
        <p:nvSpPr>
          <p:cNvPr id="22" name="Shape 19"/>
          <p:cNvSpPr/>
          <p:nvPr/>
        </p:nvSpPr>
        <p:spPr>
          <a:xfrm>
            <a:off x="777240" y="4407408"/>
            <a:ext cx="502920" cy="502920"/>
          </a:xfrm>
          <a:prstGeom prst="ellipse">
            <a:avLst/>
          </a:prstGeom>
          <a:solidFill>
            <a:srgbClr val="0B1A35"/>
          </a:solidFill>
          <a:ln/>
        </p:spPr>
      </p:sp>
      <p:sp>
        <p:nvSpPr>
          <p:cNvPr id="23" name="Text 20"/>
          <p:cNvSpPr/>
          <p:nvPr/>
        </p:nvSpPr>
        <p:spPr>
          <a:xfrm>
            <a:off x="777240" y="4407408"/>
            <a:ext cx="502920" cy="502920"/>
          </a:xfrm>
          <a:prstGeom prst="rect">
            <a:avLst/>
          </a:prstGeom>
          <a:noFill/>
          <a:ln/>
        </p:spPr>
        <p:txBody>
          <a:bodyPr wrap="square" lIns="0" tIns="0" rIns="0" bIns="0" rtlCol="0" anchor="ctr"/>
          <a:lstStyle/>
          <a:p>
            <a:pPr algn="ctr" indent="0" marL="0">
              <a:buNone/>
            </a:pPr>
            <a:r>
              <a:rPr lang="en-US" sz="1700" b="1" dirty="0">
                <a:solidFill>
                  <a:srgbClr val="E0B85C"/>
                </a:solidFill>
                <a:latin typeface="Cormorant Garamond" pitchFamily="34" charset="0"/>
                <a:ea typeface="Cormorant Garamond" pitchFamily="34" charset="-122"/>
                <a:cs typeface="Cormorant Garamond" pitchFamily="34" charset="-120"/>
              </a:rPr>
              <a:t>4</a:t>
            </a:r>
            <a:endParaRPr lang="en-US" sz="1700" dirty="0"/>
          </a:p>
        </p:txBody>
      </p:sp>
      <p:sp>
        <p:nvSpPr>
          <p:cNvPr id="24" name="Shape 21"/>
          <p:cNvSpPr/>
          <p:nvPr/>
        </p:nvSpPr>
        <p:spPr>
          <a:xfrm>
            <a:off x="1508760" y="4334256"/>
            <a:ext cx="6309360" cy="658368"/>
          </a:xfrm>
          <a:prstGeom prst="roundRect">
            <a:avLst>
              <a:gd name="adj" fmla="val 12500"/>
            </a:avLst>
          </a:prstGeom>
          <a:solidFill>
            <a:srgbClr val="F2F4F8"/>
          </a:solidFill>
          <a:ln/>
        </p:spPr>
      </p:sp>
      <p:sp>
        <p:nvSpPr>
          <p:cNvPr id="25" name="Text 22"/>
          <p:cNvSpPr/>
          <p:nvPr/>
        </p:nvSpPr>
        <p:spPr>
          <a:xfrm>
            <a:off x="1783080" y="4334256"/>
            <a:ext cx="5852160" cy="658368"/>
          </a:xfrm>
          <a:prstGeom prst="rect">
            <a:avLst/>
          </a:prstGeom>
          <a:noFill/>
          <a:ln/>
        </p:spPr>
        <p:txBody>
          <a:bodyPr wrap="square" lIns="0" tIns="0" rIns="0" bIns="0" rtlCol="0" anchor="ctr"/>
          <a:lstStyle/>
          <a:p>
            <a:pPr indent="0" marL="0">
              <a:buNone/>
            </a:pPr>
            <a:r>
              <a:rPr lang="en-US" sz="1250" dirty="0">
                <a:solidFill>
                  <a:srgbClr val="0B1A35"/>
                </a:solidFill>
                <a:latin typeface="Manrope" pitchFamily="34" charset="0"/>
                <a:ea typeface="Manrope" pitchFamily="34" charset="-122"/>
                <a:cs typeface="Manrope" pitchFamily="34" charset="-120"/>
              </a:rPr>
              <a:t>India genuinely closed → country fit (Slide 28)</a:t>
            </a:r>
            <a:endParaRPr lang="en-US" sz="1250" dirty="0"/>
          </a:p>
        </p:txBody>
      </p:sp>
      <p:sp>
        <p:nvSpPr>
          <p:cNvPr id="26" name="Shape 23"/>
          <p:cNvSpPr/>
          <p:nvPr/>
        </p:nvSpPr>
        <p:spPr>
          <a:xfrm>
            <a:off x="1024128" y="4937760"/>
            <a:ext cx="0" cy="310896"/>
          </a:xfrm>
          <a:prstGeom prst="line">
            <a:avLst/>
          </a:prstGeom>
          <a:noFill/>
          <a:ln w="19050">
            <a:solidFill>
              <a:srgbClr val="C6962E"/>
            </a:solidFill>
            <a:prstDash val="solid"/>
            <a:tailEnd type="triangle"/>
          </a:ln>
        </p:spPr>
      </p:sp>
      <p:sp>
        <p:nvSpPr>
          <p:cNvPr id="27" name="Shape 24"/>
          <p:cNvSpPr/>
          <p:nvPr/>
        </p:nvSpPr>
        <p:spPr>
          <a:xfrm>
            <a:off x="777240" y="5303520"/>
            <a:ext cx="502920" cy="502920"/>
          </a:xfrm>
          <a:prstGeom prst="ellipse">
            <a:avLst/>
          </a:prstGeom>
          <a:solidFill>
            <a:srgbClr val="0B1A35"/>
          </a:solidFill>
          <a:ln/>
        </p:spPr>
      </p:sp>
      <p:sp>
        <p:nvSpPr>
          <p:cNvPr id="28" name="Text 25"/>
          <p:cNvSpPr/>
          <p:nvPr/>
        </p:nvSpPr>
        <p:spPr>
          <a:xfrm>
            <a:off x="777240" y="5303520"/>
            <a:ext cx="502920" cy="502920"/>
          </a:xfrm>
          <a:prstGeom prst="rect">
            <a:avLst/>
          </a:prstGeom>
          <a:noFill/>
          <a:ln/>
        </p:spPr>
        <p:txBody>
          <a:bodyPr wrap="square" lIns="0" tIns="0" rIns="0" bIns="0" rtlCol="0" anchor="ctr"/>
          <a:lstStyle/>
          <a:p>
            <a:pPr algn="ctr" indent="0" marL="0">
              <a:buNone/>
            </a:pPr>
            <a:r>
              <a:rPr lang="en-US" sz="1700" b="1" dirty="0">
                <a:solidFill>
                  <a:srgbClr val="E0B85C"/>
                </a:solidFill>
                <a:latin typeface="Cormorant Garamond" pitchFamily="34" charset="0"/>
                <a:ea typeface="Cormorant Garamond" pitchFamily="34" charset="-122"/>
                <a:cs typeface="Cormorant Garamond" pitchFamily="34" charset="-120"/>
              </a:rPr>
              <a:t>5</a:t>
            </a:r>
            <a:endParaRPr lang="en-US" sz="1700" dirty="0"/>
          </a:p>
        </p:txBody>
      </p:sp>
      <p:sp>
        <p:nvSpPr>
          <p:cNvPr id="29" name="Shape 26"/>
          <p:cNvSpPr/>
          <p:nvPr/>
        </p:nvSpPr>
        <p:spPr>
          <a:xfrm>
            <a:off x="1508760" y="5230368"/>
            <a:ext cx="6309360" cy="658368"/>
          </a:xfrm>
          <a:prstGeom prst="roundRect">
            <a:avLst>
              <a:gd name="adj" fmla="val 12500"/>
            </a:avLst>
          </a:prstGeom>
          <a:solidFill>
            <a:srgbClr val="F2F4F8"/>
          </a:solidFill>
          <a:ln/>
        </p:spPr>
      </p:sp>
      <p:sp>
        <p:nvSpPr>
          <p:cNvPr id="30" name="Text 27"/>
          <p:cNvSpPr/>
          <p:nvPr/>
        </p:nvSpPr>
        <p:spPr>
          <a:xfrm>
            <a:off x="1783080" y="5230368"/>
            <a:ext cx="5852160" cy="658368"/>
          </a:xfrm>
          <a:prstGeom prst="rect">
            <a:avLst/>
          </a:prstGeom>
          <a:noFill/>
          <a:ln/>
        </p:spPr>
        <p:txBody>
          <a:bodyPr wrap="square" lIns="0" tIns="0" rIns="0" bIns="0" rtlCol="0" anchor="ctr"/>
          <a:lstStyle/>
          <a:p>
            <a:pPr indent="0" marL="0">
              <a:buNone/>
            </a:pPr>
            <a:r>
              <a:rPr lang="en-US" sz="1250" dirty="0">
                <a:solidFill>
                  <a:srgbClr val="0B1A35"/>
                </a:solidFill>
                <a:latin typeface="Manrope" pitchFamily="34" charset="0"/>
                <a:ea typeface="Manrope" pitchFamily="34" charset="-122"/>
                <a:cs typeface="Manrope" pitchFamily="34" charset="-120"/>
              </a:rPr>
              <a:t>Country chosen → who provides the on-ground service model?</a:t>
            </a:r>
            <a:endParaRPr lang="en-US" sz="1250" dirty="0"/>
          </a:p>
        </p:txBody>
      </p:sp>
      <p:sp>
        <p:nvSpPr>
          <p:cNvPr id="31" name="Shape 28"/>
          <p:cNvSpPr/>
          <p:nvPr/>
        </p:nvSpPr>
        <p:spPr>
          <a:xfrm>
            <a:off x="7818120" y="2852928"/>
            <a:ext cx="685800" cy="0"/>
          </a:xfrm>
          <a:prstGeom prst="line">
            <a:avLst/>
          </a:prstGeom>
          <a:noFill/>
          <a:ln w="19050">
            <a:solidFill>
              <a:srgbClr val="C6962E"/>
            </a:solidFill>
            <a:prstDash val="solid"/>
            <a:tailEnd type="triangle"/>
          </a:ln>
        </p:spPr>
      </p:sp>
      <p:sp>
        <p:nvSpPr>
          <p:cNvPr id="32" name="Shape 29"/>
          <p:cNvSpPr/>
          <p:nvPr/>
        </p:nvSpPr>
        <p:spPr>
          <a:xfrm>
            <a:off x="8595360" y="2331720"/>
            <a:ext cx="2971800" cy="1234440"/>
          </a:xfrm>
          <a:prstGeom prst="roundRect">
            <a:avLst>
              <a:gd name="adj" fmla="val 7407"/>
            </a:avLst>
          </a:prstGeom>
          <a:solidFill>
            <a:srgbClr val="C6962E"/>
          </a:solidFill>
          <a:ln/>
        </p:spPr>
      </p:sp>
      <p:sp>
        <p:nvSpPr>
          <p:cNvPr id="33" name="Text 30"/>
          <p:cNvSpPr/>
          <p:nvPr/>
        </p:nvSpPr>
        <p:spPr>
          <a:xfrm>
            <a:off x="8778240" y="2331720"/>
            <a:ext cx="2651760" cy="1234440"/>
          </a:xfrm>
          <a:prstGeom prst="rect">
            <a:avLst/>
          </a:prstGeom>
          <a:noFill/>
          <a:ln/>
        </p:spPr>
        <p:txBody>
          <a:bodyPr wrap="square" lIns="0" tIns="0" rIns="0" bIns="0" rtlCol="0" anchor="ctr"/>
          <a:lstStyle/>
          <a:p>
            <a:pPr algn="ctr" indent="0" marL="0">
              <a:buNone/>
            </a:pPr>
            <a:r>
              <a:rPr lang="en-US" sz="1300" b="1" dirty="0">
                <a:solidFill>
                  <a:srgbClr val="0B1A35"/>
                </a:solidFill>
                <a:latin typeface="Manrope" pitchFamily="34" charset="0"/>
                <a:ea typeface="Manrope" pitchFamily="34" charset="-122"/>
                <a:cs typeface="Manrope" pitchFamily="34" charset="-120"/>
              </a:rPr>
              <a:t>HAAN → TAKE IT.</a:t>
            </a:r>
            <a:endParaRPr lang="en-US" sz="1300" dirty="0"/>
          </a:p>
          <a:p>
            <a:pPr algn="ctr" indent="0" marL="0">
              <a:buNone/>
            </a:pPr>
            <a:r>
              <a:rPr lang="en-US" sz="1300" b="1" dirty="0">
                <a:solidFill>
                  <a:srgbClr val="0B1A35"/>
                </a:solidFill>
                <a:latin typeface="Manrope" pitchFamily="34" charset="0"/>
                <a:ea typeface="Manrope" pitchFamily="34" charset="-122"/>
                <a:cs typeface="Manrope" pitchFamily="34" charset="-120"/>
              </a:rPr>
              <a:t>Flowchart phaad dijiye. Done.</a:t>
            </a:r>
            <a:endParaRPr lang="en-US" sz="1300" dirty="0"/>
          </a:p>
        </p:txBody>
      </p:sp>
      <p:sp>
        <p:nvSpPr>
          <p:cNvPr id="34" name="Text 31"/>
          <p:cNvSpPr/>
          <p:nvPr/>
        </p:nvSpPr>
        <p:spPr>
          <a:xfrm>
            <a:off x="8595360" y="3749040"/>
            <a:ext cx="3017520" cy="640080"/>
          </a:xfrm>
          <a:prstGeom prst="rect">
            <a:avLst/>
          </a:prstGeom>
          <a:noFill/>
          <a:ln/>
        </p:spPr>
        <p:txBody>
          <a:bodyPr wrap="square" lIns="0" tIns="0" rIns="0" bIns="0" rtlCol="0" anchor="ctr"/>
          <a:lstStyle/>
          <a:p>
            <a:pPr indent="0" marL="0">
              <a:buNone/>
            </a:pPr>
            <a:r>
              <a:rPr lang="en-US" sz="1050" i="1" dirty="0">
                <a:solidFill>
                  <a:srgbClr val="5A6B85"/>
                </a:solidFill>
                <a:latin typeface="Manrope" pitchFamily="34" charset="0"/>
                <a:ea typeface="Manrope" pitchFamily="34" charset="-122"/>
                <a:cs typeface="Manrope" pitchFamily="34" charset="-120"/>
              </a:rPr>
              <a:t>The happiest ending on this slide is the gold box.</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AAB4C4"/>
                </a:solidFill>
                <a:latin typeface="Manrope" pitchFamily="34" charset="0"/>
                <a:ea typeface="Manrope" pitchFamily="34" charset="-122"/>
                <a:cs typeface="Manrope" pitchFamily="34" charset="-120"/>
              </a:rPr>
              <a:t>39</a:t>
            </a:r>
            <a:endParaRPr lang="en-US" sz="800" dirty="0"/>
          </a:p>
        </p:txBody>
      </p:sp>
      <p:sp>
        <p:nvSpPr>
          <p:cNvPr id="4"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C6962E"/>
                </a:solidFill>
                <a:latin typeface="Manrope" pitchFamily="34" charset="0"/>
                <a:ea typeface="Manrope" pitchFamily="34" charset="-122"/>
                <a:cs typeface="Manrope" pitchFamily="34" charset="-120"/>
              </a:rPr>
              <a:t>ACT 9 · DECISION</a:t>
            </a:r>
            <a:endParaRPr lang="en-US" sz="900" dirty="0"/>
          </a:p>
        </p:txBody>
      </p:sp>
      <p:sp>
        <p:nvSpPr>
          <p:cNvPr id="5" name="Text 2"/>
          <p:cNvSpPr/>
          <p:nvPr/>
        </p:nvSpPr>
        <p:spPr>
          <a:xfrm>
            <a:off x="548640" y="384048"/>
            <a:ext cx="9326880" cy="777240"/>
          </a:xfrm>
          <a:prstGeom prst="rect">
            <a:avLst/>
          </a:prstGeom>
          <a:noFill/>
          <a:ln/>
        </p:spPr>
        <p:txBody>
          <a:bodyPr wrap="square" lIns="0" tIns="0" rIns="0" bIns="0" rtlCol="0" anchor="ctr"/>
          <a:lstStyle/>
          <a:p>
            <a:pPr indent="0" marL="0">
              <a:buNone/>
            </a:pPr>
            <a:r>
              <a:rPr lang="en-US" sz="2900" b="1" dirty="0">
                <a:solidFill>
                  <a:srgbClr val="0B1A35"/>
                </a:solidFill>
                <a:latin typeface="Cormorant Garamond" pitchFamily="34" charset="0"/>
                <a:ea typeface="Cormorant Garamond" pitchFamily="34" charset="-122"/>
                <a:cs typeface="Cormorant Garamond" pitchFamily="34" charset="-120"/>
              </a:rPr>
              <a:t>Free Counselling &amp; Hum Yahan Hain</a:t>
            </a:r>
            <a:endParaRPr lang="en-US" sz="2900" dirty="0"/>
          </a:p>
        </p:txBody>
      </p:sp>
      <p:sp>
        <p:nvSpPr>
          <p:cNvPr id="6" name="Text 3"/>
          <p:cNvSpPr/>
          <p:nvPr/>
        </p:nvSpPr>
        <p:spPr>
          <a:xfrm>
            <a:off x="566928" y="1115568"/>
            <a:ext cx="9601200" cy="365760"/>
          </a:xfrm>
          <a:prstGeom prst="rect">
            <a:avLst/>
          </a:prstGeom>
          <a:noFill/>
          <a:ln/>
        </p:spPr>
        <p:txBody>
          <a:bodyPr wrap="square" lIns="0" tIns="0" rIns="0" bIns="0" rtlCol="0" anchor="ctr"/>
          <a:lstStyle/>
          <a:p>
            <a:pPr indent="0" marL="0">
              <a:buNone/>
            </a:pPr>
            <a:r>
              <a:rPr lang="en-US" sz="1300" dirty="0">
                <a:solidFill>
                  <a:srgbClr val="5A6B85"/>
                </a:solidFill>
                <a:latin typeface="Manrope" pitchFamily="34" charset="0"/>
                <a:ea typeface="Manrope" pitchFamily="34" charset="-122"/>
                <a:cs typeface="Manrope" pitchFamily="34" charset="-120"/>
              </a:rPr>
              <a:t>Kharcha: zero · Dabav: zero · Kolhapur · Chh. Sambhajinagar · Boisar · Tbilisi</a:t>
            </a:r>
            <a:endParaRPr lang="en-US" sz="1300" dirty="0"/>
          </a:p>
        </p:txBody>
      </p:sp>
      <p:sp>
        <p:nvSpPr>
          <p:cNvPr id="7" name="Text 4"/>
          <p:cNvSpPr/>
          <p:nvPr/>
        </p:nvSpPr>
        <p:spPr>
          <a:xfrm>
            <a:off x="731520" y="1645920"/>
            <a:ext cx="2743200" cy="320040"/>
          </a:xfrm>
          <a:prstGeom prst="rect">
            <a:avLst/>
          </a:prstGeom>
          <a:noFill/>
          <a:ln/>
        </p:spPr>
        <p:txBody>
          <a:bodyPr wrap="square" lIns="0" tIns="0" rIns="0" bIns="0" rtlCol="0" anchor="ctr"/>
          <a:lstStyle/>
          <a:p>
            <a:pPr indent="0" marL="0">
              <a:buNone/>
            </a:pPr>
            <a:r>
              <a:rPr lang="en-US" sz="1100" b="1" spc="200" kern="0" dirty="0">
                <a:solidFill>
                  <a:srgbClr val="C6962E"/>
                </a:solidFill>
                <a:latin typeface="Manrope" pitchFamily="34" charset="0"/>
                <a:ea typeface="Manrope" pitchFamily="34" charset="-122"/>
                <a:cs typeface="Manrope" pitchFamily="34" charset="-120"/>
              </a:rPr>
              <a:t>HOTA HAI</a:t>
            </a:r>
            <a:endParaRPr lang="en-US" sz="1100" dirty="0"/>
          </a:p>
        </p:txBody>
      </p:sp>
      <p:sp>
        <p:nvSpPr>
          <p:cNvPr id="8" name="Shape 5"/>
          <p:cNvSpPr/>
          <p:nvPr/>
        </p:nvSpPr>
        <p:spPr>
          <a:xfrm>
            <a:off x="731520" y="2057400"/>
            <a:ext cx="365760" cy="365760"/>
          </a:xfrm>
          <a:prstGeom prst="ellipse">
            <a:avLst/>
          </a:prstGeom>
          <a:solidFill>
            <a:srgbClr val="F5E6C4"/>
          </a:solidFill>
          <a:ln/>
        </p:spPr>
      </p:sp>
      <p:pic>
        <p:nvPicPr>
          <p:cNvPr id="9" name="Image 0" descr="/tmp/claude-0/-home-user/22b099b3-5195-5dc8-9cf2-1c5020dc8f38/scratchpad/deck/icons/check.png">    </p:cNvPr>
          <p:cNvPicPr>
            <a:picLocks noChangeAspect="1"/>
          </p:cNvPicPr>
          <p:nvPr/>
        </p:nvPicPr>
        <p:blipFill>
          <a:blip r:embed="rId1"/>
          <a:stretch>
            <a:fillRect/>
          </a:stretch>
        </p:blipFill>
        <p:spPr>
          <a:xfrm>
            <a:off x="826618" y="2152498"/>
            <a:ext cx="175565" cy="175565"/>
          </a:xfrm>
          <a:prstGeom prst="rect">
            <a:avLst/>
          </a:prstGeom>
        </p:spPr>
      </p:pic>
      <p:sp>
        <p:nvSpPr>
          <p:cNvPr id="10" name="Text 6"/>
          <p:cNvSpPr/>
          <p:nvPr/>
        </p:nvSpPr>
        <p:spPr>
          <a:xfrm>
            <a:off x="1234440" y="2057400"/>
            <a:ext cx="5120640" cy="36576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Rank + category + budget worksheet — together</a:t>
            </a:r>
            <a:endParaRPr lang="en-US" sz="1150" dirty="0"/>
          </a:p>
        </p:txBody>
      </p:sp>
      <p:sp>
        <p:nvSpPr>
          <p:cNvPr id="11" name="Shape 7"/>
          <p:cNvSpPr/>
          <p:nvPr/>
        </p:nvSpPr>
        <p:spPr>
          <a:xfrm>
            <a:off x="731520" y="2624328"/>
            <a:ext cx="365760" cy="365760"/>
          </a:xfrm>
          <a:prstGeom prst="ellipse">
            <a:avLst/>
          </a:prstGeom>
          <a:solidFill>
            <a:srgbClr val="F5E6C4"/>
          </a:solidFill>
          <a:ln/>
        </p:spPr>
      </p:sp>
      <p:pic>
        <p:nvPicPr>
          <p:cNvPr id="12" name="Image 1" descr="/tmp/claude-0/-home-user/22b099b3-5195-5dc8-9cf2-1c5020dc8f38/scratchpad/deck/icons/check.png">    </p:cNvPr>
          <p:cNvPicPr>
            <a:picLocks noChangeAspect="1"/>
          </p:cNvPicPr>
          <p:nvPr/>
        </p:nvPicPr>
        <p:blipFill>
          <a:blip r:embed="rId2"/>
          <a:stretch>
            <a:fillRect/>
          </a:stretch>
        </p:blipFill>
        <p:spPr>
          <a:xfrm>
            <a:off x="826618" y="2719426"/>
            <a:ext cx="175565" cy="175565"/>
          </a:xfrm>
          <a:prstGeom prst="rect">
            <a:avLst/>
          </a:prstGeom>
        </p:spPr>
      </p:pic>
      <p:sp>
        <p:nvSpPr>
          <p:cNvPr id="13" name="Text 8"/>
          <p:cNvSpPr/>
          <p:nvPr/>
        </p:nvSpPr>
        <p:spPr>
          <a:xfrm>
            <a:off x="1234440" y="2624328"/>
            <a:ext cx="5120640" cy="36576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India options FIRST, likhit mein</a:t>
            </a:r>
            <a:endParaRPr lang="en-US" sz="1150" dirty="0"/>
          </a:p>
        </p:txBody>
      </p:sp>
      <p:sp>
        <p:nvSpPr>
          <p:cNvPr id="14" name="Shape 9"/>
          <p:cNvSpPr/>
          <p:nvPr/>
        </p:nvSpPr>
        <p:spPr>
          <a:xfrm>
            <a:off x="731520" y="3191256"/>
            <a:ext cx="365760" cy="365760"/>
          </a:xfrm>
          <a:prstGeom prst="ellipse">
            <a:avLst/>
          </a:prstGeom>
          <a:solidFill>
            <a:srgbClr val="F5E6C4"/>
          </a:solidFill>
          <a:ln/>
        </p:spPr>
      </p:sp>
      <p:pic>
        <p:nvPicPr>
          <p:cNvPr id="15" name="Image 2" descr="/tmp/claude-0/-home-user/22b099b3-5195-5dc8-9cf2-1c5020dc8f38/scratchpad/deck/icons/check.png">    </p:cNvPr>
          <p:cNvPicPr>
            <a:picLocks noChangeAspect="1"/>
          </p:cNvPicPr>
          <p:nvPr/>
        </p:nvPicPr>
        <p:blipFill>
          <a:blip r:embed="rId3"/>
          <a:stretch>
            <a:fillRect/>
          </a:stretch>
        </p:blipFill>
        <p:spPr>
          <a:xfrm>
            <a:off x="826618" y="3286354"/>
            <a:ext cx="175565" cy="175565"/>
          </a:xfrm>
          <a:prstGeom prst="rect">
            <a:avLst/>
          </a:prstGeom>
        </p:spPr>
      </p:pic>
      <p:sp>
        <p:nvSpPr>
          <p:cNvPr id="16" name="Text 10"/>
          <p:cNvSpPr/>
          <p:nvPr/>
        </p:nvSpPr>
        <p:spPr>
          <a:xfrm>
            <a:off x="1234440" y="3191256"/>
            <a:ext cx="5120640" cy="365760"/>
          </a:xfrm>
          <a:prstGeom prst="rect">
            <a:avLst/>
          </a:prstGeom>
          <a:noFill/>
          <a:ln/>
        </p:spPr>
        <p:txBody>
          <a:bodyPr wrap="square" lIns="0" tIns="0" rIns="0" bIns="0" rtlCol="0" anchor="ctr"/>
          <a:lstStyle/>
          <a:p>
            <a:pPr indent="0" marL="0">
              <a:buNone/>
            </a:pPr>
            <a:r>
              <a:rPr lang="en-US" sz="1150" dirty="0">
                <a:solidFill>
                  <a:srgbClr val="22304A"/>
                </a:solidFill>
                <a:latin typeface="Manrope" pitchFamily="34" charset="0"/>
                <a:ea typeface="Manrope" pitchFamily="34" charset="-122"/>
                <a:cs typeface="Manrope" pitchFamily="34" charset="-120"/>
              </a:rPr>
              <a:t>Abroad only if India genuinely closed</a:t>
            </a:r>
            <a:endParaRPr lang="en-US" sz="1150" dirty="0"/>
          </a:p>
        </p:txBody>
      </p:sp>
      <p:sp>
        <p:nvSpPr>
          <p:cNvPr id="17" name="Text 11"/>
          <p:cNvSpPr/>
          <p:nvPr/>
        </p:nvSpPr>
        <p:spPr>
          <a:xfrm>
            <a:off x="731520" y="3977640"/>
            <a:ext cx="2743200" cy="320040"/>
          </a:xfrm>
          <a:prstGeom prst="rect">
            <a:avLst/>
          </a:prstGeom>
          <a:noFill/>
          <a:ln/>
        </p:spPr>
        <p:txBody>
          <a:bodyPr wrap="square" lIns="0" tIns="0" rIns="0" bIns="0" rtlCol="0" anchor="ctr"/>
          <a:lstStyle/>
          <a:p>
            <a:pPr indent="0" marL="0">
              <a:buNone/>
            </a:pPr>
            <a:r>
              <a:rPr lang="en-US" sz="1100" b="1" spc="200" kern="0" dirty="0">
                <a:solidFill>
                  <a:srgbClr val="5A6B85"/>
                </a:solidFill>
                <a:latin typeface="Manrope" pitchFamily="34" charset="0"/>
                <a:ea typeface="Manrope" pitchFamily="34" charset="-122"/>
                <a:cs typeface="Manrope" pitchFamily="34" charset="-120"/>
              </a:rPr>
              <a:t>NAHI HOTA</a:t>
            </a:r>
            <a:endParaRPr lang="en-US" sz="1100" dirty="0"/>
          </a:p>
        </p:txBody>
      </p:sp>
      <p:sp>
        <p:nvSpPr>
          <p:cNvPr id="18" name="Shape 12"/>
          <p:cNvSpPr/>
          <p:nvPr/>
        </p:nvSpPr>
        <p:spPr>
          <a:xfrm>
            <a:off x="731520" y="4389120"/>
            <a:ext cx="365760" cy="365760"/>
          </a:xfrm>
          <a:prstGeom prst="ellipse">
            <a:avLst/>
          </a:prstGeom>
          <a:solidFill>
            <a:srgbClr val="F2F4F8"/>
          </a:solidFill>
          <a:ln/>
        </p:spPr>
      </p:sp>
      <p:pic>
        <p:nvPicPr>
          <p:cNvPr id="19" name="Image 3" descr="/tmp/claude-0/-home-user/22b099b3-5195-5dc8-9cf2-1c5020dc8f38/scratchpad/deck/icons/times.png">    </p:cNvPr>
          <p:cNvPicPr>
            <a:picLocks noChangeAspect="1"/>
          </p:cNvPicPr>
          <p:nvPr/>
        </p:nvPicPr>
        <p:blipFill>
          <a:blip r:embed="rId4"/>
          <a:stretch>
            <a:fillRect/>
          </a:stretch>
        </p:blipFill>
        <p:spPr>
          <a:xfrm>
            <a:off x="826618" y="4484218"/>
            <a:ext cx="175565" cy="175565"/>
          </a:xfrm>
          <a:prstGeom prst="rect">
            <a:avLst/>
          </a:prstGeom>
        </p:spPr>
      </p:pic>
      <p:sp>
        <p:nvSpPr>
          <p:cNvPr id="20" name="Text 13"/>
          <p:cNvSpPr/>
          <p:nvPr/>
        </p:nvSpPr>
        <p:spPr>
          <a:xfrm>
            <a:off x="1234440" y="4389120"/>
            <a:ext cx="5120640" cy="365760"/>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Admission pressure ya “aaj hi book karo” natak</a:t>
            </a:r>
            <a:endParaRPr lang="en-US" sz="1150" dirty="0"/>
          </a:p>
        </p:txBody>
      </p:sp>
      <p:sp>
        <p:nvSpPr>
          <p:cNvPr id="21" name="Shape 14"/>
          <p:cNvSpPr/>
          <p:nvPr/>
        </p:nvSpPr>
        <p:spPr>
          <a:xfrm>
            <a:off x="731520" y="4956048"/>
            <a:ext cx="365760" cy="365760"/>
          </a:xfrm>
          <a:prstGeom prst="ellipse">
            <a:avLst/>
          </a:prstGeom>
          <a:solidFill>
            <a:srgbClr val="F2F4F8"/>
          </a:solidFill>
          <a:ln/>
        </p:spPr>
      </p:sp>
      <p:pic>
        <p:nvPicPr>
          <p:cNvPr id="22" name="Image 4" descr="/tmp/claude-0/-home-user/22b099b3-5195-5dc8-9cf2-1c5020dc8f38/scratchpad/deck/icons/times.png">    </p:cNvPr>
          <p:cNvPicPr>
            <a:picLocks noChangeAspect="1"/>
          </p:cNvPicPr>
          <p:nvPr/>
        </p:nvPicPr>
        <p:blipFill>
          <a:blip r:embed="rId5"/>
          <a:stretch>
            <a:fillRect/>
          </a:stretch>
        </p:blipFill>
        <p:spPr>
          <a:xfrm>
            <a:off x="826618" y="5051146"/>
            <a:ext cx="175565" cy="175565"/>
          </a:xfrm>
          <a:prstGeom prst="rect">
            <a:avLst/>
          </a:prstGeom>
        </p:spPr>
      </p:pic>
      <p:sp>
        <p:nvSpPr>
          <p:cNvPr id="23" name="Text 15"/>
          <p:cNvSpPr/>
          <p:nvPr/>
        </p:nvSpPr>
        <p:spPr>
          <a:xfrm>
            <a:off x="1234440" y="4956048"/>
            <a:ext cx="5120640" cy="365760"/>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Fees for counselling — it is FREE</a:t>
            </a:r>
            <a:endParaRPr lang="en-US" sz="1150" dirty="0"/>
          </a:p>
        </p:txBody>
      </p:sp>
      <p:sp>
        <p:nvSpPr>
          <p:cNvPr id="24" name="Shape 16"/>
          <p:cNvSpPr/>
          <p:nvPr/>
        </p:nvSpPr>
        <p:spPr>
          <a:xfrm>
            <a:off x="731520" y="5522976"/>
            <a:ext cx="365760" cy="365760"/>
          </a:xfrm>
          <a:prstGeom prst="ellipse">
            <a:avLst/>
          </a:prstGeom>
          <a:solidFill>
            <a:srgbClr val="F2F4F8"/>
          </a:solidFill>
          <a:ln/>
        </p:spPr>
      </p:sp>
      <p:pic>
        <p:nvPicPr>
          <p:cNvPr id="25" name="Image 5" descr="/tmp/claude-0/-home-user/22b099b3-5195-5dc8-9cf2-1c5020dc8f38/scratchpad/deck/icons/times.png">    </p:cNvPr>
          <p:cNvPicPr>
            <a:picLocks noChangeAspect="1"/>
          </p:cNvPicPr>
          <p:nvPr/>
        </p:nvPicPr>
        <p:blipFill>
          <a:blip r:embed="rId6"/>
          <a:stretch>
            <a:fillRect/>
          </a:stretch>
        </p:blipFill>
        <p:spPr>
          <a:xfrm>
            <a:off x="826618" y="5618074"/>
            <a:ext cx="175565" cy="175565"/>
          </a:xfrm>
          <a:prstGeom prst="rect">
            <a:avLst/>
          </a:prstGeom>
        </p:spPr>
      </p:pic>
      <p:sp>
        <p:nvSpPr>
          <p:cNvPr id="26" name="Text 17"/>
          <p:cNvSpPr/>
          <p:nvPr/>
        </p:nvSpPr>
        <p:spPr>
          <a:xfrm>
            <a:off x="1234440" y="5522976"/>
            <a:ext cx="5120640" cy="365760"/>
          </a:xfrm>
          <a:prstGeom prst="rect">
            <a:avLst/>
          </a:prstGeom>
          <a:noFill/>
          <a:ln/>
        </p:spPr>
        <p:txBody>
          <a:bodyPr wrap="square" lIns="0" tIns="0" rIns="0" bIns="0" rtlCol="0" anchor="ctr"/>
          <a:lstStyle/>
          <a:p>
            <a:pPr indent="0" marL="0">
              <a:buNone/>
            </a:pPr>
            <a:r>
              <a:rPr lang="en-US" sz="1150" dirty="0">
                <a:solidFill>
                  <a:srgbClr val="5A6B85"/>
                </a:solidFill>
                <a:latin typeface="Manrope" pitchFamily="34" charset="0"/>
                <a:ea typeface="Manrope" pitchFamily="34" charset="-122"/>
                <a:cs typeface="Manrope" pitchFamily="34" charset="-120"/>
              </a:rPr>
              <a:t>Follow-up pressure calls</a:t>
            </a:r>
            <a:endParaRPr lang="en-US" sz="1150" dirty="0"/>
          </a:p>
        </p:txBody>
      </p:sp>
      <p:sp>
        <p:nvSpPr>
          <p:cNvPr id="27" name="Shape 18"/>
          <p:cNvSpPr/>
          <p:nvPr/>
        </p:nvSpPr>
        <p:spPr>
          <a:xfrm>
            <a:off x="6720840" y="1645920"/>
            <a:ext cx="4919472" cy="4434840"/>
          </a:xfrm>
          <a:prstGeom prst="roundRect">
            <a:avLst>
              <a:gd name="adj" fmla="val 2474"/>
            </a:avLst>
          </a:prstGeom>
          <a:solidFill>
            <a:srgbClr val="0B1A35"/>
          </a:solidFill>
          <a:ln/>
        </p:spPr>
      </p:sp>
      <p:sp>
        <p:nvSpPr>
          <p:cNvPr id="28" name="Text 19"/>
          <p:cNvSpPr/>
          <p:nvPr/>
        </p:nvSpPr>
        <p:spPr>
          <a:xfrm>
            <a:off x="7040880" y="1874520"/>
            <a:ext cx="4297680" cy="320040"/>
          </a:xfrm>
          <a:prstGeom prst="rect">
            <a:avLst/>
          </a:prstGeom>
          <a:noFill/>
          <a:ln/>
        </p:spPr>
        <p:txBody>
          <a:bodyPr wrap="square" lIns="0" tIns="0" rIns="0" bIns="0" rtlCol="0" anchor="ctr"/>
          <a:lstStyle/>
          <a:p>
            <a:pPr indent="0" marL="0">
              <a:buNone/>
            </a:pPr>
            <a:r>
              <a:rPr lang="en-US" sz="1000" b="1" spc="200" kern="0" dirty="0">
                <a:solidFill>
                  <a:srgbClr val="E0B85C"/>
                </a:solidFill>
                <a:latin typeface="Manrope" pitchFamily="34" charset="0"/>
                <a:ea typeface="Manrope" pitchFamily="34" charset="-122"/>
                <a:cs typeface="Manrope" pitchFamily="34" charset="-120"/>
              </a:rPr>
              <a:t>SCREENSHOT LIJIYE</a:t>
            </a:r>
            <a:endParaRPr lang="en-US" sz="1000" dirty="0"/>
          </a:p>
        </p:txBody>
      </p:sp>
      <p:pic>
        <p:nvPicPr>
          <p:cNvPr id="29" name="Image 6" descr="/tmp/claude-0/-home-user/22b099b3-5195-5dc8-9cf2-1c5020dc8f38/scratchpad/deck/icons/whatsapp.png">    </p:cNvPr>
          <p:cNvPicPr>
            <a:picLocks noChangeAspect="1"/>
          </p:cNvPicPr>
          <p:nvPr/>
        </p:nvPicPr>
        <p:blipFill>
          <a:blip r:embed="rId7"/>
          <a:stretch>
            <a:fillRect/>
          </a:stretch>
        </p:blipFill>
        <p:spPr>
          <a:xfrm>
            <a:off x="7040880" y="2377440"/>
            <a:ext cx="320040" cy="320040"/>
          </a:xfrm>
          <a:prstGeom prst="rect">
            <a:avLst/>
          </a:prstGeom>
        </p:spPr>
      </p:pic>
      <p:sp>
        <p:nvSpPr>
          <p:cNvPr id="30" name="Text 20"/>
          <p:cNvSpPr/>
          <p:nvPr/>
        </p:nvSpPr>
        <p:spPr>
          <a:xfrm>
            <a:off x="7543800" y="2331720"/>
            <a:ext cx="3931920" cy="457200"/>
          </a:xfrm>
          <a:prstGeom prst="rect">
            <a:avLst/>
          </a:prstGeom>
          <a:noFill/>
          <a:ln/>
        </p:spPr>
        <p:txBody>
          <a:bodyPr wrap="square" lIns="0" tIns="0" rIns="0" bIns="0" rtlCol="0" anchor="ctr"/>
          <a:lstStyle/>
          <a:p>
            <a:pPr indent="0" marL="0">
              <a:buNone/>
            </a:pPr>
            <a:r>
              <a:rPr lang="en-US" sz="1150" dirty="0">
                <a:solidFill>
                  <a:srgbClr val="FFFFFF"/>
                </a:solidFill>
                <a:latin typeface="Manrope" pitchFamily="34" charset="0"/>
                <a:ea typeface="Manrope" pitchFamily="34" charset="-122"/>
                <a:cs typeface="Manrope" pitchFamily="34" charset="-120"/>
              </a:rPr>
              <a:t>WhatsApp  +91 74475 52878</a:t>
            </a:r>
            <a:endParaRPr lang="en-US" sz="1150" dirty="0"/>
          </a:p>
        </p:txBody>
      </p:sp>
      <p:pic>
        <p:nvPicPr>
          <p:cNvPr id="31" name="Image 7" descr="/tmp/claude-0/-home-user/22b099b3-5195-5dc8-9cf2-1c5020dc8f38/scratchpad/deck/icons/envelope.png">    </p:cNvPr>
          <p:cNvPicPr>
            <a:picLocks noChangeAspect="1"/>
          </p:cNvPicPr>
          <p:nvPr/>
        </p:nvPicPr>
        <p:blipFill>
          <a:blip r:embed="rId8"/>
          <a:stretch>
            <a:fillRect/>
          </a:stretch>
        </p:blipFill>
        <p:spPr>
          <a:xfrm>
            <a:off x="7040880" y="2999232"/>
            <a:ext cx="320040" cy="320040"/>
          </a:xfrm>
          <a:prstGeom prst="rect">
            <a:avLst/>
          </a:prstGeom>
        </p:spPr>
      </p:pic>
      <p:sp>
        <p:nvSpPr>
          <p:cNvPr id="32" name="Text 21"/>
          <p:cNvSpPr/>
          <p:nvPr/>
        </p:nvSpPr>
        <p:spPr>
          <a:xfrm>
            <a:off x="7543800" y="2953512"/>
            <a:ext cx="3931920" cy="457200"/>
          </a:xfrm>
          <a:prstGeom prst="rect">
            <a:avLst/>
          </a:prstGeom>
          <a:noFill/>
          <a:ln/>
        </p:spPr>
        <p:txBody>
          <a:bodyPr wrap="square" lIns="0" tIns="0" rIns="0" bIns="0" rtlCol="0" anchor="ctr"/>
          <a:lstStyle/>
          <a:p>
            <a:pPr indent="0" marL="0">
              <a:buNone/>
            </a:pPr>
            <a:r>
              <a:rPr lang="en-US" sz="1150" dirty="0">
                <a:solidFill>
                  <a:srgbClr val="FFFFFF"/>
                </a:solidFill>
                <a:latin typeface="Manrope" pitchFamily="34" charset="0"/>
                <a:ea typeface="Manrope" pitchFamily="34" charset="-122"/>
                <a:cs typeface="Manrope" pitchFamily="34" charset="-120"/>
              </a:rPr>
              <a:t>connect@abhaglobaleducare.com</a:t>
            </a:r>
            <a:endParaRPr lang="en-US" sz="1150" dirty="0"/>
          </a:p>
        </p:txBody>
      </p:sp>
      <p:pic>
        <p:nvPicPr>
          <p:cNvPr id="33" name="Image 8" descr="/tmp/claude-0/-home-user/22b099b3-5195-5dc8-9cf2-1c5020dc8f38/scratchpad/deck/icons/phone.png">    </p:cNvPr>
          <p:cNvPicPr>
            <a:picLocks noChangeAspect="1"/>
          </p:cNvPicPr>
          <p:nvPr/>
        </p:nvPicPr>
        <p:blipFill>
          <a:blip r:embed="rId9"/>
          <a:stretch>
            <a:fillRect/>
          </a:stretch>
        </p:blipFill>
        <p:spPr>
          <a:xfrm>
            <a:off x="7040880" y="3621024"/>
            <a:ext cx="320040" cy="320040"/>
          </a:xfrm>
          <a:prstGeom prst="rect">
            <a:avLst/>
          </a:prstGeom>
        </p:spPr>
      </p:pic>
      <p:sp>
        <p:nvSpPr>
          <p:cNvPr id="34" name="Text 22"/>
          <p:cNvSpPr/>
          <p:nvPr/>
        </p:nvSpPr>
        <p:spPr>
          <a:xfrm>
            <a:off x="7543800" y="3575304"/>
            <a:ext cx="3931920" cy="457200"/>
          </a:xfrm>
          <a:prstGeom prst="rect">
            <a:avLst/>
          </a:prstGeom>
          <a:noFill/>
          <a:ln/>
        </p:spPr>
        <p:txBody>
          <a:bodyPr wrap="square" lIns="0" tIns="0" rIns="0" bIns="0" rtlCol="0" anchor="ctr"/>
          <a:lstStyle/>
          <a:p>
            <a:pPr indent="0" marL="0">
              <a:buNone/>
            </a:pPr>
            <a:r>
              <a:rPr lang="en-US" sz="1150" dirty="0">
                <a:solidFill>
                  <a:srgbClr val="FFFFFF"/>
                </a:solidFill>
                <a:latin typeface="Manrope" pitchFamily="34" charset="0"/>
                <a:ea typeface="Manrope" pitchFamily="34" charset="-122"/>
                <a:cs typeface="Manrope" pitchFamily="34" charset="-120"/>
              </a:rPr>
              <a:t>Georgia  +995 579104926 · +995 591 717122</a:t>
            </a:r>
            <a:endParaRPr lang="en-US" sz="1150" dirty="0"/>
          </a:p>
        </p:txBody>
      </p:sp>
      <p:pic>
        <p:nvPicPr>
          <p:cNvPr id="35" name="Image 9" descr="/tmp/claude-0/-home-user/22b099b3-5195-5dc8-9cf2-1c5020dc8f38/scratchpad/deck/icons/phone.png">    </p:cNvPr>
          <p:cNvPicPr>
            <a:picLocks noChangeAspect="1"/>
          </p:cNvPicPr>
          <p:nvPr/>
        </p:nvPicPr>
        <p:blipFill>
          <a:blip r:embed="rId10"/>
          <a:stretch>
            <a:fillRect/>
          </a:stretch>
        </p:blipFill>
        <p:spPr>
          <a:xfrm>
            <a:off x="7040880" y="4242816"/>
            <a:ext cx="320040" cy="320040"/>
          </a:xfrm>
          <a:prstGeom prst="rect">
            <a:avLst/>
          </a:prstGeom>
        </p:spPr>
      </p:pic>
      <p:sp>
        <p:nvSpPr>
          <p:cNvPr id="36" name="Text 23"/>
          <p:cNvSpPr/>
          <p:nvPr/>
        </p:nvSpPr>
        <p:spPr>
          <a:xfrm>
            <a:off x="7543800" y="4197096"/>
            <a:ext cx="3931920" cy="457200"/>
          </a:xfrm>
          <a:prstGeom prst="rect">
            <a:avLst/>
          </a:prstGeom>
          <a:noFill/>
          <a:ln/>
        </p:spPr>
        <p:txBody>
          <a:bodyPr wrap="square" lIns="0" tIns="0" rIns="0" bIns="0" rtlCol="0" anchor="ctr"/>
          <a:lstStyle/>
          <a:p>
            <a:pPr indent="0" marL="0">
              <a:buNone/>
            </a:pPr>
            <a:r>
              <a:rPr lang="en-US" sz="1150" dirty="0">
                <a:solidFill>
                  <a:srgbClr val="FFFFFF"/>
                </a:solidFill>
                <a:latin typeface="Manrope" pitchFamily="34" charset="0"/>
                <a:ea typeface="Manrope" pitchFamily="34" charset="-122"/>
                <a:cs typeface="Manrope" pitchFamily="34" charset="-120"/>
              </a:rPr>
              <a:t>Chh. Sambhajinagar  +91 93563 21155</a:t>
            </a:r>
            <a:endParaRPr lang="en-US" sz="1150" dirty="0"/>
          </a:p>
        </p:txBody>
      </p:sp>
      <p:pic>
        <p:nvPicPr>
          <p:cNvPr id="37" name="Image 10" descr="/tmp/claude-0/-home-user/22b099b3-5195-5dc8-9cf2-1c5020dc8f38/scratchpad/deck/icons/mapmarker.png">    </p:cNvPr>
          <p:cNvPicPr>
            <a:picLocks noChangeAspect="1"/>
          </p:cNvPicPr>
          <p:nvPr/>
        </p:nvPicPr>
        <p:blipFill>
          <a:blip r:embed="rId11"/>
          <a:stretch>
            <a:fillRect/>
          </a:stretch>
        </p:blipFill>
        <p:spPr>
          <a:xfrm>
            <a:off x="7040880" y="4864608"/>
            <a:ext cx="320040" cy="320040"/>
          </a:xfrm>
          <a:prstGeom prst="rect">
            <a:avLst/>
          </a:prstGeom>
        </p:spPr>
      </p:pic>
      <p:sp>
        <p:nvSpPr>
          <p:cNvPr id="38" name="Text 24"/>
          <p:cNvSpPr/>
          <p:nvPr/>
        </p:nvSpPr>
        <p:spPr>
          <a:xfrm>
            <a:off x="7543800" y="4818888"/>
            <a:ext cx="3931920" cy="457200"/>
          </a:xfrm>
          <a:prstGeom prst="rect">
            <a:avLst/>
          </a:prstGeom>
          <a:noFill/>
          <a:ln/>
        </p:spPr>
        <p:txBody>
          <a:bodyPr wrap="square" lIns="0" tIns="0" rIns="0" bIns="0" rtlCol="0" anchor="ctr"/>
          <a:lstStyle/>
          <a:p>
            <a:pPr indent="0" marL="0">
              <a:buNone/>
            </a:pPr>
            <a:r>
              <a:rPr lang="en-US" sz="1150" dirty="0">
                <a:solidFill>
                  <a:srgbClr val="FFFFFF"/>
                </a:solidFill>
                <a:latin typeface="Manrope" pitchFamily="34" charset="0"/>
                <a:ea typeface="Manrope" pitchFamily="34" charset="-122"/>
                <a:cs typeface="Manrope" pitchFamily="34" charset="-120"/>
              </a:rPr>
              <a:t>Kolhapur (HQ) · Chh. Sambhajinagar · Boisar · Tbilisi</a:t>
            </a:r>
            <a:endParaRPr lang="en-US" sz="1150" dirty="0"/>
          </a:p>
        </p:txBody>
      </p:sp>
      <p:sp>
        <p:nvSpPr>
          <p:cNvPr id="39" name="Text 25"/>
          <p:cNvSpPr/>
          <p:nvPr/>
        </p:nvSpPr>
        <p:spPr>
          <a:xfrm>
            <a:off x="7040880" y="5532120"/>
            <a:ext cx="4389120" cy="457200"/>
          </a:xfrm>
          <a:prstGeom prst="rect">
            <a:avLst/>
          </a:prstGeom>
          <a:noFill/>
          <a:ln/>
        </p:spPr>
        <p:txBody>
          <a:bodyPr wrap="square" lIns="0" tIns="0" rIns="0" bIns="0" rtlCol="0" anchor="ctr"/>
          <a:lstStyle/>
          <a:p>
            <a:pPr indent="0" marL="0">
              <a:buNone/>
            </a:pPr>
            <a:r>
              <a:rPr lang="en-US" sz="900" i="1" dirty="0">
                <a:solidFill>
                  <a:srgbClr val="8FA0BC"/>
                </a:solidFill>
                <a:latin typeface="Manrope" pitchFamily="34" charset="0"/>
                <a:ea typeface="Manrope" pitchFamily="34" charset="-122"/>
                <a:cs typeface="Manrope" pitchFamily="34" charset="-120"/>
              </a:rPr>
              <a:t>ABHA Global Educare LLP · LLP No. ACO-8092 — sarkari nondani, tapasoon ghya</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A35"/>
        </a:solidFill>
      </p:bgPr>
    </p:bg>
    <p:spTree>
      <p:nvGrpSpPr>
        <p:cNvPr id="1" name=""/>
        <p:cNvGrpSpPr/>
        <p:nvPr/>
      </p:nvGrpSpPr>
      <p:grpSpPr>
        <a:xfrm>
          <a:off x="0" y="0"/>
          <a:ext cx="0" cy="0"/>
          <a:chOff x="0" y="0"/>
          <a:chExt cx="0" cy="0"/>
        </a:xfrm>
      </p:grpSpPr>
      <p:sp>
        <p:nvSpPr>
          <p:cNvPr id="2" name="Text 0"/>
          <p:cNvSpPr/>
          <p:nvPr/>
        </p:nvSpPr>
        <p:spPr>
          <a:xfrm>
            <a:off x="11686032" y="6510528"/>
            <a:ext cx="365760" cy="256032"/>
          </a:xfrm>
          <a:prstGeom prst="rect">
            <a:avLst/>
          </a:prstGeom>
          <a:noFill/>
          <a:ln/>
        </p:spPr>
        <p:txBody>
          <a:bodyPr wrap="square" lIns="0" tIns="0" rIns="0" bIns="0" rtlCol="0" anchor="ctr"/>
          <a:lstStyle/>
          <a:p>
            <a:pPr algn="r" indent="0" marL="0">
              <a:buNone/>
            </a:pPr>
            <a:r>
              <a:rPr lang="en-US" sz="800" dirty="0">
                <a:solidFill>
                  <a:srgbClr val="6B7A96"/>
                </a:solidFill>
                <a:latin typeface="Manrope" pitchFamily="34" charset="0"/>
                <a:ea typeface="Manrope" pitchFamily="34" charset="-122"/>
                <a:cs typeface="Manrope" pitchFamily="34" charset="-120"/>
              </a:rPr>
              <a:t>40</a:t>
            </a:r>
            <a:endParaRPr lang="en-US" sz="800" dirty="0"/>
          </a:p>
        </p:txBody>
      </p:sp>
      <p:pic>
        <p:nvPicPr>
          <p:cNvPr id="4" name="Image 0" descr="/tmp/claude-0/-home-user/22b099b3-5195-5dc8-9cf2-1c5020dc8f38/scratchpad/deck/icons/question.png">    </p:cNvPr>
          <p:cNvPicPr>
            <a:picLocks noChangeAspect="1"/>
          </p:cNvPicPr>
          <p:nvPr/>
        </p:nvPicPr>
        <p:blipFill>
          <a:blip r:embed="rId1">
            <a:alphaModFix amt="12000"/>
          </a:blip>
          <a:stretch>
            <a:fillRect/>
          </a:stretch>
        </p:blipFill>
        <p:spPr>
          <a:xfrm>
            <a:off x="8869680" y="1371600"/>
            <a:ext cx="2926080" cy="2926080"/>
          </a:xfrm>
          <a:prstGeom prst="rect">
            <a:avLst/>
          </a:prstGeom>
        </p:spPr>
      </p:pic>
      <p:sp>
        <p:nvSpPr>
          <p:cNvPr id="5" name="Text 1"/>
          <p:cNvSpPr/>
          <p:nvPr/>
        </p:nvSpPr>
        <p:spPr>
          <a:xfrm>
            <a:off x="8257032" y="292608"/>
            <a:ext cx="3429000" cy="274320"/>
          </a:xfrm>
          <a:prstGeom prst="rect">
            <a:avLst/>
          </a:prstGeom>
          <a:noFill/>
          <a:ln/>
        </p:spPr>
        <p:txBody>
          <a:bodyPr wrap="square" lIns="0" tIns="0" rIns="0" bIns="0" rtlCol="0" anchor="ctr"/>
          <a:lstStyle/>
          <a:p>
            <a:pPr algn="r" indent="0" marL="0">
              <a:buNone/>
            </a:pPr>
            <a:r>
              <a:rPr lang="en-US" sz="900" b="1" spc="300" kern="0" dirty="0">
                <a:solidFill>
                  <a:srgbClr val="E0B85C"/>
                </a:solidFill>
                <a:latin typeface="Manrope" pitchFamily="34" charset="0"/>
                <a:ea typeface="Manrope" pitchFamily="34" charset="-122"/>
                <a:cs typeface="Manrope" pitchFamily="34" charset="-120"/>
              </a:rPr>
              <a:t>ACT 9 · Q&amp;A</a:t>
            </a:r>
            <a:endParaRPr lang="en-US" sz="900" dirty="0"/>
          </a:p>
        </p:txBody>
      </p:sp>
      <p:sp>
        <p:nvSpPr>
          <p:cNvPr id="6" name="Text 2"/>
          <p:cNvSpPr/>
          <p:nvPr/>
        </p:nvSpPr>
        <p:spPr>
          <a:xfrm>
            <a:off x="731520" y="1737360"/>
            <a:ext cx="8229600" cy="914400"/>
          </a:xfrm>
          <a:prstGeom prst="rect">
            <a:avLst/>
          </a:prstGeom>
          <a:noFill/>
          <a:ln/>
        </p:spPr>
        <p:txBody>
          <a:bodyPr wrap="square" lIns="0" tIns="0" rIns="0" bIns="0" rtlCol="0" anchor="ctr"/>
          <a:lstStyle/>
          <a:p>
            <a:pPr indent="0" marL="0">
              <a:buNone/>
            </a:pPr>
            <a:r>
              <a:rPr lang="en-US" sz="4400" b="1" dirty="0">
                <a:solidFill>
                  <a:srgbClr val="C6962E"/>
                </a:solidFill>
                <a:latin typeface="Cormorant Garamond" pitchFamily="34" charset="0"/>
                <a:ea typeface="Cormorant Garamond" pitchFamily="34" charset="-122"/>
                <a:cs typeface="Cormorant Garamond" pitchFamily="34" charset="-120"/>
              </a:rPr>
              <a:t>Aapke Sawaal — Ab Live</a:t>
            </a:r>
            <a:endParaRPr lang="en-US" sz="4400" dirty="0"/>
          </a:p>
        </p:txBody>
      </p:sp>
      <p:sp>
        <p:nvSpPr>
          <p:cNvPr id="7" name="Text 3"/>
          <p:cNvSpPr/>
          <p:nvPr/>
        </p:nvSpPr>
        <p:spPr>
          <a:xfrm>
            <a:off x="749808" y="2697480"/>
            <a:ext cx="8229600" cy="411480"/>
          </a:xfrm>
          <a:prstGeom prst="rect">
            <a:avLst/>
          </a:prstGeom>
          <a:noFill/>
          <a:ln/>
        </p:spPr>
        <p:txBody>
          <a:bodyPr wrap="square" lIns="0" tIns="0" rIns="0" bIns="0" rtlCol="0" anchor="ctr"/>
          <a:lstStyle/>
          <a:p>
            <a:pPr indent="0" marL="0">
              <a:buNone/>
            </a:pPr>
            <a:r>
              <a:rPr lang="en-US" sz="1500" dirty="0">
                <a:solidFill>
                  <a:srgbClr val="F5E6C4"/>
                </a:solidFill>
                <a:latin typeface="Manrope" pitchFamily="34" charset="0"/>
                <a:ea typeface="Manrope" pitchFamily="34" charset="-122"/>
                <a:cs typeface="Manrope" pitchFamily="34" charset="-120"/>
              </a:rPr>
              <a:t>Kathin sawaal pehle poochhiye</a:t>
            </a:r>
            <a:endParaRPr lang="en-US" sz="1500" dirty="0"/>
          </a:p>
        </p:txBody>
      </p:sp>
      <p:sp>
        <p:nvSpPr>
          <p:cNvPr id="8" name="Text 4"/>
          <p:cNvSpPr/>
          <p:nvPr/>
        </p:nvSpPr>
        <p:spPr>
          <a:xfrm>
            <a:off x="749808" y="3383280"/>
            <a:ext cx="7772400" cy="155448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Chat mein sawaal likhiye — naam optional</a:t>
            </a:r>
            <a:endParaRPr lang="en-US" sz="1400" dirty="0"/>
          </a:p>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Rank / budget specifics: 1-on-1 mein poochhiye (aapki privacy)</a:t>
            </a:r>
            <a:endParaRPr lang="en-US" sz="1400" dirty="0"/>
          </a:p>
          <a:p>
            <a:pPr marL="342900" indent="-342900">
              <a:spcAft>
                <a:spcPts val="1200"/>
              </a:spcAft>
              <a:buSzPct val="100000"/>
              <a:buChar char="•"/>
            </a:pPr>
            <a:r>
              <a:rPr lang="en-US" sz="1400" dirty="0">
                <a:solidFill>
                  <a:srgbClr val="FFFFFF"/>
                </a:solidFill>
                <a:latin typeface="Manrope" pitchFamily="34" charset="0"/>
                <a:ea typeface="Manrope" pitchFamily="34" charset="-122"/>
                <a:cs typeface="Manrope" pitchFamily="34" charset="-120"/>
              </a:rPr>
              <a:t>Recording + slides sabko milengi  [VERIFY: distribution plan]</a:t>
            </a:r>
            <a:endParaRPr lang="en-US" sz="1400" dirty="0"/>
          </a:p>
        </p:txBody>
      </p:sp>
      <p:sp>
        <p:nvSpPr>
          <p:cNvPr id="9" name="Text 5"/>
          <p:cNvSpPr/>
          <p:nvPr/>
        </p:nvSpPr>
        <p:spPr>
          <a:xfrm>
            <a:off x="0" y="5577840"/>
            <a:ext cx="12188952" cy="365760"/>
          </a:xfrm>
          <a:prstGeom prst="rect">
            <a:avLst/>
          </a:prstGeom>
          <a:noFill/>
          <a:ln/>
        </p:spPr>
        <p:txBody>
          <a:bodyPr wrap="square" lIns="0" tIns="0" rIns="0" bIns="0" rtlCol="0" anchor="ctr"/>
          <a:lstStyle/>
          <a:p>
            <a:pPr algn="ctr" indent="0" marL="0">
              <a:buNone/>
            </a:pPr>
            <a:r>
              <a:rPr lang="en-US" sz="1200" b="1" spc="500" kern="0" dirty="0">
                <a:solidFill>
                  <a:srgbClr val="C6962E"/>
                </a:solidFill>
                <a:latin typeface="Manrope" pitchFamily="34" charset="0"/>
                <a:ea typeface="Manrope" pitchFamily="34" charset="-122"/>
                <a:cs typeface="Manrope" pitchFamily="34" charset="-120"/>
              </a:rPr>
              <a:t>DREAMS HAVE NO BORDERS</a:t>
            </a:r>
            <a:endParaRPr lang="en-US" sz="1200" dirty="0"/>
          </a:p>
        </p:txBody>
      </p:sp>
      <p:sp>
        <p:nvSpPr>
          <p:cNvPr id="10" name="Text 6"/>
          <p:cNvSpPr/>
          <p:nvPr/>
        </p:nvSpPr>
        <p:spPr>
          <a:xfrm>
            <a:off x="0" y="5989320"/>
            <a:ext cx="12188952" cy="365760"/>
          </a:xfrm>
          <a:prstGeom prst="rect">
            <a:avLst/>
          </a:prstGeom>
          <a:noFill/>
          <a:ln/>
        </p:spPr>
        <p:txBody>
          <a:bodyPr wrap="square" lIns="0" tIns="0" rIns="0" bIns="0" rtlCol="0" anchor="ctr"/>
          <a:lstStyle/>
          <a:p>
            <a:pPr algn="ctr" indent="0" marL="0">
              <a:buNone/>
            </a:pPr>
            <a:r>
              <a:rPr lang="en-US" sz="1150" i="1" dirty="0">
                <a:solidFill>
                  <a:srgbClr val="F5E6C4"/>
                </a:solidFill>
                <a:latin typeface="Manrope" pitchFamily="34" charset="0"/>
                <a:ea typeface="Manrope" pitchFamily="34" charset="-122"/>
                <a:cs typeface="Manrope" pitchFamily="34" charset="-120"/>
              </a:rPr>
              <a:t>— par decision ghar se, shaant dokyane, poori jaankari ke saath.</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NEET 2026 — Aapka Rank, Aapka Raasta</dc:title>
  <dc:subject>PptxGenJS Presentation</dc:subject>
  <dc:creator>ABHA Global Educare LLP</dc:creator>
  <cp:lastModifiedBy>ABHA Global Educare LLP</cp:lastModifiedBy>
  <cp:revision>1</cp:revision>
  <dcterms:created xsi:type="dcterms:W3CDTF">2026-08-16T18:44:08Z</dcterms:created>
  <dcterms:modified xsi:type="dcterms:W3CDTF">2026-08-16T18:44:08Z</dcterms:modified>
</cp:coreProperties>
</file>